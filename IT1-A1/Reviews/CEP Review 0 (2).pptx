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i2gssKITdrYQS4VKq/aCp6wTw2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0BD17C-ED70-4014-A41F-8F5D4E1CF89B}">
  <a:tblStyle styleId="{540BD17C-ED70-4014-A41F-8F5D4E1CF89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6418744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736418744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4c2dc05c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74c2dc05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4c2dc05c9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74c2dc05c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309543d0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8309543d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4c2dc05c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74c2dc05c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430ed48f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6430ed48f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430ed48f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6430ed48f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430ed48f7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6430ed48f7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24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b="0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b="1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900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979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94925" y="2156375"/>
            <a:ext cx="8952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Community Engagement Project : Review 0 (AY 2025-26)</a:t>
            </a: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lang="en" sz="28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EduBridge</a:t>
            </a:r>
            <a:r>
              <a:rPr b="1" i="0" lang="en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1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-22850" y="3360825"/>
            <a:ext cx="4820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SI154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Gaurav Jadhav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	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SI167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Shreyash Mandlapure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endParaRPr b="0" i="0" sz="15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5382725" y="3476650"/>
            <a:ext cx="299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Mrs S.P. Vanjari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6085600" y="4761275"/>
            <a:ext cx="34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13/08/25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2"/>
          <p:cNvGraphicFramePr/>
          <p:nvPr/>
        </p:nvGraphicFramePr>
        <p:xfrm>
          <a:off x="78621" y="1493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{540BD17C-ED70-4014-A41F-8F5D4E1CF89B}</a:tableStyleId>
              </a:tblPr>
              <a:tblGrid>
                <a:gridCol w="8986750"/>
              </a:tblGrid>
              <a:tr h="35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ProctorLite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B340">
                        <a:alpha val="65882"/>
                      </a:srgbClr>
                    </a:solidFill>
                  </a:tcPr>
                </a:tc>
              </a:tr>
              <a:tr h="19012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of the Project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project's goal is to ensure </a:t>
                      </a: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fair, accessible assessments</a:t>
                      </a: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through a secure, low-bandwidth proctoring system.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 of Focus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focus is on students in </a:t>
                      </a: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low-connectivity rural regions</a:t>
                      </a: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where traditional proctoring methods are often not viable.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3" name="Google Shape;73;p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 Low-Bandwidth Online Proctoring System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0" y="886275"/>
            <a:ext cx="9144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students in 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and remote areas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lack access to 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high-speed internet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online exam proctoring tools rely heavily on 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video streaming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is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bandwidth-intensive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leads to 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unfair assessment conditions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frequent disconnections, and 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exclusion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underserved students.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need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ecure, low-bandwidth proctoring solution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ensures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and accessible online exams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all.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Students in low-connectivity rural regions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especially in: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and low-cost private schools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colleges and distance learning programs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Geographically isolated areas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hilly, tribal, or interior zones)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students often rely on 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unstable mobile data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face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requent network disruptions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Problem Identification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0" y="813700"/>
            <a:ext cx="86769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:</a:t>
            </a:r>
            <a:r>
              <a:rPr i="0" lang="en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in rural areas often lack access to high-speed internet, making existing online exam proctoring solutions ineffective. There is a need for a low-bandwidth, secure proctoring system that ensures fair online assessments without relying on continuous video streaming.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this problem important?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education is expanding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rural students are being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behind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due to poor internet infrastructure.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Unfair assessment practices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impact the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integrity and career prospects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students from low-connectivity regions.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urgent need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make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learning inclusive and accessible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especially where education is a pathway to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mobility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 exam systems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crucial to maintaining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digital education platforms and certifications.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36418744d_0_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Problem Identification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g3736418744d_0_2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36418744d_0_2"/>
          <p:cNvSpPr txBox="1"/>
          <p:nvPr/>
        </p:nvSpPr>
        <p:spPr>
          <a:xfrm>
            <a:off x="0" y="1401900"/>
            <a:ext cx="86769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on the local community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Empowers rural students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ensuring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access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online assessments and opportunities.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to quality education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low-resource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settings.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among teachers, institutions, and parents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fairness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online evaluations.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greater participation in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learning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helping to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 the urban-rural education divide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Lays the foundation for a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scalable, replicable model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can be deployed in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underserved areas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nationally and globally.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Proposed Objective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73200" y="798475"/>
            <a:ext cx="8676900" cy="3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 team aims to achieve</a:t>
            </a:r>
            <a:br>
              <a:rPr i="0" lang="en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team aims to develop a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low-bandwidth, secure, and accessible online proctoring system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ensures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 and credible assessments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students in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and low-connectivity regions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Objectives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fair online assessments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relying on continuous video streaming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digital exams accessible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students with limited internet or basic devices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lightweight and secure system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optimized for low-bandwidth environments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 inclusivity and equity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digital education across remote regions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institutions to conduct reliable remote exams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even in underserved areas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4c2dc05c9_0_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07" name="Google Shape;107;g374c2dc05c9_0_0"/>
          <p:cNvGraphicFramePr/>
          <p:nvPr/>
        </p:nvGraphicFramePr>
        <p:xfrm>
          <a:off x="-105" y="546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{540BD17C-ED70-4014-A41F-8F5D4E1CF89B}</a:tableStyleId>
              </a:tblPr>
              <a:tblGrid>
                <a:gridCol w="742900"/>
                <a:gridCol w="1692800"/>
                <a:gridCol w="2105600"/>
                <a:gridCol w="1513775"/>
                <a:gridCol w="1419675"/>
                <a:gridCol w="1669250"/>
              </a:tblGrid>
              <a:tr h="862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Sr. No.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Paper Title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Publication</a:t>
                      </a:r>
                      <a:endParaRPr sz="1200"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Details</a:t>
                      </a:r>
                      <a:endParaRPr sz="1200"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(Journal name</a:t>
                      </a:r>
                      <a:endParaRPr sz="1200"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&amp; Year)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Merits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Demerits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Gaps/Findings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5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Security Requirements for Proctoring in Higher Education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R. Luijben, F. van den Broek and G. Alpár, </a:t>
                      </a: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 IEEE Global Engineering Education Conference (EDUCON)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Enables Remote Education, Enhances Academic Integrity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Privacy Concerns, </a:t>
                      </a:r>
                      <a:r>
                        <a:rPr lang="en" sz="900"/>
                        <a:t>Vulnerability to Cheating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Authentication, </a:t>
                      </a:r>
                      <a:r>
                        <a:rPr lang="en" sz="900"/>
                        <a:t>Work Authenticity, Prevention of Prior Access, Data Protection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21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Increasing Automatic Proctoring System Performance using Distributed Round-Robin Load Balancer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M. A. Nugroho, M. Abdurohman and B. Erfianto, 2023 IEEE International Conference on Industry 4.0, Artificial Intelligence, and Communications Technology (IAICT)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Enables Remote Education, Enhances Academic Integrity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Privacy Concerns, Vulnerability to Cheating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Authentication, Work Authenticity, Prevention of Prior Access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 Proctoring Classification Using Eye Gaze Detection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 Singh, R. Aggarwal, S. Tiwari and V. Joshi, "Exam Proctoring Classification Using Eye Gaze Detection," 2022 3rd International Conference on Smart Electronics and Communication (ICOSEC), Trichy, India, 2022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Eye Gaze Detection,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Accuracy in Cheating Detection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Dependency on Environmental Factors (Lighting, Webcam)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Scope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97.5% Accuracy with CNN Model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 of Gaze Directions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4c2dc05c9_0_81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13" name="Google Shape;113;g374c2dc05c9_0_81"/>
          <p:cNvGraphicFramePr/>
          <p:nvPr/>
        </p:nvGraphicFramePr>
        <p:xfrm>
          <a:off x="-105" y="546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{540BD17C-ED70-4014-A41F-8F5D4E1CF89B}</a:tableStyleId>
              </a:tblPr>
              <a:tblGrid>
                <a:gridCol w="742900"/>
                <a:gridCol w="1692800"/>
                <a:gridCol w="2105600"/>
                <a:gridCol w="1513775"/>
                <a:gridCol w="1419675"/>
                <a:gridCol w="1669250"/>
              </a:tblGrid>
              <a:tr h="86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Sr. No.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Paper Title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Publication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Details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(Journal name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&amp; Year)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Merits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Demerits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Gaps/Findings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48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 Artificial Intelligence Based Online Proctoring System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N. Malhotra, R. Suri, P. Verma and R. Kumar, "Smart Artificial Intelligence Based Online Proctoring System," 2022 IEEE Delhi Section Conference (DELCON), New Delhi, India, 2022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Emotion detection (CNN), Head pose, Phone/Book detection (YOLO), Fully automated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computation, Camera quality dependent, Privacy issues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optimized for low-bandwidth, Needs lightweight AI models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9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intelligent system for online exam monitoring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SzPts val="1100"/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Prathish, A. N. S. and K. Bijlani, "An intelligent system for online exam monitoring," 2016 International Conference on Information Science (ICIS), Kochi, India, 2016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Rule-based multi-modal (video/audio/window), Head pose (yaw&gt;15°), Low-cost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Rule-based only, False positives, Small dataset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scalability, Needs ML/AI integration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75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Automated Online Exam Proctoring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Y. Atoum, L. Chen, A. X. Liu, S. D. H. Hsu and X. Liu, "Automated Online Exam Proctoring," in IEEE Transactions on Multimedia, vol. 19, no. 7, pp. 1609-1624, July 2017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Automated system, 6 modules (verification, text, voice, window, gaze, phone), Hybrid algorithm, Public dataset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2 cameras (wearcam), Complex setup, High bandwidth/storage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Accurate but impractical for rural, Simplify hardware for wider use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Planned Field Visit / Stakeholder Interaction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33075" y="98480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Places to visit / People to meet</a:t>
            </a: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data will be collected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Expected Outcomes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73200" y="747850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-100" y="984800"/>
            <a:ext cx="8616900" cy="4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low-bandwidth online proctoring system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designed for rural and low-connectivity areas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of remote exams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students in underserved communities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exam integrity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low-resource settings without relying on continuous video streaming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interface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works on basic smartphones or computers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scalable model that can be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adopted by schools, colleges, and NGOs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working in rural education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participation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reduced dropout rates among rural students in online learning programs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309543d0b_1_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8309543d0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038" y="734850"/>
            <a:ext cx="6943725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4c2dc05c9_3_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74c2dc05c9_3_0"/>
          <p:cNvSpPr txBox="1"/>
          <p:nvPr/>
        </p:nvSpPr>
        <p:spPr>
          <a:xfrm>
            <a:off x="237975" y="1324950"/>
            <a:ext cx="84825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 &amp; Architecture Content: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lightweight interface using HTML, CSS, and JavaScript (vanilla or Alpine.js).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scalable backend developed with Flask (Python).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Utilize SQLite for prototyping and upgrade to PostgreSQL for production.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create a secure, low-bandwidth, and accessible online proctoring solution suitable for rural and low-connectivity areas.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430ed48f7_1_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6430ed48f7_1_6"/>
          <p:cNvSpPr txBox="1"/>
          <p:nvPr/>
        </p:nvSpPr>
        <p:spPr>
          <a:xfrm>
            <a:off x="245000" y="1098000"/>
            <a:ext cx="84825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and Software Integration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will use basic webcams and microphones.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 periodic image capture using OpenCV with MobileNet or Haar Cascades for face detection.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Analysis: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PyAudio and Librosa for detecting anomalies in sound.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Tasks: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Utilize Redis + Celery for scheduling background tasks like image and audio capture.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430ed48f7_1_1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6430ed48f7_1_12"/>
          <p:cNvSpPr txBox="1"/>
          <p:nvPr/>
        </p:nvSpPr>
        <p:spPr>
          <a:xfrm>
            <a:off x="237975" y="1475100"/>
            <a:ext cx="8482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Handling &amp; Anomaly Detection: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Handling: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 periodic snapshots and biometric verification with delayed upload support.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 secure data storage using encryption.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Integration: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Apply lightweight AI models for anomaly detection based on minimal visual and audio data.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models are optimized for low-latency performance.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430ed48f7_1_1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6430ed48f7_1_18"/>
          <p:cNvSpPr txBox="1"/>
          <p:nvPr/>
        </p:nvSpPr>
        <p:spPr>
          <a:xfrm>
            <a:off x="223900" y="1475100"/>
            <a:ext cx="8482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&amp; Testing: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 on low-cost VPS or local college servers.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Compatibility: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 cross-device compatibility for basic smartphones and computers.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Testing: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Conduct pilot testing in rural institutions.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Collect feedback to refine UI/UX and validate fairness, reliability, and accessibility metrics.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