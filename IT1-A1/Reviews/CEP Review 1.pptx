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hq44lRmpONyvq097IFdNwgTwxu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095DDE-7B67-41B2-ADE2-E13804A156D2}">
  <a:tblStyle styleId="{0C095DDE-7B67-41B2-ADE2-E13804A156D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d2ec8d6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d2ec8d6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79863f999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879863f99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79863f999_2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879863f999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5aca7290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835aca729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d2ec8d685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8d2ec8d685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21"/>
          <p:cNvSpPr txBox="1"/>
          <p:nvPr/>
        </p:nvSpPr>
        <p:spPr>
          <a:xfrm>
            <a:off x="0" y="4573675"/>
            <a:ext cx="918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Marathwada Mitra Mandal’s College of Engineering          </a:t>
            </a:r>
            <a:endParaRPr b="0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     </a:t>
            </a:r>
            <a:endParaRPr b="1" i="0" sz="15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4" name="Google Shape;5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2300" y="4575112"/>
            <a:ext cx="513526" cy="5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175" y="4618450"/>
            <a:ext cx="633511" cy="4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CmBXa-GgWSrIUovr2cFzt4FR6xySl9CXv_PEpqAD9jM/edit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document/d/1lqvc-f7mZK_br_vz5xbHSwX-blb1YNnH/edit?usp=sharing&amp;ouid=109128922484765843437&amp;rtpof=true&amp;sd=tru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5500" y="134975"/>
            <a:ext cx="85206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Marathwada Mitra Mandal's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COLLEGE OF ENGINEERING, Karve Nagar, Pune - 52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 Autonomous Institute Affiliated to SPPU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Website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www.mmcoe.edu.in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  email id:</a:t>
            </a:r>
            <a:r>
              <a:rPr lang="en" sz="1200">
                <a:solidFill>
                  <a:srgbClr val="941A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u="sng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mmcoe@mmcoe.edu.in</a:t>
            </a:r>
            <a:endParaRPr sz="1200">
              <a:solidFill>
                <a:srgbClr val="941A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900">
              <a:solidFill>
                <a:srgbClr val="5C2D9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979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311700" y="138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Department of Information Technology</a:t>
            </a:r>
            <a:endParaRPr b="1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94925" y="2156375"/>
            <a:ext cx="8952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Based Learning - Review 1 (AY 2025-26)</a:t>
            </a:r>
            <a:r>
              <a:rPr b="0" i="0" lang="en" sz="17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7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" sz="3000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EduBridge</a:t>
            </a:r>
            <a:r>
              <a:rPr b="1" i="0" lang="en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1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-22850" y="3360825"/>
            <a:ext cx="483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Presented By: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SI154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Gaurav Jadhav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	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&lt;&lt;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SI167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lang="en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Shreyash Mandlapure</a:t>
            </a: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&gt;&gt;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</a:t>
            </a:r>
            <a:endParaRPr b="0" i="0" sz="1400" u="none" cap="none" strike="noStrike">
              <a:solidFill>
                <a:srgbClr val="FF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00" y="224750"/>
            <a:ext cx="834799" cy="82464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 txBox="1"/>
          <p:nvPr/>
        </p:nvSpPr>
        <p:spPr>
          <a:xfrm>
            <a:off x="6713150" y="4761275"/>
            <a:ext cx="1736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</a:rPr>
              <a:t>Date: </a:t>
            </a:r>
            <a:r>
              <a:rPr b="0" i="0" lang="en" sz="1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27</a:t>
            </a:r>
            <a:r>
              <a:rPr lang="en" sz="15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/09/2025</a:t>
            </a:r>
            <a:endParaRPr b="0" i="0" sz="15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5407050" y="3467925"/>
            <a:ext cx="26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Name of Guide</a:t>
            </a:r>
            <a:r>
              <a:rPr b="0" i="0" lang="e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Mrs. S P Vanjari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d2ec8d685_0_5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Recap of Selected Problem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" name="Google Shape;72;g38d2ec8d685_0_5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8d2ec8d685_0_5"/>
          <p:cNvSpPr txBox="1"/>
          <p:nvPr/>
        </p:nvSpPr>
        <p:spPr>
          <a:xfrm>
            <a:off x="219575" y="1004725"/>
            <a:ext cx="8704800" cy="3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</a:t>
            </a: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 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in rural areas often lack access to high-speed internet, making existing online exam proctoring solutions ineffective. There is a need for a low-bandwidth, secure proctoring system that ensures fair online assessments without relying on continuous video streaming.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Statement(SIH 2025)</a:t>
            </a: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diploma colleges often lack subject lecturers in advanced domains such as Artificial Intelligence, VLSI, and Renewable Energy. Students are left to depend on self-study or costly city-based coaching, widening the urban-rural learning gap. Existing online solutions fail due to unstable, low-bandwidth connectivity and the need for complex infrastructure. There is a critical need for a lightweight, software-only virtual classroom ecosystem that ensures clear audio, compressed visuals, offline-accessible recordings, and interactive features like quizzes and discussion boards—all optimized for entry-level smartphones and minimal data usage. The solution must be simple for faculty to use, affordable for institutions, and sustainable in low-resource environments.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EduBridge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79" name="Google Shape;79;p2"/>
          <p:cNvGraphicFramePr/>
          <p:nvPr/>
        </p:nvGraphicFramePr>
        <p:xfrm>
          <a:off x="1371521" y="11254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{0C095DDE-7B67-41B2-ADE2-E13804A156D2}</a:tableStyleId>
              </a:tblPr>
              <a:tblGrid>
                <a:gridCol w="6400750"/>
              </a:tblGrid>
              <a:tr h="31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Classroom for Rural Colleges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B340">
                        <a:alpha val="65882"/>
                      </a:srgbClr>
                    </a:solidFill>
                  </a:tcPr>
                </a:tc>
              </a:tr>
              <a:tr h="385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 of the project : </a:t>
                      </a:r>
                      <a:br>
                        <a:rPr lang="en" sz="1400" u="none" cap="none" strike="noStrike"/>
                      </a:b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diploma colleges lack subject lecturers in fields like AI, VLSI, and renewable energy. Existing e-learning solutions fail due to unstable internet, high bandwidth requirements, costly infrastructure, and limited device compatibility.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Area/Community of focus: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Rural and semi-urban diploma colleges in India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dependent on self-study and low-cost smartphones with limited data access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Roboto"/>
                        <a:buAutoNum type="arabicPeriod"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Urban faculty providing remote expertise needing simple, low-cost teaching tools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79863f999_2_0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85" name="Google Shape;85;g3879863f999_2_0"/>
          <p:cNvGraphicFramePr/>
          <p:nvPr/>
        </p:nvGraphicFramePr>
        <p:xfrm>
          <a:off x="-105" y="54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{0C095DDE-7B67-41B2-ADE2-E13804A156D2}</a:tableStyleId>
              </a:tblPr>
              <a:tblGrid>
                <a:gridCol w="660125"/>
                <a:gridCol w="2926050"/>
                <a:gridCol w="3100150"/>
                <a:gridCol w="2457700"/>
              </a:tblGrid>
              <a:tr h="527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Paper Title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Publication/Au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thor</a:t>
                      </a:r>
                      <a:endParaRPr sz="1200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Details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Findings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7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National</a:t>
                      </a: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Education Policy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India’s National Educational Policy 2020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Integration Mandate, Digital Equity Focus, Infrastructure Challenges, Quality Standards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358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6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Modeling of simulation of computer networks and systems : Methodologies and applications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Obaidat, P. </a:t>
                      </a: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Nicopolitidis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 only 6% of network capacity as compared to urban, Network Performance Simulation, Prioritize audio quality and compressed visual content delivery, Adaptive Protocols for Low Bandwidth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00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of Mobile Learning Applications for Higher Education in Low-Bandwidth Environments.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Chavan, Dinesh B. and Roshni Mhatre. </a:t>
                      </a:r>
                      <a:r>
                        <a:rPr i="1"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Academic Journal of Science and Engineering</a:t>
                      </a: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(2025): n. Pag.</a:t>
                      </a:r>
                      <a:endParaRPr sz="10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Khan Academy and Moodle Mobile achieved the fastest load times (3.9 s, 4.2 s) and lowest data usage (5.6 MB, 6.3 MB), , user satisfaction favored simple designs with robust offline access, buffering issues and high bandwidth needs hindered Coursera, recommendations include adaptive streaming, progressive downloading, and localized caching for low-bandwidth environments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79863f999_2_64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1" name="Google Shape;91;g3879863f999_2_64"/>
          <p:cNvGraphicFramePr/>
          <p:nvPr/>
        </p:nvGraphicFramePr>
        <p:xfrm>
          <a:off x="-105" y="54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{0C095DDE-7B67-41B2-ADE2-E13804A156D2}</a:tableStyleId>
              </a:tblPr>
              <a:tblGrid>
                <a:gridCol w="660125"/>
                <a:gridCol w="2926050"/>
                <a:gridCol w="3100150"/>
                <a:gridCol w="2457700"/>
              </a:tblGrid>
              <a:tr h="9206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Paper Title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Publication/Au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thor</a:t>
                      </a:r>
                      <a:endParaRPr sz="1200"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Details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Findings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4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Post-Streaming Wastage Analysis – A Data Wastage Aware Framework in Mobile Video Streaming.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Zhang, Guanghui, Ke Liu, Haibo Hu, Vaneet Aggarwal and Jack Y. B. Lee. </a:t>
                      </a:r>
                      <a:r>
                        <a:rPr i="1"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Transactions on Mobile Computing</a:t>
                      </a: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22 (</a:t>
                      </a: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023): 389-401.</a:t>
                      </a:r>
                      <a:endParaRPr sz="10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2E414F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25.2% to 51.7% of video data downloaded is wasted, PSWA framework reduces wastage by up to 80%, 40.2% to 78.3% wastage reduction achieved with minimal QoE loss, Higher throughput networks show more data wastage, Early departure and video skip behaviors cause significant bandwidth waste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65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learning via video conferencing technologies: Implications for research and practice</a:t>
                      </a:r>
                      <a:endParaRPr sz="10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Camilleri, Mark Anthony and Adriana Caterina Camilleri. </a:t>
                      </a:r>
                      <a:r>
                        <a:rPr i="1"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in Society</a:t>
                      </a:r>
                      <a:r>
                        <a:rPr lang="en" sz="1000">
                          <a:solidFill>
                            <a:srgbClr val="2E414F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68 (2022): 101881 - 101881.</a:t>
                      </a:r>
                      <a:endParaRPr sz="1000"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Reliable infrastructure and support (facilitating conditions) enhance perceived interactivity, Easy-to-use systems (effort expectancy) strengthen performance expectations.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35aca7290_1_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Community/ Field Visit</a:t>
            </a:r>
            <a:endParaRPr b="1" sz="3000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7" name="Google Shape;97;g3835aca7290_1_7"/>
          <p:cNvGraphicFramePr/>
          <p:nvPr/>
        </p:nvGraphicFramePr>
        <p:xfrm>
          <a:off x="-105" y="546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{0C095DDE-7B67-41B2-ADE2-E13804A156D2}</a:tableStyleId>
              </a:tblPr>
              <a:tblGrid>
                <a:gridCol w="582300"/>
                <a:gridCol w="1722450"/>
                <a:gridCol w="1378825"/>
                <a:gridCol w="5460400"/>
              </a:tblGrid>
              <a:tr h="13169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Sr. No.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Area Visited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People Consulted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Observations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79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Solapur(Online Mode)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Mrs. Harshada Supate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(Principal - Diploma College)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AutoNum type="arabicPeriod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the diploma college computer lab, 70% of students’ smartphones automatically switch from 4G to 2G mid-lecture due to network fluctuations, causing frequent audio dropouts.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21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AutoNum type="arabicPeriod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 instructor observed that students spent 30 minutes daily downloading recorded lectures over two days because of intermittent connectivity and 500 MB data caps.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11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Solapur(Online Mode)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Mr. Prashant Jadhav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(Asst. Prof - Engineering College)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 New Roman"/>
                        <a:buAutoNum type="arabicPeriod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peak-hour data speeds on campus Wi-Fi drop below 128 kbps, making live video streams lag by 15–20 seconds.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292100" lvl="0" marL="45720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Times New Roman"/>
                        <a:buAutoNum type="arabicPeriod"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prefer audio-only live sessions with slide captions over full video to conserve data.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219600" y="546900"/>
            <a:ext cx="8704800" cy="4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: 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diploma colleges often lack subject lecturers in advanced domains such as Artificial Intelligence, VLSI, and Renewable Energy. Students are left to depend on self-study or costly city-based coaching, widening the urban-rural learning gap. Existing online solutions fail due to unstable, low-bandwidth connectivity and the need for complex infrastructure. There is a critical need for a lightweight, software-only virtual classroom ecosystem that ensures clear audio, compressed visuals, offline-accessible recordings, and interactive features like quizzes and discussion boards—all optimized for entry-level smartphones and minimal data usage. The solution must be simple for faculty to use, affordable for institutions, and sustainable in low-resource environments.</a:t>
            </a:r>
            <a:endParaRPr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As per the following Literature Survey we can conclude the following objectives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i="0" lang="e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:</a:t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low-bandwidth optimized virtual classroom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audio-first delivery with compressed visuals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clarity.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live interaction and offline access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lectures.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quizzes, polls, and discussion boards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minimal bandwidth.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solution that is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mobile-friendly, simple, and cost-effective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d2ec8d685_1_37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Activity Diagram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g38d2ec8d685_1_37"/>
          <p:cNvSpPr txBox="1"/>
          <p:nvPr/>
        </p:nvSpPr>
        <p:spPr>
          <a:xfrm>
            <a:off x="2016150" y="2674875"/>
            <a:ext cx="542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8d2ec8d685_1_37" title="Activity diagram.png"/>
          <p:cNvPicPr preferRelativeResize="0"/>
          <p:nvPr/>
        </p:nvPicPr>
        <p:blipFill rotWithShape="1">
          <a:blip r:embed="rId3">
            <a:alphaModFix/>
          </a:blip>
          <a:srcRect b="0" l="758" r="748" t="0"/>
          <a:stretch/>
        </p:blipFill>
        <p:spPr>
          <a:xfrm>
            <a:off x="687925" y="950375"/>
            <a:ext cx="7922375" cy="3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Constraints</a:t>
            </a:r>
            <a:r>
              <a:rPr b="1" lang="en" sz="3000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|</a:t>
            </a: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 Challenges | Solutions</a:t>
            </a:r>
            <a:endParaRPr b="1" i="0" sz="3000" u="none" cap="none" strike="noStrike">
              <a:solidFill>
                <a:srgbClr val="98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73200" y="798475"/>
            <a:ext cx="867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13" y="623100"/>
            <a:ext cx="8946975" cy="367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657225" y="4486275"/>
            <a:ext cx="513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Methodology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-100" y="0"/>
            <a:ext cx="9144000" cy="54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000" u="none" cap="none" strike="noStrike">
                <a:solidFill>
                  <a:srgbClr val="980000"/>
                </a:solidFill>
                <a:latin typeface="Cambria"/>
                <a:ea typeface="Cambria"/>
                <a:cs typeface="Cambria"/>
                <a:sym typeface="Cambria"/>
              </a:rPr>
              <a:t>Q and A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1390550" y="2079150"/>
            <a:ext cx="6362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