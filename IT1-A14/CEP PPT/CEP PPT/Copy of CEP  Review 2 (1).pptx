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7" roundtripDataSignature="AMtx7mhHCAw2mdt505nkCBnIPbCmrF/F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106313-4558-4259-BE3B-4EF47D090709}">
  <a:tblStyle styleId="{AC106313-4558-4259-BE3B-4EF47D090709}"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0" name="Shape 50"/>
        <p:cNvGrpSpPr/>
        <p:nvPr/>
      </p:nvGrpSpPr>
      <p:grpSpPr>
        <a:xfrm>
          <a:off x="0" y="0"/>
          <a:ext cx="0" cy="0"/>
          <a:chOff x="0" y="0"/>
          <a:chExt cx="0" cy="0"/>
        </a:xfrm>
      </p:grpSpPr>
      <p:sp>
        <p:nvSpPr>
          <p:cNvPr id="51" name="Google Shape;51;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23"/>
          <p:cNvSpPr txBox="1"/>
          <p:nvPr/>
        </p:nvSpPr>
        <p:spPr>
          <a:xfrm>
            <a:off x="0" y="4573675"/>
            <a:ext cx="9186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Cambria"/>
                <a:ea typeface="Cambria"/>
                <a:cs typeface="Cambria"/>
                <a:sym typeface="Cambria"/>
              </a:rPr>
              <a:t>Marathwada Mitra Mandal’s College of Engineering          </a:t>
            </a:r>
            <a:endParaRPr b="0" i="0" sz="1500" u="none" cap="none" strike="noStrike">
              <a:solidFill>
                <a:srgbClr val="98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980000"/>
                </a:solidFill>
                <a:latin typeface="Cambria"/>
                <a:ea typeface="Cambria"/>
                <a:cs typeface="Cambria"/>
                <a:sym typeface="Cambria"/>
              </a:rPr>
              <a:t>DEPARTMENT OF INFORMATION TECHNOLOGY     </a:t>
            </a:r>
            <a:endParaRPr b="1" i="0" sz="1500" u="none" cap="none" strike="noStrike">
              <a:solidFill>
                <a:srgbClr val="980000"/>
              </a:solidFill>
              <a:latin typeface="Cambria"/>
              <a:ea typeface="Cambria"/>
              <a:cs typeface="Cambria"/>
              <a:sym typeface="Cambria"/>
            </a:endParaRPr>
          </a:p>
        </p:txBody>
      </p:sp>
      <p:pic>
        <p:nvPicPr>
          <p:cNvPr id="54" name="Google Shape;54;p23"/>
          <p:cNvPicPr preferRelativeResize="0"/>
          <p:nvPr/>
        </p:nvPicPr>
        <p:blipFill rotWithShape="1">
          <a:blip r:embed="rId2">
            <a:alphaModFix/>
          </a:blip>
          <a:srcRect b="0" l="0" r="0" t="0"/>
          <a:stretch/>
        </p:blipFill>
        <p:spPr>
          <a:xfrm>
            <a:off x="1802300" y="4575112"/>
            <a:ext cx="513526" cy="569825"/>
          </a:xfrm>
          <a:prstGeom prst="rect">
            <a:avLst/>
          </a:prstGeom>
          <a:noFill/>
          <a:ln>
            <a:noFill/>
          </a:ln>
        </p:spPr>
      </p:pic>
      <p:pic>
        <p:nvPicPr>
          <p:cNvPr id="55" name="Google Shape;55;p23"/>
          <p:cNvPicPr preferRelativeResize="0"/>
          <p:nvPr/>
        </p:nvPicPr>
        <p:blipFill rotWithShape="1">
          <a:blip r:embed="rId3">
            <a:alphaModFix/>
          </a:blip>
          <a:srcRect b="0" l="0" r="0" t="0"/>
          <a:stretch/>
        </p:blipFill>
        <p:spPr>
          <a:xfrm>
            <a:off x="7195175" y="4618450"/>
            <a:ext cx="633511" cy="4831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235500" y="134975"/>
            <a:ext cx="8520600" cy="1455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latin typeface="Times New Roman"/>
                <a:ea typeface="Times New Roman"/>
                <a:cs typeface="Times New Roman"/>
                <a:sym typeface="Times New Roman"/>
              </a:rPr>
              <a:t>Marathwada Mitra Mandal's</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b="1" lang="en" sz="1200">
                <a:latin typeface="Times New Roman"/>
                <a:ea typeface="Times New Roman"/>
                <a:cs typeface="Times New Roman"/>
                <a:sym typeface="Times New Roman"/>
              </a:rPr>
              <a:t>COLLEGE OF ENGINEERING, Karve Nagar, Pune - 52</a:t>
            </a:r>
            <a:endParaRPr b="1"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latin typeface="Times New Roman"/>
                <a:ea typeface="Times New Roman"/>
                <a:cs typeface="Times New Roman"/>
                <a:sym typeface="Times New Roman"/>
              </a:rPr>
              <a:t>An Autonomous Institute Affiliated to SPPU</a:t>
            </a:r>
            <a:endParaRPr sz="12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rPr lang="en" sz="1200">
                <a:solidFill>
                  <a:srgbClr val="941A1B"/>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Website</a:t>
            </a:r>
            <a:r>
              <a:rPr lang="en" sz="1200">
                <a:solidFill>
                  <a:srgbClr val="941A1B"/>
                </a:solidFill>
                <a:latin typeface="Times New Roman"/>
                <a:ea typeface="Times New Roman"/>
                <a:cs typeface="Times New Roman"/>
                <a:sym typeface="Times New Roman"/>
              </a:rPr>
              <a:t>: </a:t>
            </a:r>
            <a:r>
              <a:rPr lang="en" sz="1200" u="sng">
                <a:solidFill>
                  <a:srgbClr val="3333CC"/>
                </a:solidFill>
                <a:latin typeface="Times New Roman"/>
                <a:ea typeface="Times New Roman"/>
                <a:cs typeface="Times New Roman"/>
                <a:sym typeface="Times New Roman"/>
              </a:rPr>
              <a:t>www.mmcoe.edu.in</a:t>
            </a:r>
            <a:r>
              <a:rPr lang="en" sz="1200">
                <a:solidFill>
                  <a:srgbClr val="941A1B"/>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   email id:</a:t>
            </a:r>
            <a:r>
              <a:rPr lang="en" sz="1200">
                <a:solidFill>
                  <a:srgbClr val="941A1B"/>
                </a:solidFill>
                <a:latin typeface="Times New Roman"/>
                <a:ea typeface="Times New Roman"/>
                <a:cs typeface="Times New Roman"/>
                <a:sym typeface="Times New Roman"/>
              </a:rPr>
              <a:t> </a:t>
            </a:r>
            <a:r>
              <a:rPr lang="en" sz="1200" u="sng">
                <a:solidFill>
                  <a:srgbClr val="3333CC"/>
                </a:solidFill>
                <a:latin typeface="Times New Roman"/>
                <a:ea typeface="Times New Roman"/>
                <a:cs typeface="Times New Roman"/>
                <a:sym typeface="Times New Roman"/>
              </a:rPr>
              <a:t>mmcoe@mmcoe.edu.in</a:t>
            </a:r>
            <a:endParaRPr sz="1200">
              <a:solidFill>
                <a:srgbClr val="941A1B"/>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400"/>
              <a:buFont typeface="Arial"/>
              <a:buNone/>
            </a:pPr>
            <a:r>
              <a:t/>
            </a:r>
            <a:endParaRPr b="1" sz="1900">
              <a:solidFill>
                <a:srgbClr val="5C2D91"/>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990"/>
              <a:buNone/>
            </a:pPr>
            <a:r>
              <a:t/>
            </a:r>
            <a:endParaRPr b="1" sz="1979">
              <a:latin typeface="Cambria"/>
              <a:ea typeface="Cambria"/>
              <a:cs typeface="Cambria"/>
              <a:sym typeface="Cambria"/>
            </a:endParaRPr>
          </a:p>
        </p:txBody>
      </p:sp>
      <p:sp>
        <p:nvSpPr>
          <p:cNvPr id="61" name="Google Shape;61;p1"/>
          <p:cNvSpPr txBox="1"/>
          <p:nvPr>
            <p:ph idx="1" type="subTitle"/>
          </p:nvPr>
        </p:nvSpPr>
        <p:spPr>
          <a:xfrm>
            <a:off x="311700" y="13843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a:solidFill>
                  <a:srgbClr val="980000"/>
                </a:solidFill>
                <a:latin typeface="Cambria"/>
                <a:ea typeface="Cambria"/>
                <a:cs typeface="Cambria"/>
                <a:sym typeface="Cambria"/>
              </a:rPr>
              <a:t>Department of Information Technology</a:t>
            </a:r>
            <a:endParaRPr b="1">
              <a:solidFill>
                <a:srgbClr val="980000"/>
              </a:solidFill>
              <a:latin typeface="Cambria"/>
              <a:ea typeface="Cambria"/>
              <a:cs typeface="Cambria"/>
              <a:sym typeface="Cambria"/>
            </a:endParaRPr>
          </a:p>
        </p:txBody>
      </p:sp>
      <p:sp>
        <p:nvSpPr>
          <p:cNvPr id="62" name="Google Shape;62;p1"/>
          <p:cNvSpPr txBox="1"/>
          <p:nvPr/>
        </p:nvSpPr>
        <p:spPr>
          <a:xfrm>
            <a:off x="94925" y="2156375"/>
            <a:ext cx="8952000" cy="1862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Cambria"/>
                <a:ea typeface="Cambria"/>
                <a:cs typeface="Cambria"/>
                <a:sym typeface="Cambria"/>
              </a:rPr>
              <a:t>Project Based Learning - Review 2 (AY 2025-26)</a:t>
            </a:r>
            <a:r>
              <a:rPr b="0" i="0" lang="en" sz="1700" u="none" cap="none" strike="noStrike">
                <a:solidFill>
                  <a:srgbClr val="000000"/>
                </a:solidFill>
                <a:latin typeface="Cambria"/>
                <a:ea typeface="Cambria"/>
                <a:cs typeface="Cambria"/>
                <a:sym typeface="Cambria"/>
              </a:rPr>
              <a:t> </a:t>
            </a:r>
            <a:endParaRPr b="0" i="0" sz="1700" u="none" cap="none" strike="noStrike">
              <a:solidFill>
                <a:srgbClr val="000000"/>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b="1" lang="en" sz="3000">
                <a:solidFill>
                  <a:schemeClr val="dk1"/>
                </a:solidFill>
                <a:latin typeface="Cambria"/>
                <a:ea typeface="Cambria"/>
                <a:cs typeface="Cambria"/>
                <a:sym typeface="Cambria"/>
              </a:rPr>
              <a:t>“</a:t>
            </a:r>
            <a:r>
              <a:rPr b="1" lang="en" sz="3000">
                <a:solidFill>
                  <a:srgbClr val="0000FF"/>
                </a:solidFill>
                <a:latin typeface="Cambria"/>
                <a:ea typeface="Cambria"/>
                <a:cs typeface="Cambria"/>
                <a:sym typeface="Cambria"/>
              </a:rPr>
              <a:t>SwachhaMitra- Report</a:t>
            </a:r>
            <a:endParaRPr sz="3000">
              <a:solidFill>
                <a:schemeClr val="dk1"/>
              </a:solidFill>
            </a:endParaRPr>
          </a:p>
          <a:p>
            <a:pPr indent="0" lvl="0" marL="0" rtl="0" algn="ctr">
              <a:spcBef>
                <a:spcPts val="0"/>
              </a:spcBef>
              <a:spcAft>
                <a:spcPts val="0"/>
              </a:spcAft>
              <a:buClr>
                <a:schemeClr val="dk1"/>
              </a:buClr>
              <a:buFont typeface="Arial"/>
              <a:buNone/>
            </a:pPr>
            <a:r>
              <a:rPr b="1" lang="en" sz="3000">
                <a:solidFill>
                  <a:srgbClr val="0000FF"/>
                </a:solidFill>
                <a:latin typeface="Cambria"/>
                <a:ea typeface="Cambria"/>
                <a:cs typeface="Cambria"/>
                <a:sym typeface="Cambria"/>
              </a:rPr>
              <a:t>Trash, Earn Rewards</a:t>
            </a:r>
            <a:r>
              <a:rPr b="1" lang="en" sz="3000">
                <a:solidFill>
                  <a:schemeClr val="dk1"/>
                </a:solidFill>
                <a:latin typeface="Cambria"/>
                <a:ea typeface="Cambria"/>
                <a:cs typeface="Cambria"/>
                <a:sym typeface="Cambria"/>
              </a:rPr>
              <a:t>”</a:t>
            </a:r>
            <a:endParaRPr sz="3000">
              <a:solidFill>
                <a:schemeClr val="dk1"/>
              </a:solidFill>
            </a:endParaRPr>
          </a:p>
          <a:p>
            <a:pPr indent="0" lvl="0" marL="0" marR="0" rtl="0" algn="ctr">
              <a:lnSpc>
                <a:spcPct val="100000"/>
              </a:lnSpc>
              <a:spcBef>
                <a:spcPts val="0"/>
              </a:spcBef>
              <a:spcAft>
                <a:spcPts val="0"/>
              </a:spcAft>
              <a:buClr>
                <a:srgbClr val="000000"/>
              </a:buClr>
              <a:buSzPts val="3000"/>
              <a:buFont typeface="Arial"/>
              <a:buNone/>
            </a:pPr>
            <a:r>
              <a:t/>
            </a:r>
            <a:endParaRPr b="1" sz="3000">
              <a:latin typeface="Cambria"/>
              <a:ea typeface="Cambria"/>
              <a:cs typeface="Cambria"/>
              <a:sym typeface="Cambria"/>
            </a:endParaRPr>
          </a:p>
        </p:txBody>
      </p:sp>
      <p:sp>
        <p:nvSpPr>
          <p:cNvPr id="63" name="Google Shape;63;p1"/>
          <p:cNvSpPr txBox="1"/>
          <p:nvPr/>
        </p:nvSpPr>
        <p:spPr>
          <a:xfrm>
            <a:off x="-22850" y="3360825"/>
            <a:ext cx="44592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Font typeface="Arial"/>
              <a:buNone/>
            </a:pPr>
            <a:r>
              <a:rPr b="1" lang="en">
                <a:solidFill>
                  <a:schemeClr val="dk1"/>
                </a:solidFill>
                <a:latin typeface="Cambria"/>
                <a:ea typeface="Cambria"/>
                <a:cs typeface="Cambria"/>
                <a:sym typeface="Cambria"/>
              </a:rPr>
              <a:t>Presented By:</a:t>
            </a:r>
            <a:r>
              <a:rPr lang="en">
                <a:solidFill>
                  <a:schemeClr val="dk1"/>
                </a:solidFill>
                <a:latin typeface="Cambria"/>
                <a:ea typeface="Cambria"/>
                <a:cs typeface="Cambria"/>
                <a:sym typeface="Cambria"/>
              </a:rPr>
              <a:t> </a:t>
            </a:r>
            <a:r>
              <a:rPr lang="en">
                <a:solidFill>
                  <a:srgbClr val="FF0000"/>
                </a:solidFill>
                <a:latin typeface="Cambria"/>
                <a:ea typeface="Cambria"/>
                <a:cs typeface="Cambria"/>
                <a:sym typeface="Cambria"/>
              </a:rPr>
              <a:t>SI160 – Rushikesh.D.Gadekar</a:t>
            </a:r>
            <a:endParaRPr>
              <a:solidFill>
                <a:schemeClr val="dk1"/>
              </a:solidFill>
            </a:endParaRPr>
          </a:p>
          <a:p>
            <a:pPr indent="0" lvl="0" marL="0" rtl="0" algn="ctr">
              <a:spcBef>
                <a:spcPts val="0"/>
              </a:spcBef>
              <a:spcAft>
                <a:spcPts val="0"/>
              </a:spcAft>
              <a:buClr>
                <a:schemeClr val="dk1"/>
              </a:buClr>
              <a:buFont typeface="Arial"/>
              <a:buNone/>
            </a:pPr>
            <a:r>
              <a:rPr lang="en">
                <a:solidFill>
                  <a:srgbClr val="FF0000"/>
                </a:solidFill>
                <a:latin typeface="Cambria"/>
                <a:ea typeface="Cambria"/>
                <a:cs typeface="Cambria"/>
                <a:sym typeface="Cambria"/>
              </a:rPr>
              <a:t>                        SI146 – Sharvari.S.Aralkar</a:t>
            </a:r>
            <a:endParaRPr>
              <a:solidFill>
                <a:schemeClr val="dk1"/>
              </a:solidFill>
            </a:endParaRPr>
          </a:p>
          <a:p>
            <a:pPr indent="0" lvl="0" marL="0" rtl="0" algn="ctr">
              <a:spcBef>
                <a:spcPts val="0"/>
              </a:spcBef>
              <a:spcAft>
                <a:spcPts val="0"/>
              </a:spcAft>
              <a:buClr>
                <a:schemeClr val="dk1"/>
              </a:buClr>
              <a:buFont typeface="Arial"/>
              <a:buNone/>
            </a:pPr>
            <a:r>
              <a:rPr lang="en">
                <a:solidFill>
                  <a:srgbClr val="FF0000"/>
                </a:solidFill>
                <a:latin typeface="Cambria"/>
                <a:ea typeface="Cambria"/>
                <a:cs typeface="Cambria"/>
                <a:sym typeface="Cambria"/>
              </a:rPr>
              <a:t>	            SI134 – Nikita.N.Kumbhar</a:t>
            </a:r>
            <a:endParaRPr>
              <a:solidFill>
                <a:schemeClr val="dk1"/>
              </a:solidFill>
            </a:endParaRPr>
          </a:p>
          <a:p>
            <a:pPr indent="0" lvl="0" marL="0" rtl="0" algn="ctr">
              <a:spcBef>
                <a:spcPts val="0"/>
              </a:spcBef>
              <a:spcAft>
                <a:spcPts val="0"/>
              </a:spcAft>
              <a:buClr>
                <a:schemeClr val="dk1"/>
              </a:buClr>
              <a:buFont typeface="Arial"/>
              <a:buNone/>
            </a:pPr>
            <a:r>
              <a:rPr lang="en">
                <a:solidFill>
                  <a:srgbClr val="FF0000"/>
                </a:solidFill>
                <a:latin typeface="Cambria"/>
                <a:ea typeface="Cambria"/>
                <a:cs typeface="Cambria"/>
                <a:sym typeface="Cambria"/>
              </a:rPr>
              <a:t>	   SI164 – Aditya.B.Patil</a:t>
            </a:r>
            <a:endParaRPr>
              <a:solidFill>
                <a:schemeClr val="dk1"/>
              </a:solidFill>
            </a:endParaRPr>
          </a:p>
          <a:p>
            <a:pPr indent="0" lvl="0" marL="0" rtl="0" algn="ctr">
              <a:spcBef>
                <a:spcPts val="0"/>
              </a:spcBef>
              <a:spcAft>
                <a:spcPts val="0"/>
              </a:spcAft>
              <a:buClr>
                <a:schemeClr val="dk1"/>
              </a:buClr>
              <a:buFont typeface="Arial"/>
              <a:buNone/>
            </a:pPr>
            <a:r>
              <a:rPr lang="en">
                <a:solidFill>
                  <a:srgbClr val="FF0000"/>
                </a:solidFill>
                <a:latin typeface="Cambria"/>
                <a:ea typeface="Cambria"/>
                <a:cs typeface="Cambria"/>
                <a:sym typeface="Cambria"/>
              </a:rPr>
              <a:t>                            </a:t>
            </a:r>
            <a:endParaRPr>
              <a:solidFill>
                <a:schemeClr val="dk1"/>
              </a:solidFil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Cambria"/>
                <a:ea typeface="Cambria"/>
                <a:cs typeface="Cambria"/>
                <a:sym typeface="Cambria"/>
              </a:rPr>
              <a:t>                            </a:t>
            </a:r>
            <a:endParaRPr b="0" i="0" sz="1400" u="none" cap="none" strike="noStrike">
              <a:solidFill>
                <a:srgbClr val="FF0000"/>
              </a:solidFill>
              <a:latin typeface="Cambria"/>
              <a:ea typeface="Cambria"/>
              <a:cs typeface="Cambria"/>
              <a:sym typeface="Cambria"/>
            </a:endParaRPr>
          </a:p>
        </p:txBody>
      </p:sp>
      <p:pic>
        <p:nvPicPr>
          <p:cNvPr id="64" name="Google Shape;64;p1"/>
          <p:cNvPicPr preferRelativeResize="0"/>
          <p:nvPr/>
        </p:nvPicPr>
        <p:blipFill rotWithShape="1">
          <a:blip r:embed="rId3">
            <a:alphaModFix/>
          </a:blip>
          <a:srcRect b="0" l="0" r="0" t="0"/>
          <a:stretch/>
        </p:blipFill>
        <p:spPr>
          <a:xfrm>
            <a:off x="927400" y="224750"/>
            <a:ext cx="834799" cy="824648"/>
          </a:xfrm>
          <a:prstGeom prst="rect">
            <a:avLst/>
          </a:prstGeom>
          <a:noFill/>
          <a:ln>
            <a:noFill/>
          </a:ln>
        </p:spPr>
      </p:pic>
      <p:sp>
        <p:nvSpPr>
          <p:cNvPr id="65" name="Google Shape;65;p1"/>
          <p:cNvSpPr txBox="1"/>
          <p:nvPr/>
        </p:nvSpPr>
        <p:spPr>
          <a:xfrm>
            <a:off x="6713150" y="4761275"/>
            <a:ext cx="1736700" cy="26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FF"/>
                </a:solidFill>
                <a:latin typeface="Cambria"/>
                <a:ea typeface="Cambria"/>
                <a:cs typeface="Cambria"/>
                <a:sym typeface="Cambria"/>
              </a:rPr>
              <a:t>Date: </a:t>
            </a:r>
            <a:endParaRPr b="0" i="0" sz="1500" u="none" cap="none" strike="noStrike">
              <a:solidFill>
                <a:srgbClr val="0000FF"/>
              </a:solidFill>
              <a:latin typeface="Cambria"/>
              <a:ea typeface="Cambria"/>
              <a:cs typeface="Cambria"/>
              <a:sym typeface="Cambria"/>
            </a:endParaRPr>
          </a:p>
        </p:txBody>
      </p:sp>
      <p:sp>
        <p:nvSpPr>
          <p:cNvPr id="66" name="Google Shape;66;p1"/>
          <p:cNvSpPr txBox="1"/>
          <p:nvPr/>
        </p:nvSpPr>
        <p:spPr>
          <a:xfrm>
            <a:off x="-159800" y="4761275"/>
            <a:ext cx="320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p:txBody>
      </p:sp>
      <p:sp>
        <p:nvSpPr>
          <p:cNvPr id="67" name="Google Shape;67;p1"/>
          <p:cNvSpPr txBox="1"/>
          <p:nvPr/>
        </p:nvSpPr>
        <p:spPr>
          <a:xfrm>
            <a:off x="5733300" y="4747575"/>
            <a:ext cx="341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lang="en">
                <a:latin typeface="Cambria"/>
                <a:ea typeface="Cambria"/>
                <a:cs typeface="Cambria"/>
                <a:sym typeface="Cambria"/>
              </a:rPr>
              <a:t>      29.10.25</a:t>
            </a:r>
            <a:endParaRPr b="0" i="0" sz="1400" u="none" cap="none" strike="noStrike">
              <a:solidFill>
                <a:srgbClr val="000000"/>
              </a:solidFill>
              <a:latin typeface="Cambria"/>
              <a:ea typeface="Cambria"/>
              <a:cs typeface="Cambria"/>
              <a:sym typeface="Cambria"/>
            </a:endParaRPr>
          </a:p>
        </p:txBody>
      </p:sp>
      <p:sp>
        <p:nvSpPr>
          <p:cNvPr id="68" name="Google Shape;68;p1"/>
          <p:cNvSpPr/>
          <p:nvPr/>
        </p:nvSpPr>
        <p:spPr>
          <a:xfrm>
            <a:off x="5974200" y="3483720"/>
            <a:ext cx="2168400" cy="60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 sz="1400" u="none" cap="none" strike="noStrike">
                <a:solidFill>
                  <a:srgbClr val="000000"/>
                </a:solidFill>
                <a:latin typeface="Cambria"/>
                <a:ea typeface="Cambria"/>
                <a:cs typeface="Cambria"/>
                <a:sym typeface="Cambria"/>
              </a:rPr>
              <a:t>Name of Guide</a:t>
            </a:r>
            <a:r>
              <a:rPr b="0" i="0" lang="en" sz="1400" u="none" cap="none" strike="noStrike">
                <a:solidFill>
                  <a:srgbClr val="000000"/>
                </a:solidFill>
                <a:latin typeface="Cambria"/>
                <a:ea typeface="Cambria"/>
                <a:cs typeface="Cambria"/>
                <a:sym typeface="Cambria"/>
              </a:rPr>
              <a:t>:</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 sz="1400" u="none" cap="none" strike="noStrike">
                <a:solidFill>
                  <a:srgbClr val="000000"/>
                </a:solidFill>
                <a:latin typeface="Cambria"/>
                <a:ea typeface="Cambria"/>
                <a:cs typeface="Cambria"/>
                <a:sym typeface="Cambria"/>
              </a:rPr>
              <a:t>Mrs.P.S.Joshi</a:t>
            </a:r>
            <a:endParaRPr b="0" i="0" sz="14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CEP Project Title</a:t>
            </a:r>
            <a:endParaRPr b="1" i="0" sz="3000" u="none" cap="none" strike="noStrike">
              <a:solidFill>
                <a:srgbClr val="980000"/>
              </a:solidFill>
              <a:latin typeface="Cambria"/>
              <a:ea typeface="Cambria"/>
              <a:cs typeface="Cambria"/>
              <a:sym typeface="Cambria"/>
            </a:endParaRPr>
          </a:p>
        </p:txBody>
      </p:sp>
      <p:graphicFrame>
        <p:nvGraphicFramePr>
          <p:cNvPr id="74" name="Google Shape;74;p2"/>
          <p:cNvGraphicFramePr/>
          <p:nvPr/>
        </p:nvGraphicFramePr>
        <p:xfrm>
          <a:off x="70196" y="546892"/>
          <a:ext cx="3000000" cy="3000000"/>
        </p:xfrm>
        <a:graphic>
          <a:graphicData uri="http://schemas.openxmlformats.org/drawingml/2006/table">
            <a:tbl>
              <a:tblPr bandRow="1" firstRow="1">
                <a:noFill/>
                <a:tableStyleId>{AC106313-4558-4259-BE3B-4EF47D090709}</a:tableStyleId>
              </a:tblPr>
              <a:tblGrid>
                <a:gridCol w="9073800"/>
              </a:tblGrid>
              <a:tr h="4470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Title 1</a:t>
                      </a:r>
                      <a:endParaRPr sz="1400" u="none" cap="none" strike="noStrike">
                        <a:solidFill>
                          <a:srgbClr val="FF0000"/>
                        </a:solidFill>
                      </a:endParaRPr>
                    </a:p>
                  </a:txBody>
                  <a:tcPr marT="45725" marB="45725" marR="91450" marL="91450">
                    <a:solidFill>
                      <a:srgbClr val="FFB340">
                        <a:alpha val="65882"/>
                      </a:srgbClr>
                    </a:solidFill>
                  </a:tcPr>
                </a:tc>
              </a:tr>
              <a:tr h="3086500">
                <a:tc>
                  <a:txBody>
                    <a:bodyPr/>
                    <a:lstStyle/>
                    <a:p>
                      <a:pPr indent="0" lvl="0" marL="0" rtl="0" algn="l">
                        <a:spcBef>
                          <a:spcPts val="0"/>
                        </a:spcBef>
                        <a:spcAft>
                          <a:spcPts val="0"/>
                        </a:spcAft>
                        <a:buClr>
                          <a:schemeClr val="dk1"/>
                        </a:buClr>
                        <a:buFont typeface="Arial"/>
                        <a:buNone/>
                      </a:pPr>
                      <a:r>
                        <a:rPr b="1" lang="en">
                          <a:latin typeface="Times New Roman"/>
                          <a:ea typeface="Times New Roman"/>
                          <a:cs typeface="Times New Roman"/>
                          <a:sym typeface="Times New Roman"/>
                        </a:rPr>
                        <a:t>Context of the project :- </a:t>
                      </a:r>
                      <a:r>
                        <a:rPr lang="en">
                          <a:latin typeface="Times New Roman"/>
                          <a:ea typeface="Times New Roman"/>
                          <a:cs typeface="Times New Roman"/>
                          <a:sym typeface="Times New Roman"/>
                        </a:rPr>
                        <a:t>Urban areas are facing persistent waste management challenges due to unreported</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
                          <a:latin typeface="Times New Roman"/>
                          <a:ea typeface="Times New Roman"/>
                          <a:cs typeface="Times New Roman"/>
                          <a:sym typeface="Times New Roman"/>
                        </a:rPr>
                        <a:t>and unattended garbage piles. These uncollected wastes not only degrade the city’s</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
                          <a:latin typeface="Times New Roman"/>
                          <a:ea typeface="Times New Roman"/>
                          <a:cs typeface="Times New Roman"/>
                          <a:sym typeface="Times New Roman"/>
                        </a:rPr>
                        <a:t>aesthetic appeal but also create serious public health hazards, including the spread of</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
                          <a:latin typeface="Times New Roman"/>
                          <a:ea typeface="Times New Roman"/>
                          <a:cs typeface="Times New Roman"/>
                          <a:sym typeface="Times New Roman"/>
                        </a:rPr>
                        <a:t>diseases through pests and contamination of soil and water. Existing reporting systems</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
                          <a:latin typeface="Times New Roman"/>
                          <a:ea typeface="Times New Roman"/>
                          <a:cs typeface="Times New Roman"/>
                          <a:sym typeface="Times New Roman"/>
                        </a:rPr>
                        <a:t>are often slow, inconvenient, or poorly integrated with municipal response teams,</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
                          <a:latin typeface="Times New Roman"/>
                          <a:ea typeface="Times New Roman"/>
                          <a:cs typeface="Times New Roman"/>
                          <a:sym typeface="Times New Roman"/>
                        </a:rPr>
                        <a:t>leading to significant delays in action.</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1200"/>
                    </a:p>
                    <a:p>
                      <a:pPr indent="0" lvl="0" marL="0" marR="0" rtl="0" algn="l">
                        <a:lnSpc>
                          <a:spcPct val="100000"/>
                        </a:lnSpc>
                        <a:spcBef>
                          <a:spcPts val="0"/>
                        </a:spcBef>
                        <a:spcAft>
                          <a:spcPts val="0"/>
                        </a:spcAft>
                        <a:buClr>
                          <a:schemeClr val="dk1"/>
                        </a:buClr>
                        <a:buSzPts val="1100"/>
                        <a:buFont typeface="Arial"/>
                        <a:buNone/>
                      </a:pPr>
                      <a:r>
                        <a:t/>
                      </a:r>
                      <a:endParaRPr b="1" sz="1200" u="none" cap="none" strike="noStrike"/>
                    </a:p>
                    <a:p>
                      <a:pPr indent="0" lvl="0" marL="0" marR="0" rtl="0" algn="l">
                        <a:lnSpc>
                          <a:spcPct val="100000"/>
                        </a:lnSpc>
                        <a:spcBef>
                          <a:spcPts val="0"/>
                        </a:spcBef>
                        <a:spcAft>
                          <a:spcPts val="0"/>
                        </a:spcAft>
                        <a:buClr>
                          <a:schemeClr val="dk1"/>
                        </a:buClr>
                        <a:buSzPts val="1100"/>
                        <a:buFont typeface="Arial"/>
                        <a:buNone/>
                      </a:pPr>
                      <a:r>
                        <a:rPr b="1" lang="en" sz="1200" u="none" cap="none" strike="noStrike"/>
                        <a:t>Area/Community of focus:</a:t>
                      </a:r>
                      <a:r>
                        <a:rPr lang="en" sz="1200"/>
                        <a:t>The project focuses on </a:t>
                      </a:r>
                      <a:r>
                        <a:rPr b="1" lang="en" sz="1200"/>
                        <a:t>urban and semi-urban areas</a:t>
                      </a:r>
                      <a:r>
                        <a:rPr lang="en" sz="1200"/>
                        <a:t> affected by poor waste collection. It aims to help </a:t>
                      </a:r>
                      <a:r>
                        <a:rPr b="1" lang="en" sz="1200"/>
                        <a:t>municipal bodies and local communities</a:t>
                      </a:r>
                      <a:r>
                        <a:rPr lang="en" sz="1200"/>
                        <a:t> maintain cleanliness in public and residential zones through citizen participation and digital reporting.</a:t>
                      </a:r>
                      <a:endParaRPr sz="1200"/>
                    </a:p>
                    <a:p>
                      <a:pPr indent="0" lvl="0" marL="0" marR="0" rtl="0" algn="l">
                        <a:lnSpc>
                          <a:spcPct val="100000"/>
                        </a:lnSpc>
                        <a:spcBef>
                          <a:spcPts val="0"/>
                        </a:spcBef>
                        <a:spcAft>
                          <a:spcPts val="0"/>
                        </a:spcAft>
                        <a:buClr>
                          <a:schemeClr val="dk1"/>
                        </a:buClr>
                        <a:buSzPts val="1100"/>
                        <a:buFont typeface="Arial"/>
                        <a:buNone/>
                      </a:pPr>
                      <a:r>
                        <a:t/>
                      </a:r>
                      <a:endParaRPr sz="1200"/>
                    </a:p>
                  </a:txBody>
                  <a:tcPr marT="45725" marB="45725" marR="91450" marL="91450"/>
                </a:tc>
              </a:tr>
            </a:tbl>
          </a:graphicData>
        </a:graphic>
      </p:graphicFrame>
      <p:sp>
        <p:nvSpPr>
          <p:cNvPr id="75" name="Google Shape;75;p2"/>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Proposed Solution</a:t>
            </a:r>
            <a:endParaRPr b="1" i="0" sz="3000" u="none" cap="none" strike="noStrike">
              <a:solidFill>
                <a:srgbClr val="980000"/>
              </a:solidFill>
              <a:latin typeface="Cambria"/>
              <a:ea typeface="Cambria"/>
              <a:cs typeface="Cambria"/>
              <a:sym typeface="Cambria"/>
            </a:endParaRPr>
          </a:p>
        </p:txBody>
      </p:sp>
      <p:sp>
        <p:nvSpPr>
          <p:cNvPr id="81" name="Google Shape;81;p3"/>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txBox="1"/>
          <p:nvPr/>
        </p:nvSpPr>
        <p:spPr>
          <a:xfrm>
            <a:off x="0" y="801475"/>
            <a:ext cx="8837700" cy="4012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b="1" i="0" lang="en" sz="1100" u="none" cap="none" strike="noStrike">
                <a:solidFill>
                  <a:schemeClr val="dk1"/>
                </a:solidFill>
              </a:rPr>
              <a:t>Description:</a:t>
            </a:r>
            <a:r>
              <a:rPr i="1" lang="en" sz="1100">
                <a:solidFill>
                  <a:schemeClr val="dk1"/>
                </a:solidFill>
              </a:rPr>
              <a:t>SwachhaRakshak</a:t>
            </a:r>
            <a:r>
              <a:rPr lang="en" sz="1100">
                <a:solidFill>
                  <a:schemeClr val="dk1"/>
                </a:solidFill>
              </a:rPr>
              <a:t> is a web application that uses GPS tracking and AI automation to improve urban waste management. Citizens can report garbage by uploading images with location details, while AI helps classify waste and assist municipal teams in prioritizing cleanup. The system ensures quick response, transparency, and citizen participation.</a:t>
            </a:r>
            <a:br>
              <a:rPr b="0" i="0" lang="en"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None/>
            </a:pPr>
            <a:r>
              <a:rPr b="1" i="0" lang="en" sz="1100" u="none" cap="none" strike="noStrike">
                <a:solidFill>
                  <a:schemeClr val="dk1"/>
                </a:solidFill>
              </a:rPr>
              <a:t>Technology/Tools/Approach used:</a:t>
            </a:r>
            <a:endParaRPr b="1" i="0" sz="1100" u="none" cap="none" strike="noStrike">
              <a:solidFill>
                <a:schemeClr val="dk1"/>
              </a:solidFill>
            </a:endParaRPr>
          </a:p>
          <a:p>
            <a:pPr indent="0" lvl="0" marL="457200" marR="0" rtl="0" algn="l">
              <a:lnSpc>
                <a:spcPct val="115000"/>
              </a:lnSpc>
              <a:spcBef>
                <a:spcPts val="0"/>
              </a:spcBef>
              <a:spcAft>
                <a:spcPts val="0"/>
              </a:spcAft>
              <a:buNone/>
            </a:pPr>
            <a:r>
              <a:t/>
            </a:r>
            <a:endParaRPr b="1" sz="1100">
              <a:solidFill>
                <a:schemeClr val="dk1"/>
              </a:solidFill>
            </a:endParaRPr>
          </a:p>
          <a:p>
            <a:pPr indent="-298450" lvl="0" marL="457200" marR="0" rtl="0" algn="l">
              <a:lnSpc>
                <a:spcPct val="115000"/>
              </a:lnSpc>
              <a:spcBef>
                <a:spcPts val="0"/>
              </a:spcBef>
              <a:spcAft>
                <a:spcPts val="0"/>
              </a:spcAft>
              <a:buClr>
                <a:schemeClr val="dk1"/>
              </a:buClr>
              <a:buSzPts val="1100"/>
              <a:buFont typeface="Arial"/>
              <a:buChar char="●"/>
            </a:pPr>
            <a:r>
              <a:rPr b="1" lang="en" sz="1100">
                <a:solidFill>
                  <a:schemeClr val="dk1"/>
                </a:solidFill>
              </a:rPr>
              <a:t>Frontend:</a:t>
            </a:r>
            <a:r>
              <a:rPr lang="en" sz="1100">
                <a:solidFill>
                  <a:schemeClr val="dk1"/>
                </a:solidFill>
              </a:rPr>
              <a:t> HTML,CSS, JS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Backend:</a:t>
            </a:r>
            <a:r>
              <a:rPr lang="en" sz="1100">
                <a:solidFill>
                  <a:schemeClr val="dk1"/>
                </a:solidFill>
              </a:rPr>
              <a:t> NODE JS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Database:</a:t>
            </a:r>
            <a:r>
              <a:rPr lang="en" sz="1100">
                <a:solidFill>
                  <a:schemeClr val="dk1"/>
                </a:solidFill>
              </a:rPr>
              <a:t> Firebase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APIs:</a:t>
            </a:r>
            <a:r>
              <a:rPr lang="en" sz="1100">
                <a:solidFill>
                  <a:schemeClr val="dk1"/>
                </a:solidFill>
              </a:rPr>
              <a:t> Google Maps API (for GPS tracking)</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AI Automation:</a:t>
            </a:r>
            <a:r>
              <a:rPr lang="en" sz="1100">
                <a:solidFill>
                  <a:schemeClr val="dk1"/>
                </a:solidFill>
              </a:rPr>
              <a:t> Image-based waste detection and report prioritization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Approach:</a:t>
            </a:r>
            <a:r>
              <a:rPr lang="en" sz="1100">
                <a:solidFill>
                  <a:schemeClr val="dk1"/>
                </a:solidFill>
              </a:rPr>
              <a:t> Real-time updates with secure, cloud-based architecture</a:t>
            </a:r>
            <a:endParaRPr sz="1100">
              <a:solidFill>
                <a:schemeClr val="dk1"/>
              </a:solidFill>
            </a:endParaRPr>
          </a:p>
          <a:p>
            <a:pPr indent="0" lvl="0" marL="0" marR="0" rtl="0" algn="l">
              <a:lnSpc>
                <a:spcPct val="115000"/>
              </a:lnSpc>
              <a:spcBef>
                <a:spcPts val="1200"/>
              </a:spcBef>
              <a:spcAft>
                <a:spcPts val="0"/>
              </a:spcAft>
              <a:buNone/>
            </a:pPr>
            <a:br>
              <a:rPr b="0" i="0" lang="en"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Prototype or Model</a:t>
            </a:r>
            <a:endParaRPr b="1" i="0" sz="3000" u="none" cap="none" strike="noStrike">
              <a:solidFill>
                <a:srgbClr val="980000"/>
              </a:solidFill>
              <a:latin typeface="Cambria"/>
              <a:ea typeface="Cambria"/>
              <a:cs typeface="Cambria"/>
              <a:sym typeface="Cambria"/>
            </a:endParaRPr>
          </a:p>
        </p:txBody>
      </p:sp>
      <p:sp>
        <p:nvSpPr>
          <p:cNvPr id="88" name="Google Shape;88;p4"/>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
          <p:cNvPicPr preferRelativeResize="0"/>
          <p:nvPr/>
        </p:nvPicPr>
        <p:blipFill>
          <a:blip r:embed="rId3">
            <a:alphaModFix/>
          </a:blip>
          <a:stretch>
            <a:fillRect/>
          </a:stretch>
        </p:blipFill>
        <p:spPr>
          <a:xfrm>
            <a:off x="152400" y="1230250"/>
            <a:ext cx="3553501" cy="1855400"/>
          </a:xfrm>
          <a:prstGeom prst="rect">
            <a:avLst/>
          </a:prstGeom>
          <a:noFill/>
          <a:ln>
            <a:noFill/>
          </a:ln>
        </p:spPr>
      </p:pic>
      <p:pic>
        <p:nvPicPr>
          <p:cNvPr id="90" name="Google Shape;90;p4"/>
          <p:cNvPicPr preferRelativeResize="0"/>
          <p:nvPr/>
        </p:nvPicPr>
        <p:blipFill>
          <a:blip r:embed="rId4">
            <a:alphaModFix/>
          </a:blip>
          <a:stretch>
            <a:fillRect/>
          </a:stretch>
        </p:blipFill>
        <p:spPr>
          <a:xfrm>
            <a:off x="3868800" y="1230276"/>
            <a:ext cx="4004896" cy="1855401"/>
          </a:xfrm>
          <a:prstGeom prst="rect">
            <a:avLst/>
          </a:prstGeom>
          <a:noFill/>
          <a:ln>
            <a:noFill/>
          </a:ln>
        </p:spPr>
      </p:pic>
      <p:sp>
        <p:nvSpPr>
          <p:cNvPr id="91" name="Google Shape;91;p4"/>
          <p:cNvSpPr txBox="1"/>
          <p:nvPr/>
        </p:nvSpPr>
        <p:spPr>
          <a:xfrm>
            <a:off x="72150" y="546888"/>
            <a:ext cx="8999700" cy="117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Photos/screenshots</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 name="Google Shape;92;p4"/>
          <p:cNvPicPr preferRelativeResize="0"/>
          <p:nvPr/>
        </p:nvPicPr>
        <p:blipFill>
          <a:blip r:embed="rId5">
            <a:alphaModFix/>
          </a:blip>
          <a:stretch>
            <a:fillRect/>
          </a:stretch>
        </p:blipFill>
        <p:spPr>
          <a:xfrm>
            <a:off x="152400" y="3238050"/>
            <a:ext cx="3777616" cy="1753050"/>
          </a:xfrm>
          <a:prstGeom prst="rect">
            <a:avLst/>
          </a:prstGeom>
          <a:noFill/>
          <a:ln>
            <a:noFill/>
          </a:ln>
        </p:spPr>
      </p:pic>
      <p:pic>
        <p:nvPicPr>
          <p:cNvPr id="93" name="Google Shape;93;p4"/>
          <p:cNvPicPr preferRelativeResize="0"/>
          <p:nvPr/>
        </p:nvPicPr>
        <p:blipFill>
          <a:blip r:embed="rId6">
            <a:alphaModFix/>
          </a:blip>
          <a:stretch>
            <a:fillRect/>
          </a:stretch>
        </p:blipFill>
        <p:spPr>
          <a:xfrm>
            <a:off x="4082416" y="3238050"/>
            <a:ext cx="3816163" cy="1753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Testing and Feedback</a:t>
            </a:r>
            <a:endParaRPr b="1" i="0" sz="3000" u="none" cap="none" strike="noStrike">
              <a:solidFill>
                <a:srgbClr val="980000"/>
              </a:solidFill>
              <a:latin typeface="Cambria"/>
              <a:ea typeface="Cambria"/>
              <a:cs typeface="Cambria"/>
              <a:sym typeface="Cambria"/>
            </a:endParaRPr>
          </a:p>
        </p:txBody>
      </p:sp>
      <p:sp>
        <p:nvSpPr>
          <p:cNvPr id="99" name="Google Shape;99;p5"/>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
          <p:cNvSpPr txBox="1"/>
          <p:nvPr/>
        </p:nvSpPr>
        <p:spPr>
          <a:xfrm>
            <a:off x="73200" y="798475"/>
            <a:ext cx="8676900" cy="389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Testing &amp; Feedback</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Char char="●"/>
            </a:pPr>
            <a:r>
              <a:rPr b="1" i="0" lang="en" sz="1100" u="none" cap="none" strike="noStrike">
                <a:solidFill>
                  <a:schemeClr val="dk1"/>
                </a:solidFill>
              </a:rPr>
              <a:t>Demo with community members:</a:t>
            </a:r>
            <a:endParaRPr b="1" i="0" sz="1100" u="none" cap="none" strike="noStrike">
              <a:solidFill>
                <a:schemeClr val="dk1"/>
              </a:solidFill>
            </a:endParaRPr>
          </a:p>
          <a:p>
            <a:pPr indent="0" lvl="0" marL="457200" marR="0" rtl="0" algn="l">
              <a:lnSpc>
                <a:spcPct val="115000"/>
              </a:lnSpc>
              <a:spcBef>
                <a:spcPts val="1200"/>
              </a:spcBef>
              <a:spcAft>
                <a:spcPts val="0"/>
              </a:spcAft>
              <a:buNone/>
            </a:pPr>
            <a:r>
              <a:rPr lang="en" sz="1100">
                <a:solidFill>
                  <a:schemeClr val="dk1"/>
                </a:solidFill>
              </a:rPr>
              <a:t>The system was tested with a small group of community members. Users successfully reported garbage using GPS and image uploads. Feedback highlighted the app’s ease of use and quick response time. Minor suggestions included adding a mobile version and more reward options.</a:t>
            </a:r>
            <a:endParaRPr sz="1100">
              <a:solidFill>
                <a:schemeClr val="dk1"/>
              </a:solidFill>
            </a:endParaRPr>
          </a:p>
          <a:p>
            <a:pPr indent="0" lvl="0" marL="457200" marR="0" rtl="0" algn="l">
              <a:lnSpc>
                <a:spcPct val="115000"/>
              </a:lnSpc>
              <a:spcBef>
                <a:spcPts val="1200"/>
              </a:spcBef>
              <a:spcAft>
                <a:spcPts val="0"/>
              </a:spcAft>
              <a:buNone/>
            </a:pPr>
            <a:br>
              <a:rPr b="0" i="0" lang="en"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1" i="0" lang="en" sz="1100" u="none" cap="none" strike="noStrike">
                <a:solidFill>
                  <a:schemeClr val="dk1"/>
                </a:solidFill>
              </a:rPr>
              <a:t>Observations:</a:t>
            </a:r>
            <a:endParaRPr b="1" i="0" sz="1100" u="none" cap="none" strike="noStrike">
              <a:solidFill>
                <a:schemeClr val="dk1"/>
              </a:solidFill>
            </a:endParaRPr>
          </a:p>
          <a:p>
            <a:pPr indent="-298450" lvl="0" marL="457200" marR="0" rtl="0" algn="l">
              <a:lnSpc>
                <a:spcPct val="115000"/>
              </a:lnSpc>
              <a:spcBef>
                <a:spcPts val="0"/>
              </a:spcBef>
              <a:spcAft>
                <a:spcPts val="0"/>
              </a:spcAft>
              <a:buClr>
                <a:schemeClr val="dk1"/>
              </a:buClr>
              <a:buSzPts val="1100"/>
              <a:buFont typeface="Arial"/>
              <a:buChar char="●"/>
            </a:pPr>
            <a:r>
              <a:rPr lang="en" sz="1100">
                <a:solidFill>
                  <a:schemeClr val="dk1"/>
                </a:solidFill>
              </a:rPr>
              <a:t>Reports were accurately logged with correct location data.</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Real-time updates improved user confidence.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AI detection worked well for basic waste categories.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Overall response from users and municipal staff was positive.</a:t>
            </a:r>
            <a:endParaRPr sz="1100">
              <a:solidFill>
                <a:schemeClr val="dk1"/>
              </a:solidFill>
            </a:endParaRPr>
          </a:p>
          <a:p>
            <a:pPr indent="0" lvl="0" marL="457200" marR="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6"/>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Feasibility and Sustainability</a:t>
            </a:r>
            <a:endParaRPr b="1" i="0" sz="3000" u="none" cap="none" strike="noStrike">
              <a:solidFill>
                <a:srgbClr val="980000"/>
              </a:solidFill>
              <a:latin typeface="Cambria"/>
              <a:ea typeface="Cambria"/>
              <a:cs typeface="Cambria"/>
              <a:sym typeface="Cambria"/>
            </a:endParaRPr>
          </a:p>
        </p:txBody>
      </p:sp>
      <p:sp>
        <p:nvSpPr>
          <p:cNvPr id="106" name="Google Shape;106;p6"/>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txBox="1"/>
          <p:nvPr/>
        </p:nvSpPr>
        <p:spPr>
          <a:xfrm>
            <a:off x="73200" y="798475"/>
            <a:ext cx="8676900" cy="21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Can it be scaled or maintained?</a:t>
            </a:r>
            <a:br>
              <a:rPr b="1" lang="en" sz="1100">
                <a:solidFill>
                  <a:schemeClr val="dk1"/>
                </a:solidFill>
              </a:rPr>
            </a:br>
            <a:r>
              <a:rPr lang="en" sz="1100">
                <a:solidFill>
                  <a:schemeClr val="dk1"/>
                </a:solidFill>
              </a:rPr>
              <a:t> Yes, the project can be easily scaled by integrating more advanced features, improving automation, and expanding to larger datasets or multiple locations. Regular updates and modular design make maintenance manageable.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Cost and complexity:</a:t>
            </a:r>
            <a:br>
              <a:rPr b="1" lang="en" sz="1100">
                <a:solidFill>
                  <a:schemeClr val="dk1"/>
                </a:solidFill>
              </a:rPr>
            </a:br>
            <a:r>
              <a:rPr lang="en" sz="1100">
                <a:solidFill>
                  <a:schemeClr val="dk1"/>
                </a:solidFill>
              </a:rPr>
              <a:t> The cost is moderate, mainly for hardware setup and AI integration. Complexity depends on the automation level — higher AI accuracy and GPS precision increase both cost and system complexity.</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l">
              <a:lnSpc>
                <a:spcPct val="100000"/>
              </a:lnSpc>
              <a:spcBef>
                <a:spcPts val="1200"/>
              </a:spcBef>
              <a:spcAft>
                <a:spcPts val="0"/>
              </a:spcAft>
              <a:buClr>
                <a:schemeClr val="dk1"/>
              </a:buClr>
              <a:buSzPts val="1100"/>
              <a:buFont typeface="Arial"/>
              <a:buNone/>
            </a:pPr>
            <a:r>
              <a:t/>
            </a:r>
            <a:endParaRPr b="1"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Final Outcome</a:t>
            </a:r>
            <a:endParaRPr b="1" i="0" sz="1100" u="none" cap="none" strike="noStrike">
              <a:solidFill>
                <a:schemeClr val="dk1"/>
              </a:solidFill>
              <a:latin typeface="Arial"/>
              <a:ea typeface="Arial"/>
              <a:cs typeface="Arial"/>
              <a:sym typeface="Arial"/>
            </a:endParaRPr>
          </a:p>
        </p:txBody>
      </p:sp>
      <p:sp>
        <p:nvSpPr>
          <p:cNvPr id="113" name="Google Shape;113;p7"/>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
          <p:cNvSpPr txBox="1"/>
          <p:nvPr/>
        </p:nvSpPr>
        <p:spPr>
          <a:xfrm>
            <a:off x="73200" y="798475"/>
            <a:ext cx="8676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15" name="Google Shape;115;p7"/>
          <p:cNvSpPr txBox="1"/>
          <p:nvPr/>
        </p:nvSpPr>
        <p:spPr>
          <a:xfrm>
            <a:off x="133075" y="984800"/>
            <a:ext cx="8799000" cy="35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Before vs. After Comparison:</a:t>
            </a:r>
            <a:br>
              <a:rPr b="1" lang="en" sz="1100">
                <a:solidFill>
                  <a:schemeClr val="dk1"/>
                </a:solidFill>
              </a:rPr>
            </a:br>
            <a:r>
              <a:rPr lang="en" sz="1100">
                <a:solidFill>
                  <a:schemeClr val="dk1"/>
                </a:solidFill>
              </a:rPr>
              <a:t> Earlier, waste reporting was a manual and time-consuming process, often leading to delays and incomplete information. With </a:t>
            </a:r>
            <a:r>
              <a:rPr i="1" lang="en" sz="1100">
                <a:solidFill>
                  <a:schemeClr val="dk1"/>
                </a:solidFill>
              </a:rPr>
              <a:t>SwachhaRakshak</a:t>
            </a:r>
            <a:r>
              <a:rPr lang="en" sz="1100">
                <a:solidFill>
                  <a:schemeClr val="dk1"/>
                </a:solidFill>
              </a:rPr>
              <a:t>, reporting became quick and efficient through GPS tracking and image uploads. Response time, which was previously delayed, improved with real-time alerts. Transparency also increased — users can now track the status of their reports. Moreover, citizen participation grew significantly, as the system made it easier and more rewarding for people to get involved.</a:t>
            </a:r>
            <a:endParaRPr sz="1100">
              <a:solidFill>
                <a:schemeClr val="dk1"/>
              </a:solidFill>
            </a:endParaRPr>
          </a:p>
          <a:p>
            <a:pPr indent="0" lvl="0" marL="0" marR="0" rtl="0" algn="l">
              <a:lnSpc>
                <a:spcPct val="115000"/>
              </a:lnSpc>
              <a:spcBef>
                <a:spcPts val="1200"/>
              </a:spcBef>
              <a:spcAft>
                <a:spcPts val="0"/>
              </a:spcAft>
              <a:buNone/>
            </a:pPr>
            <a:br>
              <a:rPr b="0" i="0" lang="en"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1" i="0" lang="en" sz="1100" u="none" cap="none" strike="noStrike">
                <a:solidFill>
                  <a:schemeClr val="dk1"/>
                </a:solidFill>
              </a:rPr>
              <a:t>Impact estimate</a:t>
            </a:r>
            <a:endParaRPr b="1" i="0" sz="1100" u="none" cap="none" strike="noStrike">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Response time reduced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Higher citizen participation and faster issue resolution.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Improved cleanliness and municipal efficiency.</a:t>
            </a:r>
            <a:br>
              <a:rPr lang="en" sz="1100">
                <a:solidFill>
                  <a:schemeClr val="dk1"/>
                </a:solidFill>
              </a:rPr>
            </a:br>
            <a:endParaRPr sz="1100">
              <a:solidFill>
                <a:schemeClr val="dk1"/>
              </a:solidFill>
            </a:endParaRPr>
          </a:p>
          <a:p>
            <a:pPr indent="0" lvl="0" marL="457200" marR="0" rtl="0" algn="l">
              <a:lnSpc>
                <a:spcPct val="115000"/>
              </a:lnSpc>
              <a:spcBef>
                <a:spcPts val="1200"/>
              </a:spcBef>
              <a:spcAft>
                <a:spcPts val="0"/>
              </a:spcAft>
              <a:buClr>
                <a:srgbClr val="000000"/>
              </a:buClr>
              <a:buSzPts val="1100"/>
              <a:buFont typeface="Arial"/>
              <a:buNone/>
            </a:pPr>
            <a:r>
              <a:t/>
            </a:r>
            <a:endParaRPr sz="1100">
              <a:solidFill>
                <a:schemeClr val="dk1"/>
              </a:solidFil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Team Contributions and Learning</a:t>
            </a:r>
            <a:endParaRPr b="1" i="0" sz="1100" u="none" cap="none" strike="noStrike">
              <a:solidFill>
                <a:schemeClr val="dk1"/>
              </a:solidFill>
              <a:latin typeface="Arial"/>
              <a:ea typeface="Arial"/>
              <a:cs typeface="Arial"/>
              <a:sym typeface="Arial"/>
            </a:endParaRPr>
          </a:p>
        </p:txBody>
      </p:sp>
      <p:sp>
        <p:nvSpPr>
          <p:cNvPr id="121" name="Google Shape;121;p8"/>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8"/>
          <p:cNvSpPr txBox="1"/>
          <p:nvPr/>
        </p:nvSpPr>
        <p:spPr>
          <a:xfrm>
            <a:off x="73200" y="798475"/>
            <a:ext cx="8676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23" name="Google Shape;123;p8"/>
          <p:cNvSpPr txBox="1"/>
          <p:nvPr/>
        </p:nvSpPr>
        <p:spPr>
          <a:xfrm>
            <a:off x="73200" y="724375"/>
            <a:ext cx="8952900" cy="430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Role of Each Member</a:t>
            </a:r>
            <a:r>
              <a:rPr lang="en"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Frontend Developer/</a:t>
            </a:r>
            <a:r>
              <a:rPr b="1" lang="en" sz="1100">
                <a:solidFill>
                  <a:schemeClr val="dk1"/>
                </a:solidFill>
              </a:rPr>
              <a:t>Backend Developer</a:t>
            </a:r>
            <a:r>
              <a:rPr b="1" lang="en" sz="1100">
                <a:solidFill>
                  <a:schemeClr val="dk1"/>
                </a:solidFill>
              </a:rPr>
              <a:t>:</a:t>
            </a:r>
            <a:r>
              <a:rPr lang="en" sz="1100">
                <a:solidFill>
                  <a:schemeClr val="dk1"/>
                </a:solidFill>
              </a:rPr>
              <a:t> Aditya Patil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AI/Automation Developer:</a:t>
            </a:r>
            <a:r>
              <a:rPr lang="en" sz="1100">
                <a:solidFill>
                  <a:schemeClr val="dk1"/>
                </a:solidFill>
              </a:rPr>
              <a:t> Rushikesh Gadekar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UI/UX Designer:</a:t>
            </a:r>
            <a:r>
              <a:rPr lang="en" sz="1100">
                <a:solidFill>
                  <a:schemeClr val="dk1"/>
                </a:solidFill>
              </a:rPr>
              <a:t>Sharvari Aralkar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Documentation Lead:</a:t>
            </a:r>
            <a:r>
              <a:rPr lang="en" sz="1100">
                <a:solidFill>
                  <a:schemeClr val="dk1"/>
                </a:solidFill>
              </a:rPr>
              <a:t> Nikita Kumbhar</a:t>
            </a:r>
            <a:br>
              <a:rPr b="1" i="0" lang="en" sz="1100" u="none" cap="none" strike="noStrike">
                <a:solidFill>
                  <a:schemeClr val="dk1"/>
                </a:solidFill>
                <a:latin typeface="Arial"/>
                <a:ea typeface="Arial"/>
                <a:cs typeface="Arial"/>
                <a:sym typeface="Arial"/>
              </a:rPr>
            </a:br>
            <a:endParaRPr sz="1100">
              <a:solidFill>
                <a:schemeClr val="dk1"/>
              </a:solidFill>
            </a:endParaRPr>
          </a:p>
          <a:p>
            <a:pPr indent="0" lvl="0" marL="0" rtl="0" algn="l">
              <a:lnSpc>
                <a:spcPct val="115000"/>
              </a:lnSpc>
              <a:spcBef>
                <a:spcPts val="1200"/>
              </a:spcBef>
              <a:spcAft>
                <a:spcPts val="0"/>
              </a:spcAft>
              <a:buNone/>
            </a:pPr>
            <a:r>
              <a:rPr b="1" lang="en" sz="1300">
                <a:solidFill>
                  <a:schemeClr val="dk1"/>
                </a:solidFill>
              </a:rPr>
              <a:t>What Was Learned Through the Project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Practical application of web development frameworks.</a:t>
            </a:r>
            <a:br>
              <a:rPr lang="en" sz="1100">
                <a:solidFill>
                  <a:schemeClr val="dk1"/>
                </a:solidFill>
              </a:rPr>
            </a:br>
            <a:r>
              <a:rPr lang="en" sz="1100">
                <a:solidFill>
                  <a:schemeClr val="dk1"/>
                </a:solidFill>
              </a:rPr>
              <a:t>Integration of AI and GPS technologies in real-time systems.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Team coordination and project management.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None/>
            </a:pPr>
            <a:r>
              <a:rPr lang="en" sz="1100">
                <a:solidFill>
                  <a:schemeClr val="dk1"/>
                </a:solidFill>
              </a:rPr>
              <a:t>  </a:t>
            </a:r>
            <a:r>
              <a:rPr b="1" lang="en" sz="1300">
                <a:solidFill>
                  <a:schemeClr val="dk1"/>
                </a:solidFill>
              </a:rPr>
              <a:t>Skills Gained</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Web development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AI and automation basics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Real-time data handling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Problem-solving and teamwork</a:t>
            </a:r>
            <a:endParaRPr sz="1100">
              <a:solidFill>
                <a:schemeClr val="dk1"/>
              </a:solidFill>
            </a:endParaRPr>
          </a:p>
          <a:p>
            <a:pPr indent="0" lvl="0" marL="45720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p:nvPr/>
        </p:nvSpPr>
        <p:spPr>
          <a:xfrm>
            <a:off x="-100" y="0"/>
            <a:ext cx="9144000" cy="5469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chemeClr val="dk1"/>
              </a:buClr>
              <a:buSzPts val="1100"/>
              <a:buFont typeface="Arial"/>
              <a:buNone/>
            </a:pPr>
            <a:r>
              <a:rPr b="1" i="0" lang="en" sz="3000" u="none" cap="none" strike="noStrike">
                <a:solidFill>
                  <a:srgbClr val="980000"/>
                </a:solidFill>
                <a:latin typeface="Cambria"/>
                <a:ea typeface="Cambria"/>
                <a:cs typeface="Cambria"/>
                <a:sym typeface="Cambria"/>
              </a:rPr>
              <a:t>Future Scope</a:t>
            </a:r>
            <a:endParaRPr b="1" i="0" sz="1100" u="none" cap="none" strike="noStrike">
              <a:solidFill>
                <a:schemeClr val="dk1"/>
              </a:solidFill>
              <a:latin typeface="Arial"/>
              <a:ea typeface="Arial"/>
              <a:cs typeface="Arial"/>
              <a:sym typeface="Arial"/>
            </a:endParaRPr>
          </a:p>
        </p:txBody>
      </p:sp>
      <p:sp>
        <p:nvSpPr>
          <p:cNvPr id="129" name="Google Shape;129;p9"/>
          <p:cNvSpPr txBox="1"/>
          <p:nvPr/>
        </p:nvSpPr>
        <p:spPr>
          <a:xfrm>
            <a:off x="2016150" y="2674875"/>
            <a:ext cx="54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9"/>
          <p:cNvSpPr txBox="1"/>
          <p:nvPr/>
        </p:nvSpPr>
        <p:spPr>
          <a:xfrm>
            <a:off x="73200" y="798475"/>
            <a:ext cx="8676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31" name="Google Shape;131;p9"/>
          <p:cNvSpPr txBox="1"/>
          <p:nvPr/>
        </p:nvSpPr>
        <p:spPr>
          <a:xfrm>
            <a:off x="578900" y="1091250"/>
            <a:ext cx="8462700" cy="372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Future Scope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project can be expanded with advanced AI models for better waste type detection and predictive analysis of garbage hotspots. Integration with IoT-based smart bins and mobile app support can further improve efficiency. The system can also include multilingual support and city-wide analytics dashboards for municipal planning.</a:t>
            </a:r>
            <a:endParaRPr sz="1100">
              <a:solidFill>
                <a:schemeClr val="dk1"/>
              </a:solidFill>
            </a:endParaRPr>
          </a:p>
          <a:p>
            <a:pPr indent="0" lvl="0" marL="228600" marR="0" rtl="0" algn="l">
              <a:lnSpc>
                <a:spcPct val="115000"/>
              </a:lnSpc>
              <a:spcBef>
                <a:spcPts val="1200"/>
              </a:spcBef>
              <a:spcAft>
                <a:spcPts val="0"/>
              </a:spcAft>
              <a:buClr>
                <a:srgbClr val="000000"/>
              </a:buClr>
              <a:buSzPts val="1100"/>
              <a:buFont typeface="Arial"/>
              <a:buNone/>
            </a:pPr>
            <a:br>
              <a:rPr b="1" i="0" lang="en"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None/>
            </a:pPr>
            <a:r>
              <a:rPr lang="en" sz="1100">
                <a:solidFill>
                  <a:schemeClr val="dk1"/>
                </a:solidFill>
              </a:rPr>
              <a:t>    </a:t>
            </a:r>
            <a:r>
              <a:rPr b="1" lang="en" sz="1300">
                <a:solidFill>
                  <a:schemeClr val="dk1"/>
                </a:solidFill>
              </a:rPr>
              <a:t>Suggestions for Next Steps or Future Work</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Develop a dedicated mobile app version for broader accessibility.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Integrate IoT sensors for automatic garbage level monitoring.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Implement AI-based route optimization for garbage collection vehicles.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Add community leaderboards and reward partnerships for greater user engagement.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Collaborate with municipal authorities for real-time operational deployment.</a:t>
            </a:r>
            <a:endParaRPr sz="1100">
              <a:solidFill>
                <a:schemeClr val="dk1"/>
              </a:solidFill>
            </a:endParaRPr>
          </a:p>
          <a:p>
            <a:pPr indent="0" lvl="0" marL="0" rtl="0" algn="l">
              <a:lnSpc>
                <a:spcPct val="115000"/>
              </a:lnSpc>
              <a:spcBef>
                <a:spcPts val="1200"/>
              </a:spcBef>
              <a:spcAft>
                <a:spcPts val="0"/>
              </a:spcAft>
              <a:buNone/>
            </a:pPr>
            <a:br>
              <a:rPr b="0" i="0" lang="en"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