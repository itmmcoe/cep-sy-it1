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98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98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98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98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46735"/>
          </a:xfrm>
          <a:custGeom>
            <a:avLst/>
            <a:gdLst/>
            <a:ahLst/>
            <a:cxnLst/>
            <a:rect l="l" t="t" r="r" b="b"/>
            <a:pathLst>
              <a:path w="9144000" h="546735">
                <a:moveTo>
                  <a:pt x="9143639" y="546479"/>
                </a:moveTo>
                <a:lnTo>
                  <a:pt x="0" y="546479"/>
                </a:lnTo>
                <a:lnTo>
                  <a:pt x="0" y="0"/>
                </a:lnTo>
                <a:lnTo>
                  <a:pt x="9143639" y="0"/>
                </a:lnTo>
                <a:lnTo>
                  <a:pt x="9143639" y="54647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546735"/>
          </a:xfrm>
          <a:custGeom>
            <a:avLst/>
            <a:gdLst/>
            <a:ahLst/>
            <a:cxnLst/>
            <a:rect l="l" t="t" r="r" b="b"/>
            <a:pathLst>
              <a:path w="9144000" h="546735">
                <a:moveTo>
                  <a:pt x="0" y="0"/>
                </a:moveTo>
                <a:lnTo>
                  <a:pt x="9143639" y="0"/>
                </a:lnTo>
                <a:lnTo>
                  <a:pt x="9143639" y="546479"/>
                </a:lnTo>
                <a:lnTo>
                  <a:pt x="0" y="54647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4884" y="-34014"/>
            <a:ext cx="4969773" cy="591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98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2625" y="865404"/>
            <a:ext cx="6854190" cy="225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mcoe@mmcoe.edu.in" TargetMode="External"/><Relationship Id="rId2" Type="http://schemas.openxmlformats.org/officeDocument/2006/relationships/hyperlink" Target="http://www.mmcoe.edu.in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378" y="296879"/>
            <a:ext cx="63195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6108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Marathwada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Mitra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Mandal's</a:t>
            </a:r>
            <a:endParaRPr sz="1200">
              <a:latin typeface="Times New Roman"/>
              <a:cs typeface="Times New Roman"/>
            </a:endParaRPr>
          </a:p>
          <a:p>
            <a:pPr marR="1061720" algn="ctr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COLLEGE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ENGINEERING,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Karve</a:t>
            </a:r>
            <a:r>
              <a:rPr sz="1200" b="1" spc="-20" dirty="0">
                <a:latin typeface="Times New Roman"/>
                <a:cs typeface="Times New Roman"/>
              </a:rPr>
              <a:t> Nagar, </a:t>
            </a:r>
            <a:r>
              <a:rPr sz="1200" b="1" dirty="0">
                <a:latin typeface="Times New Roman"/>
                <a:cs typeface="Times New Roman"/>
              </a:rPr>
              <a:t>Pune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-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52</a:t>
            </a:r>
            <a:endParaRPr sz="1200">
              <a:latin typeface="Times New Roman"/>
              <a:cs typeface="Times New Roman"/>
            </a:endParaRPr>
          </a:p>
          <a:p>
            <a:pPr marR="1060450" algn="ctr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Autonomous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Institute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Affiliated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SPPU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277995" algn="l"/>
              </a:tabLst>
            </a:pPr>
            <a:r>
              <a:rPr sz="1200" spc="-20" dirty="0">
                <a:latin typeface="Times New Roman"/>
                <a:cs typeface="Times New Roman"/>
              </a:rPr>
              <a:t>Website</a:t>
            </a:r>
            <a:r>
              <a:rPr sz="1200" spc="-20" dirty="0">
                <a:solidFill>
                  <a:srgbClr val="941A1B"/>
                </a:solidFill>
                <a:latin typeface="Times New Roman"/>
                <a:cs typeface="Times New Roman"/>
              </a:rPr>
              <a:t>:</a:t>
            </a:r>
            <a:r>
              <a:rPr sz="1200" spc="-10" dirty="0">
                <a:solidFill>
                  <a:srgbClr val="941A1B"/>
                </a:solidFill>
                <a:latin typeface="Times New Roman"/>
                <a:cs typeface="Times New Roman"/>
              </a:rPr>
              <a:t> </a:t>
            </a:r>
            <a:r>
              <a:rPr sz="1200" u="heavy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  <a:hlinkClick r:id="rId2"/>
              </a:rPr>
              <a:t>www.mmcoe.edu.in</a:t>
            </a:r>
            <a:r>
              <a:rPr sz="12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email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u="heavy" spc="-10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Times New Roman"/>
                <a:cs typeface="Times New Roman"/>
                <a:hlinkClick r:id="rId3"/>
              </a:rPr>
              <a:t>mmcoe@mmcoe.edu.in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3334" y="1443001"/>
            <a:ext cx="6412865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980000"/>
                </a:solidFill>
                <a:latin typeface="Cambria"/>
                <a:cs typeface="Cambria"/>
              </a:rPr>
              <a:t>Department</a:t>
            </a:r>
            <a:r>
              <a:rPr sz="2800" b="1" spc="-70" dirty="0">
                <a:solidFill>
                  <a:srgbClr val="98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980000"/>
                </a:solidFill>
                <a:latin typeface="Cambria"/>
                <a:cs typeface="Cambria"/>
              </a:rPr>
              <a:t>of</a:t>
            </a:r>
            <a:r>
              <a:rPr sz="2800" b="1" spc="-65" dirty="0">
                <a:solidFill>
                  <a:srgbClr val="980000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980000"/>
                </a:solidFill>
                <a:latin typeface="Cambria"/>
                <a:cs typeface="Cambria"/>
              </a:rPr>
              <a:t>Information</a:t>
            </a:r>
            <a:r>
              <a:rPr sz="2800" b="1" spc="-65" dirty="0">
                <a:solidFill>
                  <a:srgbClr val="980000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980000"/>
                </a:solidFill>
                <a:latin typeface="Cambria"/>
                <a:cs typeface="Cambria"/>
              </a:rPr>
              <a:t>Technology</a:t>
            </a:r>
            <a:endParaRPr sz="2800">
              <a:latin typeface="Cambria"/>
              <a:cs typeface="Cambria"/>
            </a:endParaRPr>
          </a:p>
          <a:p>
            <a:pPr marL="635" algn="ctr">
              <a:lnSpc>
                <a:spcPts val="2260"/>
              </a:lnSpc>
              <a:spcBef>
                <a:spcPts val="2755"/>
              </a:spcBef>
            </a:pPr>
            <a:r>
              <a:rPr sz="1900" b="1" dirty="0">
                <a:latin typeface="Cambria"/>
                <a:cs typeface="Cambria"/>
              </a:rPr>
              <a:t>Project</a:t>
            </a:r>
            <a:r>
              <a:rPr sz="1900" b="1" spc="-50" dirty="0">
                <a:latin typeface="Cambria"/>
                <a:cs typeface="Cambria"/>
              </a:rPr>
              <a:t> </a:t>
            </a:r>
            <a:r>
              <a:rPr sz="1900" b="1" dirty="0">
                <a:latin typeface="Cambria"/>
                <a:cs typeface="Cambria"/>
              </a:rPr>
              <a:t>Based</a:t>
            </a:r>
            <a:r>
              <a:rPr sz="1900" b="1" spc="-50" dirty="0">
                <a:latin typeface="Cambria"/>
                <a:cs typeface="Cambria"/>
              </a:rPr>
              <a:t> </a:t>
            </a:r>
            <a:r>
              <a:rPr sz="1900" b="1" dirty="0">
                <a:latin typeface="Cambria"/>
                <a:cs typeface="Cambria"/>
              </a:rPr>
              <a:t>Learning</a:t>
            </a:r>
            <a:r>
              <a:rPr sz="1900" b="1" spc="-50" dirty="0">
                <a:latin typeface="Cambria"/>
                <a:cs typeface="Cambria"/>
              </a:rPr>
              <a:t> </a:t>
            </a:r>
            <a:r>
              <a:rPr sz="1900" b="1" dirty="0">
                <a:latin typeface="Cambria"/>
                <a:cs typeface="Cambria"/>
              </a:rPr>
              <a:t>-</a:t>
            </a:r>
            <a:r>
              <a:rPr sz="1900" b="1" spc="-50" dirty="0">
                <a:latin typeface="Cambria"/>
                <a:cs typeface="Cambria"/>
              </a:rPr>
              <a:t> </a:t>
            </a:r>
            <a:r>
              <a:rPr sz="1900" b="1" spc="-20" dirty="0">
                <a:latin typeface="Cambria"/>
                <a:cs typeface="Cambria"/>
              </a:rPr>
              <a:t>Review</a:t>
            </a:r>
            <a:r>
              <a:rPr sz="1900" b="1" spc="-50" dirty="0">
                <a:latin typeface="Cambria"/>
                <a:cs typeface="Cambria"/>
              </a:rPr>
              <a:t> </a:t>
            </a:r>
            <a:r>
              <a:rPr sz="1900" b="1" dirty="0">
                <a:latin typeface="Cambria"/>
                <a:cs typeface="Cambria"/>
              </a:rPr>
              <a:t>1</a:t>
            </a:r>
            <a:r>
              <a:rPr sz="1900" b="1" spc="-50" dirty="0">
                <a:latin typeface="Cambria"/>
                <a:cs typeface="Cambria"/>
              </a:rPr>
              <a:t> </a:t>
            </a:r>
            <a:r>
              <a:rPr sz="1900" b="1" spc="-35" dirty="0">
                <a:latin typeface="Cambria"/>
                <a:cs typeface="Cambria"/>
              </a:rPr>
              <a:t>(AY</a:t>
            </a:r>
            <a:r>
              <a:rPr sz="1900" b="1" spc="-45" dirty="0">
                <a:latin typeface="Cambria"/>
                <a:cs typeface="Cambria"/>
              </a:rPr>
              <a:t> </a:t>
            </a:r>
            <a:r>
              <a:rPr sz="1900" b="1" spc="-10" dirty="0">
                <a:latin typeface="Cambria"/>
                <a:cs typeface="Cambria"/>
              </a:rPr>
              <a:t>2025-</a:t>
            </a:r>
            <a:r>
              <a:rPr sz="1900" b="1" spc="-25" dirty="0">
                <a:latin typeface="Cambria"/>
                <a:cs typeface="Cambria"/>
              </a:rPr>
              <a:t>26)</a:t>
            </a:r>
            <a:endParaRPr sz="1900">
              <a:latin typeface="Cambria"/>
              <a:cs typeface="Cambria"/>
            </a:endParaRPr>
          </a:p>
          <a:p>
            <a:pPr marL="1179830" marR="1172210" algn="ctr">
              <a:lnSpc>
                <a:spcPts val="3600"/>
              </a:lnSpc>
              <a:spcBef>
                <a:spcPts val="80"/>
              </a:spcBef>
            </a:pPr>
            <a:r>
              <a:rPr sz="3000" b="1" spc="-10" dirty="0">
                <a:latin typeface="Cambria"/>
                <a:cs typeface="Cambria"/>
              </a:rPr>
              <a:t>“</a:t>
            </a:r>
            <a:r>
              <a:rPr sz="3000" b="1" spc="-10" dirty="0">
                <a:solidFill>
                  <a:srgbClr val="0000FF"/>
                </a:solidFill>
                <a:latin typeface="Cambria"/>
                <a:cs typeface="Cambria"/>
              </a:rPr>
              <a:t>SwachhaMitra-</a:t>
            </a:r>
            <a:r>
              <a:rPr sz="3000" b="1" spc="-9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Cambria"/>
                <a:cs typeface="Cambria"/>
              </a:rPr>
              <a:t>Report Trash,</a:t>
            </a:r>
            <a:r>
              <a:rPr sz="3000" b="1" spc="-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mbria"/>
                <a:cs typeface="Cambria"/>
              </a:rPr>
              <a:t>Earn</a:t>
            </a:r>
            <a:r>
              <a:rPr sz="3000" b="1" spc="-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3000" b="1" spc="-10" dirty="0">
                <a:solidFill>
                  <a:srgbClr val="0000FF"/>
                </a:solidFill>
                <a:latin typeface="Cambria"/>
                <a:cs typeface="Cambria"/>
              </a:rPr>
              <a:t>Rewards</a:t>
            </a:r>
            <a:r>
              <a:rPr sz="3000" b="1" spc="-10" dirty="0">
                <a:latin typeface="Cambria"/>
                <a:cs typeface="Cambria"/>
              </a:rPr>
              <a:t>”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793" y="3569793"/>
            <a:ext cx="339725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mbria"/>
                <a:cs typeface="Cambria"/>
              </a:rPr>
              <a:t>Presented</a:t>
            </a:r>
            <a:r>
              <a:rPr sz="1400" b="1" spc="-3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By: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SI160</a:t>
            </a:r>
            <a:r>
              <a:rPr sz="14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–</a:t>
            </a:r>
            <a:r>
              <a:rPr sz="14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"/>
                <a:cs typeface="Cambria"/>
              </a:rPr>
              <a:t>Rushikesh.D.Gadekar</a:t>
            </a:r>
            <a:endParaRPr sz="1400">
              <a:latin typeface="Cambria"/>
              <a:cs typeface="Cambria"/>
            </a:endParaRPr>
          </a:p>
          <a:p>
            <a:pPr marL="1174750" marR="232410" indent="2540" algn="just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SI146</a:t>
            </a:r>
            <a:r>
              <a:rPr sz="14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–</a:t>
            </a:r>
            <a:r>
              <a:rPr sz="14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"/>
                <a:cs typeface="Cambria"/>
              </a:rPr>
              <a:t>Sharvari.S.Aralkar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SI134</a:t>
            </a:r>
            <a:r>
              <a:rPr sz="14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–</a:t>
            </a:r>
            <a:r>
              <a:rPr sz="14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"/>
                <a:cs typeface="Cambria"/>
              </a:rPr>
              <a:t>Nikita.N.Kumbhar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SI164</a:t>
            </a:r>
            <a:r>
              <a:rPr sz="14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"/>
                <a:cs typeface="Cambria"/>
              </a:rPr>
              <a:t>–</a:t>
            </a:r>
            <a:r>
              <a:rPr sz="14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"/>
                <a:cs typeface="Cambria"/>
              </a:rPr>
              <a:t>Aditya.B.Patil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360" y="224640"/>
            <a:ext cx="834479" cy="824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16275" y="4664047"/>
            <a:ext cx="1479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00FF"/>
                </a:solidFill>
                <a:latin typeface="Cambria"/>
                <a:cs typeface="Cambria"/>
              </a:rPr>
              <a:t>Date:04/09/2025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0715" y="3549632"/>
            <a:ext cx="12553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Name</a:t>
            </a:r>
            <a:r>
              <a:rPr sz="1400" b="1" spc="-2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of</a:t>
            </a:r>
            <a:r>
              <a:rPr sz="1400" b="1" spc="-20" dirty="0">
                <a:latin typeface="Cambria"/>
                <a:cs typeface="Cambria"/>
              </a:rPr>
              <a:t> </a:t>
            </a:r>
            <a:r>
              <a:rPr sz="1400" b="1" spc="-10" dirty="0">
                <a:latin typeface="Cambria"/>
                <a:cs typeface="Cambria"/>
              </a:rPr>
              <a:t>Guide</a:t>
            </a:r>
            <a:r>
              <a:rPr sz="1400" spc="-10" dirty="0">
                <a:latin typeface="Cambria"/>
                <a:cs typeface="Cambria"/>
              </a:rPr>
              <a:t>: Mrs.P.S.Joshi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75" rIns="0" bIns="0" rtlCol="0">
            <a:spAutoFit/>
          </a:bodyPr>
          <a:lstStyle/>
          <a:p>
            <a:pPr marL="11182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CEP</a:t>
            </a:r>
            <a:r>
              <a:rPr spc="-1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Project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Title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0687" y="614887"/>
            <a:ext cx="8533765" cy="4431665"/>
            <a:chOff x="400687" y="614887"/>
            <a:chExt cx="8533765" cy="4431665"/>
          </a:xfrm>
        </p:grpSpPr>
        <p:sp>
          <p:nvSpPr>
            <p:cNvPr id="4" name="object 4"/>
            <p:cNvSpPr/>
            <p:nvPr/>
          </p:nvSpPr>
          <p:spPr>
            <a:xfrm>
              <a:off x="406800" y="620999"/>
              <a:ext cx="8521700" cy="541020"/>
            </a:xfrm>
            <a:custGeom>
              <a:avLst/>
              <a:gdLst/>
              <a:ahLst/>
              <a:cxnLst/>
              <a:rect l="l" t="t" r="r" b="b"/>
              <a:pathLst>
                <a:path w="8521700" h="541019">
                  <a:moveTo>
                    <a:pt x="8521199" y="540724"/>
                  </a:moveTo>
                  <a:lnTo>
                    <a:pt x="0" y="540724"/>
                  </a:lnTo>
                  <a:lnTo>
                    <a:pt x="0" y="0"/>
                  </a:lnTo>
                  <a:lnTo>
                    <a:pt x="8521199" y="0"/>
                  </a:lnTo>
                  <a:lnTo>
                    <a:pt x="8521199" y="540724"/>
                  </a:lnTo>
                  <a:close/>
                </a:path>
              </a:pathLst>
            </a:custGeom>
            <a:solidFill>
              <a:srgbClr val="FFB340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800" y="1161724"/>
              <a:ext cx="8521700" cy="3878579"/>
            </a:xfrm>
            <a:custGeom>
              <a:avLst/>
              <a:gdLst/>
              <a:ahLst/>
              <a:cxnLst/>
              <a:rect l="l" t="t" r="r" b="b"/>
              <a:pathLst>
                <a:path w="8521700" h="3878579">
                  <a:moveTo>
                    <a:pt x="8521199" y="3878274"/>
                  </a:moveTo>
                  <a:lnTo>
                    <a:pt x="0" y="3878274"/>
                  </a:lnTo>
                  <a:lnTo>
                    <a:pt x="0" y="0"/>
                  </a:lnTo>
                  <a:lnTo>
                    <a:pt x="8521199" y="0"/>
                  </a:lnTo>
                  <a:lnTo>
                    <a:pt x="8521199" y="3878274"/>
                  </a:lnTo>
                  <a:close/>
                </a:path>
              </a:pathLst>
            </a:custGeom>
            <a:solidFill>
              <a:srgbClr val="CDD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800" y="614899"/>
              <a:ext cx="8521700" cy="4431665"/>
            </a:xfrm>
            <a:custGeom>
              <a:avLst/>
              <a:gdLst/>
              <a:ahLst/>
              <a:cxnLst/>
              <a:rect l="l" t="t" r="r" b="b"/>
              <a:pathLst>
                <a:path w="8521700" h="4431665">
                  <a:moveTo>
                    <a:pt x="0" y="0"/>
                  </a:moveTo>
                  <a:lnTo>
                    <a:pt x="0" y="4431199"/>
                  </a:lnTo>
                </a:path>
                <a:path w="8521700" h="4431665">
                  <a:moveTo>
                    <a:pt x="8521199" y="0"/>
                  </a:moveTo>
                  <a:lnTo>
                    <a:pt x="8521199" y="4431199"/>
                  </a:lnTo>
                </a:path>
              </a:pathLst>
            </a:custGeom>
            <a:ln w="122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0697" y="614895"/>
              <a:ext cx="8533765" cy="4431665"/>
            </a:xfrm>
            <a:custGeom>
              <a:avLst/>
              <a:gdLst/>
              <a:ahLst/>
              <a:cxnLst/>
              <a:rect l="l" t="t" r="r" b="b"/>
              <a:pathLst>
                <a:path w="8533765" h="4431665">
                  <a:moveTo>
                    <a:pt x="8533397" y="4419003"/>
                  </a:moveTo>
                  <a:lnTo>
                    <a:pt x="0" y="4419003"/>
                  </a:lnTo>
                  <a:lnTo>
                    <a:pt x="0" y="4431220"/>
                  </a:lnTo>
                  <a:lnTo>
                    <a:pt x="8533397" y="4431220"/>
                  </a:lnTo>
                  <a:lnTo>
                    <a:pt x="8533397" y="4419003"/>
                  </a:lnTo>
                  <a:close/>
                </a:path>
                <a:path w="8533765" h="4431665">
                  <a:moveTo>
                    <a:pt x="8533397" y="540727"/>
                  </a:moveTo>
                  <a:lnTo>
                    <a:pt x="0" y="540727"/>
                  </a:lnTo>
                  <a:lnTo>
                    <a:pt x="0" y="552945"/>
                  </a:lnTo>
                  <a:lnTo>
                    <a:pt x="8533397" y="552945"/>
                  </a:lnTo>
                  <a:lnTo>
                    <a:pt x="8533397" y="540727"/>
                  </a:lnTo>
                  <a:close/>
                </a:path>
                <a:path w="8533765" h="4431665">
                  <a:moveTo>
                    <a:pt x="8533397" y="0"/>
                  </a:moveTo>
                  <a:lnTo>
                    <a:pt x="0" y="0"/>
                  </a:lnTo>
                  <a:lnTo>
                    <a:pt x="0" y="12217"/>
                  </a:lnTo>
                  <a:lnTo>
                    <a:pt x="8533397" y="12217"/>
                  </a:lnTo>
                  <a:lnTo>
                    <a:pt x="85333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16046" y="639288"/>
            <a:ext cx="502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 MT"/>
                <a:cs typeface="Arial MT"/>
              </a:rPr>
              <a:t>Title</a:t>
            </a:r>
            <a:r>
              <a:rPr sz="1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825" y="1180012"/>
            <a:ext cx="617728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Context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:-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3335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Urban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facing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persistent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waste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management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challenges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due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unreported</a:t>
            </a:r>
            <a:r>
              <a:rPr sz="1400" spc="5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unattended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garbage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piles.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These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uncollected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wastes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degrade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city’s aesthetic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appeal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also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serious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public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health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hazards,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spread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diseases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through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pests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contamination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soil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water.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Existing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reporting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often</a:t>
            </a:r>
            <a:r>
              <a:rPr sz="1400" spc="-20" dirty="0">
                <a:latin typeface="Times New Roman"/>
                <a:cs typeface="Times New Roman"/>
              </a:rPr>
              <a:t> slow,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inconvenient,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poorly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integrated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municipal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response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teams, </a:t>
            </a:r>
            <a:r>
              <a:rPr sz="1400" dirty="0">
                <a:latin typeface="Times New Roman"/>
                <a:cs typeface="Times New Roman"/>
              </a:rPr>
              <a:t>leading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significant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delays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Area/Community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focus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:-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project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focuses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urban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semi-</a:t>
            </a:r>
            <a:r>
              <a:rPr sz="1400" dirty="0">
                <a:latin typeface="Times New Roman"/>
                <a:cs typeface="Times New Roman"/>
              </a:rPr>
              <a:t>urban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localities.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dirty="0"/>
              <a:t>Recap</a:t>
            </a:r>
            <a:r>
              <a:rPr spc="-8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Selected</a:t>
            </a:r>
            <a:r>
              <a:rPr spc="-8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4650" y="1003437"/>
            <a:ext cx="8613140" cy="292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75285">
              <a:lnSpc>
                <a:spcPct val="100000"/>
              </a:lnSpc>
              <a:spcBef>
                <a:spcPts val="100"/>
              </a:spcBef>
              <a:buFont typeface="MS PGothic"/>
              <a:buChar char="❖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Problem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Statement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:-</a:t>
            </a:r>
            <a:endParaRPr sz="1100">
              <a:latin typeface="Arial"/>
              <a:cs typeface="Arial"/>
            </a:endParaRPr>
          </a:p>
          <a:p>
            <a:pPr marL="12700" marR="5080" indent="118745">
              <a:lnSpc>
                <a:spcPct val="114999"/>
              </a:lnSpc>
              <a:spcBef>
                <a:spcPts val="1155"/>
              </a:spcBef>
            </a:pPr>
            <a:r>
              <a:rPr sz="1300" dirty="0">
                <a:latin typeface="Times New Roman"/>
                <a:cs typeface="Times New Roman"/>
              </a:rPr>
              <a:t>Uncollected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garbage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urban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semi-</a:t>
            </a:r>
            <a:r>
              <a:rPr sz="1300" dirty="0">
                <a:latin typeface="Times New Roman"/>
                <a:cs typeface="Times New Roman"/>
              </a:rPr>
              <a:t>urban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areas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creates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unhygienic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conditions,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spreads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diseases,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affects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environment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quality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10" dirty="0">
                <a:latin typeface="Times New Roman"/>
                <a:cs typeface="Times New Roman"/>
              </a:rPr>
              <a:t> life.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At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present,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citizens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lack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quick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0" dirty="0">
                <a:latin typeface="Times New Roman"/>
                <a:cs typeface="Times New Roman"/>
              </a:rPr>
              <a:t> user-</a:t>
            </a:r>
            <a:r>
              <a:rPr sz="1300" dirty="0">
                <a:latin typeface="Times New Roman"/>
                <a:cs typeface="Times New Roman"/>
              </a:rPr>
              <a:t>friendly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platform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report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such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issues,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municipal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authorities </a:t>
            </a:r>
            <a:r>
              <a:rPr sz="1300" dirty="0">
                <a:latin typeface="Times New Roman"/>
                <a:cs typeface="Times New Roman"/>
              </a:rPr>
              <a:t>struggle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delayed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information,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poor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coordination,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lack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real-</a:t>
            </a:r>
            <a:r>
              <a:rPr sz="1300" dirty="0">
                <a:latin typeface="Times New Roman"/>
                <a:cs typeface="Times New Roman"/>
              </a:rPr>
              <a:t>time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updates.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This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communication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gap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results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in </a:t>
            </a:r>
            <a:r>
              <a:rPr sz="1300" spc="-10" dirty="0">
                <a:latin typeface="Times New Roman"/>
                <a:cs typeface="Times New Roman"/>
              </a:rPr>
              <a:t>inefficiency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dissatisfaction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among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citizens.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60"/>
              </a:spcBef>
            </a:pPr>
            <a:endParaRPr sz="1300">
              <a:latin typeface="Times New Roman"/>
              <a:cs typeface="Times New Roman"/>
            </a:endParaRPr>
          </a:p>
          <a:p>
            <a:pPr marL="469265" indent="-375285">
              <a:lnSpc>
                <a:spcPct val="100000"/>
              </a:lnSpc>
              <a:spcBef>
                <a:spcPts val="5"/>
              </a:spcBef>
              <a:buFont typeface="MS PGothic"/>
              <a:buChar char="❖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Objectives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:-</a:t>
            </a:r>
            <a:endParaRPr sz="1100">
              <a:latin typeface="Arial"/>
              <a:cs typeface="Arial"/>
            </a:endParaRPr>
          </a:p>
          <a:p>
            <a:pPr marL="469265" indent="-389890">
              <a:lnSpc>
                <a:spcPct val="100000"/>
              </a:lnSpc>
              <a:spcBef>
                <a:spcPts val="190"/>
              </a:spcBef>
              <a:buFont typeface="SimSun-ExtB"/>
              <a:buChar char="❖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Provide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mobile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app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quick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garbage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reporting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with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photos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GPS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location.</a:t>
            </a:r>
            <a:endParaRPr sz="1300">
              <a:latin typeface="Times New Roman"/>
              <a:cs typeface="Times New Roman"/>
            </a:endParaRPr>
          </a:p>
          <a:p>
            <a:pPr marL="469265" indent="-370840">
              <a:lnSpc>
                <a:spcPct val="100000"/>
              </a:lnSpc>
              <a:spcBef>
                <a:spcPts val="229"/>
              </a:spcBef>
              <a:buSzPct val="84615"/>
              <a:buFont typeface="SimSun-ExtB"/>
              <a:buChar char="❖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Enable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real-</a:t>
            </a:r>
            <a:r>
              <a:rPr sz="1300" dirty="0">
                <a:latin typeface="Times New Roman"/>
                <a:cs typeface="Times New Roman"/>
              </a:rPr>
              <a:t>time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communication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between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citizens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municipal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authorities.</a:t>
            </a:r>
            <a:endParaRPr sz="1300">
              <a:latin typeface="Times New Roman"/>
              <a:cs typeface="Times New Roman"/>
            </a:endParaRPr>
          </a:p>
          <a:p>
            <a:pPr marL="469265" indent="-370840">
              <a:lnSpc>
                <a:spcPct val="100000"/>
              </a:lnSpc>
              <a:spcBef>
                <a:spcPts val="235"/>
              </a:spcBef>
              <a:buSzPct val="84615"/>
              <a:buFont typeface="SimSun-ExtB"/>
              <a:buChar char="❖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Allow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transparent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tracking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of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report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status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until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resolution.</a:t>
            </a:r>
            <a:endParaRPr sz="1300">
              <a:latin typeface="Times New Roman"/>
              <a:cs typeface="Times New Roman"/>
            </a:endParaRPr>
          </a:p>
          <a:p>
            <a:pPr marL="469265" indent="-370840">
              <a:lnSpc>
                <a:spcPct val="100000"/>
              </a:lnSpc>
              <a:spcBef>
                <a:spcPts val="235"/>
              </a:spcBef>
              <a:buSzPct val="84615"/>
              <a:buFont typeface="SimSun-ExtB"/>
              <a:buChar char="❖"/>
              <a:tabLst>
                <a:tab pos="469265" algn="l"/>
              </a:tabLst>
            </a:pPr>
            <a:r>
              <a:rPr sz="1300" spc="-10" dirty="0">
                <a:latin typeface="Times New Roman"/>
                <a:cs typeface="Times New Roman"/>
              </a:rPr>
              <a:t>Introduce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reward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encourage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citizen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participation.</a:t>
            </a:r>
            <a:endParaRPr sz="1300">
              <a:latin typeface="Times New Roman"/>
              <a:cs typeface="Times New Roman"/>
            </a:endParaRPr>
          </a:p>
          <a:p>
            <a:pPr marL="469265" indent="-370840">
              <a:lnSpc>
                <a:spcPct val="100000"/>
              </a:lnSpc>
              <a:spcBef>
                <a:spcPts val="235"/>
              </a:spcBef>
              <a:buSzPct val="84615"/>
              <a:buFont typeface="SimSun-ExtB"/>
              <a:buChar char="❖"/>
              <a:tabLst>
                <a:tab pos="469265" algn="l"/>
              </a:tabLst>
            </a:pPr>
            <a:r>
              <a:rPr sz="1300" dirty="0">
                <a:latin typeface="Times New Roman"/>
                <a:cs typeface="Times New Roman"/>
              </a:rPr>
              <a:t>Improve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efficiency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accountability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municipal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waste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management.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124315" cy="556260"/>
            <a:chOff x="-4762" y="-4762"/>
            <a:chExt cx="9124315" cy="5562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14790" cy="546735"/>
            </a:xfrm>
            <a:custGeom>
              <a:avLst/>
              <a:gdLst/>
              <a:ahLst/>
              <a:cxnLst/>
              <a:rect l="l" t="t" r="r" b="b"/>
              <a:pathLst>
                <a:path w="9114790" h="546735">
                  <a:moveTo>
                    <a:pt x="9114674" y="0"/>
                  </a:moveTo>
                  <a:lnTo>
                    <a:pt x="9114674" y="546599"/>
                  </a:lnTo>
                  <a:lnTo>
                    <a:pt x="0" y="546599"/>
                  </a:lnTo>
                  <a:lnTo>
                    <a:pt x="0" y="0"/>
                  </a:lnTo>
                  <a:lnTo>
                    <a:pt x="9114674" y="0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14790" cy="546735"/>
            </a:xfrm>
            <a:custGeom>
              <a:avLst/>
              <a:gdLst/>
              <a:ahLst/>
              <a:cxnLst/>
              <a:rect l="l" t="t" r="r" b="b"/>
              <a:pathLst>
                <a:path w="9114790" h="546735">
                  <a:moveTo>
                    <a:pt x="0" y="0"/>
                  </a:moveTo>
                  <a:lnTo>
                    <a:pt x="9114674" y="0"/>
                  </a:lnTo>
                  <a:lnTo>
                    <a:pt x="9114674" y="546599"/>
                  </a:lnTo>
                  <a:lnTo>
                    <a:pt x="0" y="5465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75" rIns="0" bIns="0" rtlCol="0">
            <a:spAutoFit/>
          </a:bodyPr>
          <a:lstStyle/>
          <a:p>
            <a:pPr marL="6127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Community/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Field</a:t>
            </a:r>
            <a:r>
              <a:rPr spc="-1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Visit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2299" y="837962"/>
            <a:ext cx="6808470" cy="18605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15"/>
              </a:spcBef>
              <a:buFont typeface="SimSun-ExtB"/>
              <a:buChar char="❖"/>
              <a:tabLst>
                <a:tab pos="393065" algn="l"/>
              </a:tabLst>
            </a:pP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visited</a:t>
            </a:r>
            <a:endParaRPr sz="12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latin typeface="Times New Roman"/>
                <a:cs typeface="Times New Roman"/>
              </a:rPr>
              <a:t>Pune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Municipal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Corporation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(PMC)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urban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zones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stakeholder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consultation.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Times New Roman"/>
              <a:cs typeface="Times New Roman"/>
            </a:endParaRPr>
          </a:p>
          <a:p>
            <a:pPr marL="393065" indent="-380365">
              <a:lnSpc>
                <a:spcPct val="100000"/>
              </a:lnSpc>
              <a:spcBef>
                <a:spcPts val="5"/>
              </a:spcBef>
              <a:buFont typeface="SimSun-ExtB"/>
              <a:buChar char="❖"/>
              <a:tabLst>
                <a:tab pos="393065" algn="l"/>
              </a:tabLst>
            </a:pP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consulted</a:t>
            </a:r>
            <a:endParaRPr sz="1200">
              <a:latin typeface="Times New Roman"/>
              <a:cs typeface="Times New Roman"/>
            </a:endParaRPr>
          </a:p>
          <a:p>
            <a:pPr marL="582930" lvl="1" indent="-117475">
              <a:lnSpc>
                <a:spcPct val="100000"/>
              </a:lnSpc>
              <a:spcBef>
                <a:spcPts val="215"/>
              </a:spcBef>
              <a:buSzPct val="91666"/>
              <a:buAutoNum type="arabicPeriod"/>
              <a:tabLst>
                <a:tab pos="582930" algn="l"/>
              </a:tabLst>
            </a:pPr>
            <a:r>
              <a:rPr sz="1200" dirty="0">
                <a:latin typeface="Times New Roman"/>
                <a:cs typeface="Times New Roman"/>
              </a:rPr>
              <a:t>PMC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Sanitation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Officers</a:t>
            </a:r>
            <a:endParaRPr sz="1200">
              <a:latin typeface="Times New Roman"/>
              <a:cs typeface="Times New Roman"/>
            </a:endParaRPr>
          </a:p>
          <a:p>
            <a:pPr marL="621030" lvl="1" indent="-117475">
              <a:lnSpc>
                <a:spcPct val="100000"/>
              </a:lnSpc>
              <a:spcBef>
                <a:spcPts val="215"/>
              </a:spcBef>
              <a:buSzPct val="91666"/>
              <a:buAutoNum type="arabicPeriod"/>
              <a:tabLst>
                <a:tab pos="621030" algn="l"/>
              </a:tabLst>
            </a:pP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Citizens</a:t>
            </a:r>
            <a:endParaRPr sz="1200">
              <a:latin typeface="Times New Roman"/>
              <a:cs typeface="Times New Roman"/>
            </a:endParaRPr>
          </a:p>
          <a:p>
            <a:pPr marL="621030" lvl="1" indent="-117475">
              <a:lnSpc>
                <a:spcPct val="100000"/>
              </a:lnSpc>
              <a:spcBef>
                <a:spcPts val="215"/>
              </a:spcBef>
              <a:buSzPct val="91666"/>
              <a:buAutoNum type="arabicPeriod"/>
              <a:tabLst>
                <a:tab pos="621030" algn="l"/>
              </a:tabLst>
            </a:pPr>
            <a:r>
              <a:rPr sz="1200" spc="-25" dirty="0">
                <a:latin typeface="Times New Roman"/>
                <a:cs typeface="Times New Roman"/>
              </a:rPr>
              <a:t>Waste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Staff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393065" indent="-380365">
              <a:lnSpc>
                <a:spcPct val="100000"/>
              </a:lnSpc>
              <a:buFont typeface="SimSun-ExtB"/>
              <a:buChar char="❖"/>
              <a:tabLst>
                <a:tab pos="393065" algn="l"/>
              </a:tabLst>
            </a:pPr>
            <a:r>
              <a:rPr sz="1200" spc="-10" dirty="0">
                <a:latin typeface="Times New Roman"/>
                <a:cs typeface="Times New Roman"/>
              </a:rPr>
              <a:t>Photos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688805"/>
            <a:ext cx="3291599" cy="2437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698512"/>
            <a:ext cx="2010174" cy="2444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9088120" cy="505459"/>
            <a:chOff x="-4762" y="-4762"/>
            <a:chExt cx="9088120" cy="505459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078595" cy="495934"/>
            </a:xfrm>
            <a:custGeom>
              <a:avLst/>
              <a:gdLst/>
              <a:ahLst/>
              <a:cxnLst/>
              <a:rect l="l" t="t" r="r" b="b"/>
              <a:pathLst>
                <a:path w="9078595" h="495934">
                  <a:moveTo>
                    <a:pt x="9078399" y="0"/>
                  </a:moveTo>
                  <a:lnTo>
                    <a:pt x="9078399" y="495824"/>
                  </a:lnTo>
                  <a:lnTo>
                    <a:pt x="0" y="495824"/>
                  </a:lnTo>
                  <a:lnTo>
                    <a:pt x="0" y="0"/>
                  </a:lnTo>
                  <a:lnTo>
                    <a:pt x="9078399" y="0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078595" cy="495934"/>
            </a:xfrm>
            <a:custGeom>
              <a:avLst/>
              <a:gdLst/>
              <a:ahLst/>
              <a:cxnLst/>
              <a:rect l="l" t="t" r="r" b="b"/>
              <a:pathLst>
                <a:path w="9078595" h="495934">
                  <a:moveTo>
                    <a:pt x="9078399" y="0"/>
                  </a:moveTo>
                  <a:lnTo>
                    <a:pt x="9078399" y="495824"/>
                  </a:lnTo>
                  <a:lnTo>
                    <a:pt x="0" y="4958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Data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Collection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1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Analysis</a:t>
            </a:r>
          </a:p>
        </p:txBody>
      </p:sp>
      <p:sp>
        <p:nvSpPr>
          <p:cNvPr id="6" name="object 6"/>
          <p:cNvSpPr/>
          <p:nvPr/>
        </p:nvSpPr>
        <p:spPr>
          <a:xfrm>
            <a:off x="73074" y="798471"/>
            <a:ext cx="8676640" cy="4084320"/>
          </a:xfrm>
          <a:custGeom>
            <a:avLst/>
            <a:gdLst/>
            <a:ahLst/>
            <a:cxnLst/>
            <a:rect l="l" t="t" r="r" b="b"/>
            <a:pathLst>
              <a:path w="8676640" h="4084320">
                <a:moveTo>
                  <a:pt x="0" y="0"/>
                </a:moveTo>
                <a:lnTo>
                  <a:pt x="8676599" y="0"/>
                </a:lnTo>
                <a:lnTo>
                  <a:pt x="8676599" y="4083900"/>
                </a:lnTo>
                <a:lnTo>
                  <a:pt x="0" y="408390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100" y="837969"/>
            <a:ext cx="6402705" cy="378967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00" b="1" dirty="0">
                <a:latin typeface="Times New Roman"/>
                <a:cs typeface="Times New Roman"/>
              </a:rPr>
              <a:t>Survey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Results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Interviews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unaware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CARE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Safai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Mitra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garbage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in-</a:t>
            </a:r>
            <a:r>
              <a:rPr sz="1200" dirty="0">
                <a:latin typeface="Times New Roman"/>
                <a:cs typeface="Times New Roman"/>
              </a:rPr>
              <a:t>person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visits;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app.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320675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Preferred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photo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with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GPS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location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only,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description.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dissatisfied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garbage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Key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Patterns: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unaware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garbage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apps.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Reporting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in-person.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GPS/photo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9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spc="-10" dirty="0">
                <a:latin typeface="Times New Roman"/>
                <a:cs typeface="Times New Roman"/>
              </a:rPr>
              <a:t>Municipal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staff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resolving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complaints.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Insights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Drawn: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user-</a:t>
            </a:r>
            <a:r>
              <a:rPr sz="1200" b="1" spc="-10" dirty="0">
                <a:latin typeface="Times New Roman"/>
                <a:cs typeface="Times New Roman"/>
              </a:rPr>
              <a:t>friendly,</a:t>
            </a:r>
            <a:r>
              <a:rPr sz="1200" b="1" spc="-20" dirty="0">
                <a:latin typeface="Times New Roman"/>
                <a:cs typeface="Times New Roman"/>
              </a:rPr>
              <a:t> real-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application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Dashboard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staff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complaint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management.</a:t>
            </a:r>
            <a:endParaRPr sz="12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215"/>
              </a:spcBef>
              <a:buSzPct val="91666"/>
              <a:buFont typeface="Arial MT"/>
              <a:buChar char="●"/>
              <a:tabLst>
                <a:tab pos="469265" algn="l"/>
              </a:tabLst>
            </a:pPr>
            <a:r>
              <a:rPr sz="1200" b="1" dirty="0">
                <a:latin typeface="Times New Roman"/>
                <a:cs typeface="Times New Roman"/>
              </a:rPr>
              <a:t>Rewards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encourage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citizen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participation.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" y="439404"/>
            <a:ext cx="5422900" cy="460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00"/>
              </a:spcBef>
              <a:buSzPct val="95833"/>
              <a:buAutoNum type="arabicPeriod"/>
              <a:tabLst>
                <a:tab pos="165100" algn="l"/>
              </a:tabLst>
            </a:pPr>
            <a:r>
              <a:rPr sz="1200" b="1" dirty="0">
                <a:latin typeface="Times New Roman"/>
                <a:cs typeface="Times New Roman"/>
              </a:rPr>
              <a:t>PMC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Sanitation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Officers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50800" marR="980440" indent="-38100">
              <a:lnSpc>
                <a:spcPct val="114999"/>
              </a:lnSpc>
            </a:pPr>
            <a:r>
              <a:rPr sz="1200" b="1" dirty="0">
                <a:latin typeface="Times New Roman"/>
                <a:cs typeface="Times New Roman"/>
              </a:rPr>
              <a:t>Q1.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What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challenges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face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monitoring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garbage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collection? </a:t>
            </a:r>
            <a:r>
              <a:rPr sz="1200" b="1" dirty="0">
                <a:latin typeface="Times New Roman"/>
                <a:cs typeface="Times New Roman"/>
              </a:rPr>
              <a:t>A1.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Tracking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citizen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complaints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Q2.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How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track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status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reported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complaints?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5"/>
              </a:spcBef>
            </a:pPr>
            <a:r>
              <a:rPr sz="1200" b="1" dirty="0">
                <a:latin typeface="Times New Roman"/>
                <a:cs typeface="Times New Roman"/>
              </a:rPr>
              <a:t>A2.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dashboard.</a:t>
            </a:r>
            <a:endParaRPr sz="1200">
              <a:latin typeface="Times New Roman"/>
              <a:cs typeface="Times New Roman"/>
            </a:endParaRPr>
          </a:p>
          <a:p>
            <a:pPr marL="50800" marR="5080" indent="-38100">
              <a:lnSpc>
                <a:spcPct val="114999"/>
              </a:lnSpc>
              <a:spcBef>
                <a:spcPts val="1200"/>
              </a:spcBef>
            </a:pPr>
            <a:r>
              <a:rPr sz="1200" b="1" dirty="0">
                <a:latin typeface="Times New Roman"/>
                <a:cs typeface="Times New Roman"/>
              </a:rPr>
              <a:t>Q3.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What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improvements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would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suggest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like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CleanSnap? </a:t>
            </a:r>
            <a:r>
              <a:rPr sz="1200" b="1" dirty="0">
                <a:latin typeface="Times New Roman"/>
                <a:cs typeface="Times New Roman"/>
              </a:rPr>
              <a:t>A3.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verification,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Q4.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Would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pilot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ward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help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improve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efficiency?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9"/>
              </a:spcBef>
            </a:pPr>
            <a:r>
              <a:rPr sz="1200" b="1" dirty="0">
                <a:latin typeface="Times New Roman"/>
                <a:cs typeface="Times New Roman"/>
              </a:rPr>
              <a:t>A4.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pilot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practical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workflow.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5730" indent="-122555">
              <a:lnSpc>
                <a:spcPct val="100000"/>
              </a:lnSpc>
              <a:buSzPct val="95833"/>
              <a:buAutoNum type="arabicPeriod" startAt="2"/>
              <a:tabLst>
                <a:tab pos="12573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Citizens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56210" indent="-143510">
              <a:lnSpc>
                <a:spcPct val="100000"/>
              </a:lnSpc>
              <a:buAutoNum type="arabicPeriod"/>
              <a:tabLst>
                <a:tab pos="156210" algn="l"/>
              </a:tabLst>
            </a:pP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aware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uncollected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garbage?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5"/>
              </a:spcBef>
            </a:pPr>
            <a:r>
              <a:rPr sz="1200" b="1" dirty="0">
                <a:latin typeface="Times New Roman"/>
                <a:cs typeface="Times New Roman"/>
              </a:rPr>
              <a:t>A1.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Mitra.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Q2.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How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currently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garbage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issues?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9"/>
              </a:spcBef>
            </a:pPr>
            <a:r>
              <a:rPr sz="1200" b="1" dirty="0">
                <a:latin typeface="Times New Roman"/>
                <a:cs typeface="Times New Roman"/>
              </a:rPr>
              <a:t>A2.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offices;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limited.</a:t>
            </a:r>
            <a:endParaRPr sz="1200">
              <a:latin typeface="Times New Roman"/>
              <a:cs typeface="Times New Roman"/>
            </a:endParaRPr>
          </a:p>
          <a:p>
            <a:pPr marL="50800" marR="1675130" indent="-38100">
              <a:lnSpc>
                <a:spcPct val="114999"/>
              </a:lnSpc>
              <a:spcBef>
                <a:spcPts val="1200"/>
              </a:spcBef>
            </a:pPr>
            <a:r>
              <a:rPr sz="1200" b="1" dirty="0">
                <a:latin typeface="Times New Roman"/>
                <a:cs typeface="Times New Roman"/>
              </a:rPr>
              <a:t>Q3.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Would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you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new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made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reporting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easier? </a:t>
            </a:r>
            <a:r>
              <a:rPr sz="1200" b="1" dirty="0">
                <a:latin typeface="Times New Roman"/>
                <a:cs typeface="Times New Roman"/>
              </a:rPr>
              <a:t>A3.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app.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9088120" cy="505459"/>
            <a:chOff x="-4762" y="-4762"/>
            <a:chExt cx="9088120" cy="505459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078595" cy="495934"/>
            </a:xfrm>
            <a:custGeom>
              <a:avLst/>
              <a:gdLst/>
              <a:ahLst/>
              <a:cxnLst/>
              <a:rect l="l" t="t" r="r" b="b"/>
              <a:pathLst>
                <a:path w="9078595" h="495934">
                  <a:moveTo>
                    <a:pt x="9078399" y="0"/>
                  </a:moveTo>
                  <a:lnTo>
                    <a:pt x="9078399" y="495824"/>
                  </a:lnTo>
                  <a:lnTo>
                    <a:pt x="0" y="495824"/>
                  </a:lnTo>
                  <a:lnTo>
                    <a:pt x="0" y="0"/>
                  </a:lnTo>
                  <a:lnTo>
                    <a:pt x="9078399" y="0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078595" cy="495934"/>
            </a:xfrm>
            <a:custGeom>
              <a:avLst/>
              <a:gdLst/>
              <a:ahLst/>
              <a:cxnLst/>
              <a:rect l="l" t="t" r="r" b="b"/>
              <a:pathLst>
                <a:path w="9078595" h="495934">
                  <a:moveTo>
                    <a:pt x="9078399" y="0"/>
                  </a:moveTo>
                  <a:lnTo>
                    <a:pt x="9078399" y="495824"/>
                  </a:lnTo>
                  <a:lnTo>
                    <a:pt x="0" y="4958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4884" y="-34014"/>
            <a:ext cx="4959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Collection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87" y="53262"/>
            <a:ext cx="9153525" cy="556260"/>
            <a:chOff x="-4587" y="53262"/>
            <a:chExt cx="9153525" cy="556260"/>
          </a:xfrm>
        </p:grpSpPr>
        <p:sp>
          <p:nvSpPr>
            <p:cNvPr id="3" name="object 3"/>
            <p:cNvSpPr/>
            <p:nvPr/>
          </p:nvSpPr>
          <p:spPr>
            <a:xfrm>
              <a:off x="174" y="58025"/>
              <a:ext cx="9144000" cy="546735"/>
            </a:xfrm>
            <a:custGeom>
              <a:avLst/>
              <a:gdLst/>
              <a:ahLst/>
              <a:cxnLst/>
              <a:rect l="l" t="t" r="r" b="b"/>
              <a:pathLst>
                <a:path w="9144000" h="546735">
                  <a:moveTo>
                    <a:pt x="9143699" y="546599"/>
                  </a:moveTo>
                  <a:lnTo>
                    <a:pt x="0" y="546599"/>
                  </a:lnTo>
                  <a:lnTo>
                    <a:pt x="0" y="0"/>
                  </a:lnTo>
                  <a:lnTo>
                    <a:pt x="9143699" y="0"/>
                  </a:lnTo>
                  <a:lnTo>
                    <a:pt x="9143699" y="5465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4" y="58025"/>
              <a:ext cx="9144000" cy="546735"/>
            </a:xfrm>
            <a:custGeom>
              <a:avLst/>
              <a:gdLst/>
              <a:ahLst/>
              <a:cxnLst/>
              <a:rect l="l" t="t" r="r" b="b"/>
              <a:pathLst>
                <a:path w="9144000" h="546735">
                  <a:moveTo>
                    <a:pt x="0" y="0"/>
                  </a:moveTo>
                  <a:lnTo>
                    <a:pt x="9143699" y="0"/>
                  </a:lnTo>
                  <a:lnTo>
                    <a:pt x="9143699" y="546599"/>
                  </a:lnTo>
                  <a:lnTo>
                    <a:pt x="0" y="54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499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Constraints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Challenges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4600" y="703436"/>
            <a:ext cx="3670300" cy="445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latin typeface="Times New Roman"/>
                <a:cs typeface="Times New Roman"/>
              </a:rPr>
              <a:t>Technical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Constraints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PMC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approvals.</a:t>
            </a: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spc="-10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 fail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poor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areas.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Operational</a:t>
            </a:r>
            <a:r>
              <a:rPr sz="1100" b="1" spc="-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Challenges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Staff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workload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complaint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resolution.</a:t>
            </a: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spc="-10" dirty="0">
                <a:latin typeface="Times New Roman"/>
                <a:cs typeface="Times New Roman"/>
              </a:rPr>
              <a:t>Multi-</a:t>
            </a:r>
            <a:r>
              <a:rPr sz="1100" dirty="0">
                <a:latin typeface="Times New Roman"/>
                <a:cs typeface="Times New Roman"/>
              </a:rPr>
              <a:t>department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coordination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slow</a:t>
            </a:r>
            <a:r>
              <a:rPr sz="1100" spc="-10" dirty="0">
                <a:latin typeface="Times New Roman"/>
                <a:cs typeface="Times New Roman"/>
              </a:rPr>
              <a:t> progress.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spc="-25" dirty="0">
                <a:latin typeface="Times New Roman"/>
                <a:cs typeface="Times New Roman"/>
              </a:rPr>
              <a:t>User-</a:t>
            </a:r>
            <a:r>
              <a:rPr sz="1100" b="1" dirty="0">
                <a:latin typeface="Times New Roman"/>
                <a:cs typeface="Times New Roman"/>
              </a:rPr>
              <a:t>Related </a:t>
            </a:r>
            <a:r>
              <a:rPr sz="1100" b="1" spc="-10" dirty="0">
                <a:latin typeface="Times New Roman"/>
                <a:cs typeface="Times New Roman"/>
              </a:rPr>
              <a:t>Challenges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citizen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awareness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apps.</a:t>
            </a: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Elderly/non-tech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face</a:t>
            </a:r>
            <a:r>
              <a:rPr sz="1100" spc="-10" dirty="0">
                <a:latin typeface="Times New Roman"/>
                <a:cs typeface="Times New Roman"/>
              </a:rPr>
              <a:t> difficulty.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Regulatory &amp; Privacy </a:t>
            </a:r>
            <a:r>
              <a:rPr sz="1100" b="1" spc="-10" dirty="0">
                <a:latin typeface="Times New Roman"/>
                <a:cs typeface="Times New Roman"/>
              </a:rPr>
              <a:t>Constraints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Sensitive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strong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privacy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measures.</a:t>
            </a: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Approvals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Commissioner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departments.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Field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Challenges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Mixed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categorization</a:t>
            </a:r>
            <a:r>
              <a:rPr sz="1100" spc="-10" dirty="0">
                <a:latin typeface="Times New Roman"/>
                <a:cs typeface="Times New Roman"/>
              </a:rPr>
              <a:t> difficult.</a:t>
            </a: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195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Irregular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collection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traffic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response.</a:t>
            </a:r>
            <a:endParaRPr sz="1100">
              <a:latin typeface="Times New Roman"/>
              <a:cs typeface="Times New Roman"/>
            </a:endParaRPr>
          </a:p>
          <a:p>
            <a:pPr marL="469265" indent="-312420">
              <a:lnSpc>
                <a:spcPct val="100000"/>
              </a:lnSpc>
              <a:spcBef>
                <a:spcPts val="200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dirty="0">
                <a:latin typeface="Times New Roman"/>
                <a:cs typeface="Times New Roman"/>
              </a:rPr>
              <a:t>GPS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inaccurate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dense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areas.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5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Ideas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for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Possible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Solutions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70" dirty="0"/>
              <a:t> </a:t>
            </a:r>
            <a:r>
              <a:rPr dirty="0"/>
              <a:t>Approach</a:t>
            </a:r>
            <a:r>
              <a:rPr spc="-50" dirty="0"/>
              <a:t> </a:t>
            </a:r>
            <a:r>
              <a:rPr dirty="0"/>
              <a:t>1:</a:t>
            </a:r>
            <a:r>
              <a:rPr spc="-25" dirty="0"/>
              <a:t> </a:t>
            </a:r>
            <a:r>
              <a:rPr dirty="0"/>
              <a:t>Pilot</a:t>
            </a:r>
            <a:r>
              <a:rPr spc="-50" dirty="0"/>
              <a:t> </a:t>
            </a:r>
            <a:r>
              <a:rPr spc="-10" dirty="0"/>
              <a:t>Ward</a:t>
            </a:r>
            <a:r>
              <a:rPr spc="-30" dirty="0"/>
              <a:t> </a:t>
            </a:r>
            <a:r>
              <a:rPr spc="-10" dirty="0"/>
              <a:t>Deployment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pc="-10" dirty="0"/>
          </a:p>
          <a:p>
            <a:pPr marL="469265" indent="-32004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/>
              <a:t>Description:</a:t>
            </a:r>
            <a:r>
              <a:rPr spc="-20" dirty="0"/>
              <a:t> </a:t>
            </a:r>
            <a:r>
              <a:rPr b="0" dirty="0">
                <a:latin typeface="Times New Roman"/>
                <a:cs typeface="Times New Roman"/>
              </a:rPr>
              <a:t>Develop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prototype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version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Clean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Snap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deploy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it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dirty="0"/>
              <a:t>one</a:t>
            </a:r>
            <a:r>
              <a:rPr spc="-20" dirty="0"/>
              <a:t> </a:t>
            </a:r>
            <a:r>
              <a:rPr spc="-10" dirty="0"/>
              <a:t>selected</a:t>
            </a:r>
            <a:r>
              <a:rPr spc="-25" dirty="0"/>
              <a:t> </a:t>
            </a:r>
            <a:r>
              <a:rPr dirty="0"/>
              <a:t>ward</a:t>
            </a:r>
            <a:r>
              <a:rPr spc="-10" dirty="0"/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Pune.</a:t>
            </a:r>
          </a:p>
          <a:p>
            <a:pPr>
              <a:lnSpc>
                <a:spcPct val="100000"/>
              </a:lnSpc>
              <a:spcBef>
                <a:spcPts val="490"/>
              </a:spcBef>
              <a:buFont typeface="Arial MT"/>
              <a:buChar char="●"/>
            </a:pPr>
            <a:endParaRPr b="0" spc="-10" dirty="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/>
              <a:t>Key</a:t>
            </a:r>
            <a:r>
              <a:rPr spc="-25" dirty="0"/>
              <a:t> </a:t>
            </a:r>
            <a:r>
              <a:rPr spc="-10" dirty="0"/>
              <a:t>Steps:</a:t>
            </a:r>
          </a:p>
          <a:p>
            <a:pPr>
              <a:lnSpc>
                <a:spcPct val="100000"/>
              </a:lnSpc>
              <a:spcBef>
                <a:spcPts val="275"/>
              </a:spcBef>
              <a:buFont typeface="Arial MT"/>
              <a:buChar char="●"/>
            </a:pPr>
            <a:endParaRPr spc="-10" dirty="0"/>
          </a:p>
          <a:p>
            <a:pPr marL="927100" marR="759460" lvl="1" indent="-342900">
              <a:lnSpc>
                <a:spcPct val="114999"/>
              </a:lnSpc>
              <a:spcBef>
                <a:spcPts val="5"/>
              </a:spcBef>
              <a:buAutoNum type="arabicPeriod"/>
              <a:tabLst>
                <a:tab pos="9271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Coordinate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PMC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SWM,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officers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approvals.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garbage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GPS,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photo,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description.</a:t>
            </a:r>
            <a:endParaRPr sz="1200">
              <a:latin typeface="Times New Roman"/>
              <a:cs typeface="Times New Roman"/>
            </a:endParaRPr>
          </a:p>
          <a:p>
            <a:pPr marL="926465" lvl="1" indent="-34226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926465" algn="l"/>
              </a:tabLst>
            </a:pP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municipal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staff.</a:t>
            </a:r>
            <a:endParaRPr sz="1200">
              <a:latin typeface="Times New Roman"/>
              <a:cs typeface="Times New Roman"/>
            </a:endParaRPr>
          </a:p>
          <a:p>
            <a:pPr marL="926465" lvl="1" indent="-342265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926465" algn="l"/>
              </a:tabLst>
            </a:pP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residents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staff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regarding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usability,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effectiveness.</a:t>
            </a:r>
            <a:endParaRPr sz="1200">
              <a:latin typeface="Times New Roman"/>
              <a:cs typeface="Times New Roman"/>
            </a:endParaRPr>
          </a:p>
          <a:p>
            <a:pPr marL="469265" indent="-320040">
              <a:lnSpc>
                <a:spcPct val="100000"/>
              </a:lnSpc>
              <a:spcBef>
                <a:spcPts val="21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/>
              <a:t>Goal:</a:t>
            </a:r>
            <a:r>
              <a:rPr spc="-55" dirty="0"/>
              <a:t> </a:t>
            </a:r>
            <a:r>
              <a:rPr b="0" spc="-20" dirty="0">
                <a:latin typeface="Times New Roman"/>
                <a:cs typeface="Times New Roman"/>
              </a:rPr>
              <a:t>Test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app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feasibility,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identify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challenges,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gather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data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improvement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before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city-</a:t>
            </a:r>
            <a:r>
              <a:rPr b="0" dirty="0">
                <a:latin typeface="Times New Roman"/>
                <a:cs typeface="Times New Roman"/>
              </a:rPr>
              <a:t>wide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rollout.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15" rIns="0" bIns="0" rtlCol="0">
            <a:spAutoFit/>
          </a:bodyPr>
          <a:lstStyle/>
          <a:p>
            <a:pPr marL="1875155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874</Words>
  <Application>Microsoft Office PowerPoint</Application>
  <PresentationFormat>On-screen Show (16:9)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MS PGothic</vt:lpstr>
      <vt:lpstr>SimSun-ExtB</vt:lpstr>
      <vt:lpstr>Arial</vt:lpstr>
      <vt:lpstr>Arial MT</vt:lpstr>
      <vt:lpstr>Cambria</vt:lpstr>
      <vt:lpstr>Times New Roman</vt:lpstr>
      <vt:lpstr>Office Theme</vt:lpstr>
      <vt:lpstr>PowerPoint Presentation</vt:lpstr>
      <vt:lpstr>CEP Project Title</vt:lpstr>
      <vt:lpstr>Recap of Selected Problem</vt:lpstr>
      <vt:lpstr>Community/ Field Visit</vt:lpstr>
      <vt:lpstr>Data Collection and Analysis</vt:lpstr>
      <vt:lpstr>Data Collection and Analysis</vt:lpstr>
      <vt:lpstr>Constraints and Challenges</vt:lpstr>
      <vt:lpstr>Ideas for Possible Solutions</vt:lpstr>
      <vt:lpstr>Q and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2025-09-30T17:19:51Z</dcterms:created>
  <dcterms:modified xsi:type="dcterms:W3CDTF">2025-09-30T17:23:52Z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2025-09-30T00:00:00Z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2025-09-30T00:00:00Z</vt:filetime>
  </property>
</Properties>
</file>