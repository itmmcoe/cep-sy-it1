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5E99D5D-0F24-4008-AE7B-5D1F0A8E587E}">
  <a:tblStyle styleId="{35E99D5D-0F24-4008-AE7B-5D1F0A8E587E}"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DFD"/>
          </a:solidFill>
        </a:fill>
      </a:tcStyle>
    </a:wholeTbl>
    <a:band1H>
      <a:tcTxStyle b="off" i="off"/>
      <a:tcStyle>
        <a:tcBdr/>
        <a:fill>
          <a:solidFill>
            <a:srgbClr val="CDD8FB"/>
          </a:solidFill>
        </a:fill>
      </a:tcStyle>
    </a:band1H>
    <a:band2H>
      <a:tcTxStyle b="off" i="off"/>
      <a:tcStyle>
        <a:tcBdr/>
      </a:tcStyle>
    </a:band2H>
    <a:band1V>
      <a:tcTxStyle b="off" i="off"/>
      <a:tcStyle>
        <a:tcBdr/>
        <a:fill>
          <a:solidFill>
            <a:srgbClr val="CDD8FB"/>
          </a:solidFill>
        </a:fill>
      </a:tcStyle>
    </a:band1V>
    <a:band2V>
      <a:tcTxStyle b="off" i="off"/>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622" autoAdjust="0"/>
    <p:restoredTop sz="94660"/>
  </p:normalViewPr>
  <p:slideViewPr>
    <p:cSldViewPr snapToGrid="0">
      <p:cViewPr varScale="1">
        <p:scale>
          <a:sx n="102" d="100"/>
          <a:sy n="102" d="100"/>
        </p:scale>
        <p:origin x="634" y="8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72f8a82f0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 name="Google Shape;58;g372f8a82f09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372f8a82f09_0_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372f8a82f09_0_1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372f8a82f09_0_1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372f8a82f09_0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372f8a82f09_0_1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 name="Google Shape;85;g372f8a82f09_0_1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372f8a82f09_0_1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372f8a82f09_0_1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72f8a82f09_1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72f8a82f09_1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72f8a82f09_0_1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372f8a82f09_0_1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72f8a82f09_1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72f8a82f09_1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2" name="Google Shape;52;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53" name="Google Shape;53;p13"/>
          <p:cNvSpPr txBox="1"/>
          <p:nvPr/>
        </p:nvSpPr>
        <p:spPr>
          <a:xfrm>
            <a:off x="0" y="4573675"/>
            <a:ext cx="9186000" cy="572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500"/>
              <a:buFont typeface="Arial"/>
              <a:buNone/>
            </a:pPr>
            <a:r>
              <a:rPr lang="en" sz="1500" b="0" i="0" u="none" strike="noStrike" cap="none">
                <a:solidFill>
                  <a:srgbClr val="980000"/>
                </a:solidFill>
                <a:latin typeface="Cambria"/>
                <a:ea typeface="Cambria"/>
                <a:cs typeface="Cambria"/>
                <a:sym typeface="Cambria"/>
              </a:rPr>
              <a:t>Marathwada Mitra Mandal’s College of Engineering          </a:t>
            </a:r>
            <a:endParaRPr sz="1500" b="0" i="0" u="none" strike="noStrike" cap="none">
              <a:solidFill>
                <a:srgbClr val="980000"/>
              </a:solidFill>
              <a:latin typeface="Cambria"/>
              <a:ea typeface="Cambria"/>
              <a:cs typeface="Cambria"/>
              <a:sym typeface="Cambria"/>
            </a:endParaRPr>
          </a:p>
          <a:p>
            <a:pPr marL="0" marR="0" lvl="0" indent="0" algn="ctr" rtl="0">
              <a:lnSpc>
                <a:spcPct val="100000"/>
              </a:lnSpc>
              <a:spcBef>
                <a:spcPts val="0"/>
              </a:spcBef>
              <a:spcAft>
                <a:spcPts val="0"/>
              </a:spcAft>
              <a:buClr>
                <a:srgbClr val="000000"/>
              </a:buClr>
              <a:buSzPts val="1500"/>
              <a:buFont typeface="Arial"/>
              <a:buNone/>
            </a:pPr>
            <a:r>
              <a:rPr lang="en" sz="1500" b="1" i="0" u="none" strike="noStrike" cap="none">
                <a:solidFill>
                  <a:srgbClr val="980000"/>
                </a:solidFill>
                <a:latin typeface="Cambria"/>
                <a:ea typeface="Cambria"/>
                <a:cs typeface="Cambria"/>
                <a:sym typeface="Cambria"/>
              </a:rPr>
              <a:t>DEPARTMENT OF INFORMATION TECHNOLOGY     </a:t>
            </a:r>
            <a:endParaRPr sz="1500" b="1" i="0" u="none" strike="noStrike" cap="none">
              <a:solidFill>
                <a:srgbClr val="980000"/>
              </a:solidFill>
              <a:latin typeface="Cambria"/>
              <a:ea typeface="Cambria"/>
              <a:cs typeface="Cambria"/>
              <a:sym typeface="Cambria"/>
            </a:endParaRPr>
          </a:p>
        </p:txBody>
      </p:sp>
      <p:pic>
        <p:nvPicPr>
          <p:cNvPr id="54" name="Google Shape;54;p13"/>
          <p:cNvPicPr preferRelativeResize="0"/>
          <p:nvPr/>
        </p:nvPicPr>
        <p:blipFill rotWithShape="1">
          <a:blip r:embed="rId2">
            <a:alphaModFix/>
          </a:blip>
          <a:srcRect/>
          <a:stretch/>
        </p:blipFill>
        <p:spPr>
          <a:xfrm>
            <a:off x="1802300" y="4575112"/>
            <a:ext cx="513526" cy="569825"/>
          </a:xfrm>
          <a:prstGeom prst="rect">
            <a:avLst/>
          </a:prstGeom>
          <a:noFill/>
          <a:ln>
            <a:noFill/>
          </a:ln>
        </p:spPr>
      </p:pic>
      <p:pic>
        <p:nvPicPr>
          <p:cNvPr id="55" name="Google Shape;55;p13"/>
          <p:cNvPicPr preferRelativeResize="0"/>
          <p:nvPr/>
        </p:nvPicPr>
        <p:blipFill rotWithShape="1">
          <a:blip r:embed="rId3">
            <a:alphaModFix/>
          </a:blip>
          <a:srcRect/>
          <a:stretch/>
        </p:blipFill>
        <p:spPr>
          <a:xfrm>
            <a:off x="7195175" y="4618450"/>
            <a:ext cx="633511" cy="48315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419550" y="289783"/>
            <a:ext cx="8520600" cy="14553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1400"/>
              <a:buNone/>
            </a:pPr>
            <a:endParaRPr sz="1200" dirty="0">
              <a:latin typeface="Times New Roman"/>
              <a:ea typeface="Times New Roman"/>
              <a:cs typeface="Times New Roman"/>
              <a:sym typeface="Times New Roman"/>
            </a:endParaRPr>
          </a:p>
          <a:p>
            <a:pPr marL="0" lvl="0" indent="0" algn="ctr" rtl="0">
              <a:lnSpc>
                <a:spcPct val="100000"/>
              </a:lnSpc>
              <a:spcBef>
                <a:spcPts val="0"/>
              </a:spcBef>
              <a:spcAft>
                <a:spcPts val="0"/>
              </a:spcAft>
              <a:buSzPts val="1400"/>
              <a:buNone/>
            </a:pPr>
            <a:endParaRPr sz="1200" dirty="0">
              <a:latin typeface="Times New Roman"/>
              <a:ea typeface="Times New Roman"/>
              <a:cs typeface="Times New Roman"/>
              <a:sym typeface="Times New Roman"/>
            </a:endParaRPr>
          </a:p>
          <a:p>
            <a:pPr marL="0" lvl="0" indent="0" algn="ctr" rtl="0">
              <a:lnSpc>
                <a:spcPct val="100000"/>
              </a:lnSpc>
              <a:spcBef>
                <a:spcPts val="0"/>
              </a:spcBef>
              <a:spcAft>
                <a:spcPts val="0"/>
              </a:spcAft>
              <a:buSzPts val="1400"/>
              <a:buNone/>
            </a:pPr>
            <a:endParaRPr sz="1200" dirty="0">
              <a:latin typeface="Times New Roman"/>
              <a:ea typeface="Times New Roman"/>
              <a:cs typeface="Times New Roman"/>
              <a:sym typeface="Times New Roman"/>
            </a:endParaRPr>
          </a:p>
          <a:p>
            <a:pPr marL="0" lvl="0" indent="0" algn="ctr" rtl="0">
              <a:lnSpc>
                <a:spcPct val="100000"/>
              </a:lnSpc>
              <a:spcBef>
                <a:spcPts val="0"/>
              </a:spcBef>
              <a:spcAft>
                <a:spcPts val="0"/>
              </a:spcAft>
              <a:buClr>
                <a:schemeClr val="dk1"/>
              </a:buClr>
              <a:buSzPts val="1400"/>
              <a:buFont typeface="Arial"/>
              <a:buNone/>
            </a:pPr>
            <a:r>
              <a:rPr lang="en" sz="1200" dirty="0">
                <a:latin typeface="Times New Roman"/>
                <a:ea typeface="Times New Roman"/>
                <a:cs typeface="Times New Roman"/>
                <a:sym typeface="Times New Roman"/>
              </a:rPr>
              <a:t>Marathwada Mitra Mandal's</a:t>
            </a:r>
            <a:endParaRPr sz="1200" dirty="0">
              <a:latin typeface="Times New Roman"/>
              <a:ea typeface="Times New Roman"/>
              <a:cs typeface="Times New Roman"/>
              <a:sym typeface="Times New Roman"/>
            </a:endParaRPr>
          </a:p>
          <a:p>
            <a:pPr marL="0" lvl="0" indent="0" algn="ctr" rtl="0">
              <a:lnSpc>
                <a:spcPct val="100000"/>
              </a:lnSpc>
              <a:spcBef>
                <a:spcPts val="0"/>
              </a:spcBef>
              <a:spcAft>
                <a:spcPts val="0"/>
              </a:spcAft>
              <a:buClr>
                <a:schemeClr val="dk1"/>
              </a:buClr>
              <a:buSzPts val="1400"/>
              <a:buFont typeface="Arial"/>
              <a:buNone/>
            </a:pPr>
            <a:r>
              <a:rPr lang="en" sz="1200" b="1" dirty="0">
                <a:latin typeface="Times New Roman"/>
                <a:ea typeface="Times New Roman"/>
                <a:cs typeface="Times New Roman"/>
                <a:sym typeface="Times New Roman"/>
              </a:rPr>
              <a:t>COLLEGE OF ENGINEERING, Karve Nagar, Pune - 52</a:t>
            </a:r>
            <a:endParaRPr sz="1200" b="1" dirty="0">
              <a:latin typeface="Times New Roman"/>
              <a:ea typeface="Times New Roman"/>
              <a:cs typeface="Times New Roman"/>
              <a:sym typeface="Times New Roman"/>
            </a:endParaRPr>
          </a:p>
          <a:p>
            <a:pPr marL="0" lvl="0" indent="0" algn="ctr" rtl="0">
              <a:lnSpc>
                <a:spcPct val="100000"/>
              </a:lnSpc>
              <a:spcBef>
                <a:spcPts val="0"/>
              </a:spcBef>
              <a:spcAft>
                <a:spcPts val="0"/>
              </a:spcAft>
              <a:buClr>
                <a:schemeClr val="dk1"/>
              </a:buClr>
              <a:buSzPts val="1400"/>
              <a:buFont typeface="Arial"/>
              <a:buNone/>
            </a:pPr>
            <a:r>
              <a:rPr lang="en" sz="1200" dirty="0">
                <a:latin typeface="Times New Roman"/>
                <a:ea typeface="Times New Roman"/>
                <a:cs typeface="Times New Roman"/>
                <a:sym typeface="Times New Roman"/>
              </a:rPr>
              <a:t>An Autonomous Institute Affiliated to SPPU</a:t>
            </a:r>
            <a:endParaRPr sz="1200" dirty="0">
              <a:latin typeface="Times New Roman"/>
              <a:ea typeface="Times New Roman"/>
              <a:cs typeface="Times New Roman"/>
              <a:sym typeface="Times New Roman"/>
            </a:endParaRPr>
          </a:p>
          <a:p>
            <a:pPr marL="0" lvl="0" indent="0" algn="ctr" rtl="0">
              <a:lnSpc>
                <a:spcPct val="100000"/>
              </a:lnSpc>
              <a:spcBef>
                <a:spcPts val="0"/>
              </a:spcBef>
              <a:spcAft>
                <a:spcPts val="0"/>
              </a:spcAft>
              <a:buClr>
                <a:schemeClr val="dk1"/>
              </a:buClr>
              <a:buSzPts val="1400"/>
              <a:buFont typeface="Arial"/>
              <a:buNone/>
            </a:pPr>
            <a:r>
              <a:rPr lang="en" sz="1200" dirty="0">
                <a:solidFill>
                  <a:srgbClr val="941A1B"/>
                </a:solidFill>
                <a:latin typeface="Times New Roman"/>
                <a:ea typeface="Times New Roman"/>
                <a:cs typeface="Times New Roman"/>
                <a:sym typeface="Times New Roman"/>
              </a:rPr>
              <a:t>                            </a:t>
            </a:r>
            <a:r>
              <a:rPr lang="en" sz="1200" dirty="0">
                <a:latin typeface="Times New Roman"/>
                <a:ea typeface="Times New Roman"/>
                <a:cs typeface="Times New Roman"/>
                <a:sym typeface="Times New Roman"/>
              </a:rPr>
              <a:t>Website</a:t>
            </a:r>
            <a:r>
              <a:rPr lang="en" sz="1200" dirty="0">
                <a:solidFill>
                  <a:srgbClr val="941A1B"/>
                </a:solidFill>
                <a:latin typeface="Times New Roman"/>
                <a:ea typeface="Times New Roman"/>
                <a:cs typeface="Times New Roman"/>
                <a:sym typeface="Times New Roman"/>
              </a:rPr>
              <a:t>: </a:t>
            </a:r>
            <a:r>
              <a:rPr lang="en" sz="1200" u="sng" dirty="0">
                <a:solidFill>
                  <a:srgbClr val="3333CC"/>
                </a:solidFill>
                <a:latin typeface="Times New Roman"/>
                <a:ea typeface="Times New Roman"/>
                <a:cs typeface="Times New Roman"/>
                <a:sym typeface="Times New Roman"/>
              </a:rPr>
              <a:t>www.mmcoe.edu.in</a:t>
            </a:r>
            <a:r>
              <a:rPr lang="en" sz="1200" dirty="0">
                <a:solidFill>
                  <a:srgbClr val="941A1B"/>
                </a:solidFill>
                <a:latin typeface="Times New Roman"/>
                <a:ea typeface="Times New Roman"/>
                <a:cs typeface="Times New Roman"/>
                <a:sym typeface="Times New Roman"/>
              </a:rPr>
              <a:t>                                                              </a:t>
            </a:r>
            <a:r>
              <a:rPr lang="en" sz="1200" dirty="0">
                <a:latin typeface="Times New Roman"/>
                <a:ea typeface="Times New Roman"/>
                <a:cs typeface="Times New Roman"/>
                <a:sym typeface="Times New Roman"/>
              </a:rPr>
              <a:t>   email id:</a:t>
            </a:r>
            <a:r>
              <a:rPr lang="en" sz="1200" dirty="0">
                <a:solidFill>
                  <a:srgbClr val="941A1B"/>
                </a:solidFill>
                <a:latin typeface="Times New Roman"/>
                <a:ea typeface="Times New Roman"/>
                <a:cs typeface="Times New Roman"/>
                <a:sym typeface="Times New Roman"/>
              </a:rPr>
              <a:t> </a:t>
            </a:r>
            <a:r>
              <a:rPr lang="en" sz="1200" u="sng" dirty="0">
                <a:solidFill>
                  <a:srgbClr val="3333CC"/>
                </a:solidFill>
                <a:latin typeface="Times New Roman"/>
                <a:ea typeface="Times New Roman"/>
                <a:cs typeface="Times New Roman"/>
                <a:sym typeface="Times New Roman"/>
              </a:rPr>
              <a:t>mmcoe@mmcoe.edu.in</a:t>
            </a:r>
            <a:endParaRPr sz="1200" dirty="0">
              <a:solidFill>
                <a:srgbClr val="941A1B"/>
              </a:solidFill>
              <a:latin typeface="Times New Roman"/>
              <a:ea typeface="Times New Roman"/>
              <a:cs typeface="Times New Roman"/>
              <a:sym typeface="Times New Roman"/>
            </a:endParaRPr>
          </a:p>
          <a:p>
            <a:pPr marL="0" lvl="0" indent="0" algn="ctr" rtl="0">
              <a:lnSpc>
                <a:spcPct val="100000"/>
              </a:lnSpc>
              <a:spcBef>
                <a:spcPts val="0"/>
              </a:spcBef>
              <a:spcAft>
                <a:spcPts val="0"/>
              </a:spcAft>
              <a:buClr>
                <a:schemeClr val="dk1"/>
              </a:buClr>
              <a:buSzPts val="1400"/>
              <a:buFont typeface="Arial"/>
              <a:buNone/>
            </a:pPr>
            <a:endParaRPr sz="1900" b="1" dirty="0">
              <a:solidFill>
                <a:srgbClr val="5C2D91"/>
              </a:solidFill>
              <a:latin typeface="Times New Roman"/>
              <a:ea typeface="Times New Roman"/>
              <a:cs typeface="Times New Roman"/>
              <a:sym typeface="Times New Roman"/>
            </a:endParaRPr>
          </a:p>
          <a:p>
            <a:pPr marL="0" lvl="0" indent="0" algn="ctr" rtl="0">
              <a:lnSpc>
                <a:spcPct val="100000"/>
              </a:lnSpc>
              <a:spcBef>
                <a:spcPts val="0"/>
              </a:spcBef>
              <a:spcAft>
                <a:spcPts val="0"/>
              </a:spcAft>
              <a:buSzPts val="990"/>
              <a:buNone/>
            </a:pPr>
            <a:endParaRPr sz="1979" b="1" dirty="0">
              <a:latin typeface="Cambria"/>
              <a:ea typeface="Cambria"/>
              <a:cs typeface="Cambria"/>
              <a:sym typeface="Cambria"/>
            </a:endParaRPr>
          </a:p>
        </p:txBody>
      </p:sp>
      <p:sp>
        <p:nvSpPr>
          <p:cNvPr id="61" name="Google Shape;61;p14"/>
          <p:cNvSpPr txBox="1">
            <a:spLocks noGrp="1"/>
          </p:cNvSpPr>
          <p:nvPr>
            <p:ph type="subTitle" idx="1"/>
          </p:nvPr>
        </p:nvSpPr>
        <p:spPr>
          <a:xfrm>
            <a:off x="311700" y="1384300"/>
            <a:ext cx="8520600" cy="7926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2800"/>
              <a:buNone/>
            </a:pPr>
            <a:r>
              <a:rPr lang="en" b="1">
                <a:solidFill>
                  <a:srgbClr val="980000"/>
                </a:solidFill>
                <a:latin typeface="Cambria"/>
                <a:ea typeface="Cambria"/>
                <a:cs typeface="Cambria"/>
                <a:sym typeface="Cambria"/>
              </a:rPr>
              <a:t>Department of Information Technology</a:t>
            </a:r>
            <a:endParaRPr b="1">
              <a:solidFill>
                <a:srgbClr val="980000"/>
              </a:solidFill>
              <a:latin typeface="Cambria"/>
              <a:ea typeface="Cambria"/>
              <a:cs typeface="Cambria"/>
              <a:sym typeface="Cambria"/>
            </a:endParaRPr>
          </a:p>
        </p:txBody>
      </p:sp>
      <p:sp>
        <p:nvSpPr>
          <p:cNvPr id="62" name="Google Shape;62;p14"/>
          <p:cNvSpPr txBox="1"/>
          <p:nvPr/>
        </p:nvSpPr>
        <p:spPr>
          <a:xfrm>
            <a:off x="96000" y="1818524"/>
            <a:ext cx="8952000" cy="969466"/>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900"/>
              <a:buFont typeface="Arial"/>
              <a:buNone/>
            </a:pPr>
            <a:r>
              <a:rPr lang="en" sz="1900" b="1" i="0" u="none" strike="noStrike" cap="none" dirty="0">
                <a:solidFill>
                  <a:srgbClr val="000000"/>
                </a:solidFill>
                <a:latin typeface="Cambria"/>
                <a:ea typeface="Cambria"/>
                <a:cs typeface="Cambria"/>
                <a:sym typeface="Cambria"/>
              </a:rPr>
              <a:t>Project Based Learning - Review </a:t>
            </a:r>
            <a:r>
              <a:rPr lang="en" sz="1900" b="1" dirty="0">
                <a:latin typeface="Cambria"/>
                <a:ea typeface="Cambria"/>
                <a:cs typeface="Cambria"/>
                <a:sym typeface="Cambria"/>
              </a:rPr>
              <a:t>1</a:t>
            </a:r>
            <a:r>
              <a:rPr lang="en" sz="1900" b="1" i="0" u="none" strike="noStrike" cap="none" dirty="0">
                <a:solidFill>
                  <a:srgbClr val="000000"/>
                </a:solidFill>
                <a:latin typeface="Cambria"/>
                <a:ea typeface="Cambria"/>
                <a:cs typeface="Cambria"/>
                <a:sym typeface="Cambria"/>
              </a:rPr>
              <a:t> (AY 2025-26)</a:t>
            </a:r>
            <a:r>
              <a:rPr lang="en" sz="1700" b="0" i="0" u="none" strike="noStrike" cap="none" dirty="0">
                <a:solidFill>
                  <a:srgbClr val="000000"/>
                </a:solidFill>
                <a:latin typeface="Cambria"/>
                <a:ea typeface="Cambria"/>
                <a:cs typeface="Cambria"/>
                <a:sym typeface="Cambria"/>
              </a:rPr>
              <a:t> </a:t>
            </a:r>
            <a:endParaRPr sz="1700" b="0" i="0" u="none" strike="noStrike" cap="none" dirty="0">
              <a:solidFill>
                <a:srgbClr val="000000"/>
              </a:solidFill>
              <a:latin typeface="Cambria"/>
              <a:ea typeface="Cambria"/>
              <a:cs typeface="Cambria"/>
              <a:sym typeface="Cambria"/>
            </a:endParaRPr>
          </a:p>
          <a:p>
            <a:pPr lvl="0" algn="ctr">
              <a:buSzPts val="3000"/>
            </a:pPr>
            <a:r>
              <a:rPr lang="en-US" sz="3200" dirty="0"/>
              <a:t>"</a:t>
            </a:r>
            <a:r>
              <a:rPr lang="en-US" sz="2800" u="sng" dirty="0" err="1">
                <a:solidFill>
                  <a:srgbClr val="0070C0"/>
                </a:solidFill>
              </a:rPr>
              <a:t>SkillBridge</a:t>
            </a:r>
            <a:r>
              <a:rPr lang="en-US" sz="2800" u="sng" dirty="0">
                <a:solidFill>
                  <a:srgbClr val="0070C0"/>
                </a:solidFill>
              </a:rPr>
              <a:t> – Connecting Local Talent to Local Needs</a:t>
            </a:r>
            <a:r>
              <a:rPr lang="en" sz="2800" b="1" i="0" u="sng" strike="noStrike" cap="none" dirty="0">
                <a:solidFill>
                  <a:srgbClr val="0070C0"/>
                </a:solidFill>
                <a:latin typeface="Cambria"/>
                <a:ea typeface="Cambria"/>
                <a:cs typeface="Cambria"/>
                <a:sym typeface="Cambria"/>
              </a:rPr>
              <a:t>”</a:t>
            </a:r>
            <a:endParaRPr sz="2800" b="1" i="0" u="sng" strike="noStrike" cap="none" dirty="0">
              <a:solidFill>
                <a:srgbClr val="0070C0"/>
              </a:solidFill>
              <a:latin typeface="Cambria"/>
              <a:ea typeface="Cambria"/>
              <a:cs typeface="Cambria"/>
              <a:sym typeface="Cambria"/>
            </a:endParaRPr>
          </a:p>
        </p:txBody>
      </p:sp>
      <p:sp>
        <p:nvSpPr>
          <p:cNvPr id="63" name="Google Shape;63;p14"/>
          <p:cNvSpPr txBox="1"/>
          <p:nvPr/>
        </p:nvSpPr>
        <p:spPr>
          <a:xfrm>
            <a:off x="-239827" y="3376021"/>
            <a:ext cx="4459200" cy="400079"/>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1" i="0" u="none" strike="noStrike" cap="none" dirty="0">
                <a:solidFill>
                  <a:srgbClr val="000000"/>
                </a:solidFill>
                <a:latin typeface="Cambria"/>
                <a:ea typeface="Cambria"/>
                <a:cs typeface="Cambria"/>
                <a:sym typeface="Cambria"/>
              </a:rPr>
              <a:t>Presented By:  </a:t>
            </a:r>
            <a:endParaRPr sz="1400" b="0" i="0" u="none" strike="noStrike" cap="none" dirty="0">
              <a:solidFill>
                <a:srgbClr val="FF0000"/>
              </a:solidFill>
              <a:latin typeface="Cambria"/>
              <a:ea typeface="Cambria"/>
              <a:cs typeface="Cambria"/>
              <a:sym typeface="Cambria"/>
            </a:endParaRPr>
          </a:p>
        </p:txBody>
      </p:sp>
      <p:pic>
        <p:nvPicPr>
          <p:cNvPr id="64" name="Google Shape;64;p14"/>
          <p:cNvPicPr preferRelativeResize="0"/>
          <p:nvPr/>
        </p:nvPicPr>
        <p:blipFill rotWithShape="1">
          <a:blip r:embed="rId3">
            <a:alphaModFix/>
          </a:blip>
          <a:srcRect/>
          <a:stretch/>
        </p:blipFill>
        <p:spPr>
          <a:xfrm>
            <a:off x="927400" y="224750"/>
            <a:ext cx="834799" cy="824648"/>
          </a:xfrm>
          <a:prstGeom prst="rect">
            <a:avLst/>
          </a:prstGeom>
          <a:noFill/>
          <a:ln>
            <a:noFill/>
          </a:ln>
        </p:spPr>
      </p:pic>
      <p:sp>
        <p:nvSpPr>
          <p:cNvPr id="65" name="Google Shape;65;p14"/>
          <p:cNvSpPr txBox="1"/>
          <p:nvPr/>
        </p:nvSpPr>
        <p:spPr>
          <a:xfrm>
            <a:off x="6713150" y="4761275"/>
            <a:ext cx="1736700" cy="269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en" sz="1500" b="0" i="0" u="none" strike="noStrike" cap="none">
                <a:solidFill>
                  <a:srgbClr val="0000FF"/>
                </a:solidFill>
                <a:latin typeface="Cambria"/>
                <a:ea typeface="Cambria"/>
                <a:cs typeface="Cambria"/>
                <a:sym typeface="Cambria"/>
              </a:rPr>
              <a:t>Date: </a:t>
            </a:r>
            <a:endParaRPr sz="1500" b="0" i="0" u="none" strike="noStrike" cap="none">
              <a:solidFill>
                <a:srgbClr val="0000FF"/>
              </a:solidFill>
              <a:latin typeface="Cambria"/>
              <a:ea typeface="Cambria"/>
              <a:cs typeface="Cambria"/>
              <a:sym typeface="Cambria"/>
            </a:endParaRPr>
          </a:p>
        </p:txBody>
      </p:sp>
      <p:sp>
        <p:nvSpPr>
          <p:cNvPr id="66" name="Google Shape;66;p14"/>
          <p:cNvSpPr txBox="1"/>
          <p:nvPr/>
        </p:nvSpPr>
        <p:spPr>
          <a:xfrm>
            <a:off x="5974175" y="3483675"/>
            <a:ext cx="2168700" cy="615523"/>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1" i="0" u="none" strike="noStrike" cap="none" dirty="0">
                <a:solidFill>
                  <a:srgbClr val="000000"/>
                </a:solidFill>
                <a:latin typeface="Cambria"/>
                <a:ea typeface="Cambria"/>
                <a:cs typeface="Cambria"/>
                <a:sym typeface="Cambria"/>
              </a:rPr>
              <a:t>Name of Guide</a:t>
            </a:r>
            <a:r>
              <a:rPr lang="en" sz="1400" b="0" i="0" u="none" strike="noStrike" cap="none" dirty="0">
                <a:solidFill>
                  <a:srgbClr val="000000"/>
                </a:solidFill>
                <a:latin typeface="Cambria"/>
                <a:ea typeface="Cambria"/>
                <a:cs typeface="Cambria"/>
                <a:sym typeface="Cambria"/>
              </a:rPr>
              <a:t>:  Ms. Sonawane</a:t>
            </a:r>
            <a:endParaRPr sz="1400" b="0" i="0" u="none" strike="noStrike" cap="none" dirty="0">
              <a:solidFill>
                <a:srgbClr val="000000"/>
              </a:solidFill>
              <a:latin typeface="Cambria"/>
              <a:ea typeface="Cambria"/>
              <a:cs typeface="Cambria"/>
              <a:sym typeface="Cambria"/>
            </a:endParaRPr>
          </a:p>
        </p:txBody>
      </p:sp>
      <p:sp>
        <p:nvSpPr>
          <p:cNvPr id="67" name="Google Shape;67;p14"/>
          <p:cNvSpPr txBox="1"/>
          <p:nvPr/>
        </p:nvSpPr>
        <p:spPr>
          <a:xfrm>
            <a:off x="-159800" y="4761275"/>
            <a:ext cx="3200100" cy="4002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Cambria"/>
                <a:ea typeface="Cambria"/>
                <a:cs typeface="Cambria"/>
                <a:sym typeface="Cambria"/>
              </a:rPr>
              <a:t>Name of Sponsor</a:t>
            </a:r>
            <a:r>
              <a:rPr lang="en" sz="1400" b="0" i="0" u="none" strike="noStrike" cap="none">
                <a:solidFill>
                  <a:srgbClr val="000000"/>
                </a:solidFill>
                <a:latin typeface="Cambria"/>
                <a:ea typeface="Cambria"/>
                <a:cs typeface="Cambria"/>
                <a:sym typeface="Cambria"/>
              </a:rPr>
              <a:t>: (If applicable)</a:t>
            </a:r>
            <a:endParaRPr sz="1400" b="0" i="0" u="none" strike="noStrike" cap="none">
              <a:solidFill>
                <a:srgbClr val="000000"/>
              </a:solidFill>
              <a:latin typeface="Cambria"/>
              <a:ea typeface="Cambria"/>
              <a:cs typeface="Cambria"/>
              <a:sym typeface="Cambria"/>
            </a:endParaRPr>
          </a:p>
        </p:txBody>
      </p:sp>
      <p:sp>
        <p:nvSpPr>
          <p:cNvPr id="68" name="Google Shape;68;p14"/>
          <p:cNvSpPr txBox="1"/>
          <p:nvPr/>
        </p:nvSpPr>
        <p:spPr>
          <a:xfrm>
            <a:off x="6103702" y="4761275"/>
            <a:ext cx="3410700" cy="4002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IN" sz="1400" b="0" i="0" u="none" strike="noStrike" cap="none" dirty="0">
                <a:solidFill>
                  <a:srgbClr val="000000"/>
                </a:solidFill>
                <a:latin typeface="Cambria"/>
                <a:ea typeface="Cambria"/>
                <a:cs typeface="Cambria"/>
                <a:sym typeface="Cambria"/>
              </a:rPr>
              <a:t>01/10/2025</a:t>
            </a:r>
            <a:endParaRPr sz="1400" b="0" i="0" u="none" strike="noStrike" cap="none" dirty="0">
              <a:solidFill>
                <a:srgbClr val="000000"/>
              </a:solidFill>
              <a:latin typeface="Cambria"/>
              <a:ea typeface="Cambria"/>
              <a:cs typeface="Cambria"/>
              <a:sym typeface="Cambria"/>
            </a:endParaRPr>
          </a:p>
        </p:txBody>
      </p:sp>
      <p:sp>
        <p:nvSpPr>
          <p:cNvPr id="2" name="Rectangle 1">
            <a:extLst>
              <a:ext uri="{FF2B5EF4-FFF2-40B4-BE49-F238E27FC236}">
                <a16:creationId xmlns:a16="http://schemas.microsoft.com/office/drawing/2014/main" id="{81C0720A-66B0-695F-3027-AEBDECDC1F64}"/>
              </a:ext>
            </a:extLst>
          </p:cNvPr>
          <p:cNvSpPr>
            <a:spLocks noChangeArrowheads="1"/>
          </p:cNvSpPr>
          <p:nvPr/>
        </p:nvSpPr>
        <p:spPr bwMode="auto">
          <a:xfrm>
            <a:off x="2755487" y="3829987"/>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SI137 Anirudh </a:t>
            </a:r>
            <a:r>
              <a:rPr kumimoji="0" lang="en-US" altLang="en-US" sz="1800" b="0" i="0" u="none" strike="noStrike" cap="none" normalizeH="0" baseline="0" dirty="0" err="1">
                <a:ln>
                  <a:noFill/>
                </a:ln>
                <a:solidFill>
                  <a:schemeClr val="tx1"/>
                </a:solidFill>
                <a:effectLst/>
                <a:latin typeface="Arial" panose="020B0604020202020204" pitchFamily="34" charset="0"/>
              </a:rPr>
              <a:t>Lakkavatri</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SI156 Atharva Pardeshi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SI143 Swaraj </a:t>
            </a:r>
            <a:r>
              <a:rPr kumimoji="0" lang="en-US" altLang="en-US" sz="1800" b="0" i="0" u="none" strike="noStrike" cap="none" normalizeH="0" baseline="0" dirty="0" err="1">
                <a:ln>
                  <a:noFill/>
                </a:ln>
                <a:solidFill>
                  <a:schemeClr val="tx1"/>
                </a:solidFill>
                <a:effectLst/>
                <a:latin typeface="Arial" panose="020B0604020202020204" pitchFamily="34" charset="0"/>
              </a:rPr>
              <a:t>Katkar</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5"/>
          <p:cNvSpPr/>
          <p:nvPr/>
        </p:nvSpPr>
        <p:spPr>
          <a:xfrm>
            <a:off x="-100" y="0"/>
            <a:ext cx="9144000" cy="546900"/>
          </a:xfrm>
          <a:prstGeom prst="rect">
            <a:avLst/>
          </a:prstGeom>
          <a:solidFill>
            <a:srgbClr val="FCE5C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1100"/>
              <a:buFont typeface="Arial"/>
              <a:buNone/>
            </a:pPr>
            <a:r>
              <a:rPr lang="en" sz="3000" b="1">
                <a:solidFill>
                  <a:srgbClr val="980000"/>
                </a:solidFill>
                <a:latin typeface="Cambria"/>
                <a:ea typeface="Cambria"/>
                <a:cs typeface="Cambria"/>
                <a:sym typeface="Cambria"/>
              </a:rPr>
              <a:t>CEP</a:t>
            </a:r>
            <a:r>
              <a:rPr lang="en" sz="3000" b="1" i="0" u="none" strike="noStrike" cap="none">
                <a:solidFill>
                  <a:srgbClr val="980000"/>
                </a:solidFill>
                <a:latin typeface="Cambria"/>
                <a:ea typeface="Cambria"/>
                <a:cs typeface="Cambria"/>
                <a:sym typeface="Cambria"/>
              </a:rPr>
              <a:t> Project Title</a:t>
            </a:r>
            <a:endParaRPr sz="3000" b="1" i="0" u="none" strike="noStrike" cap="none">
              <a:solidFill>
                <a:srgbClr val="980000"/>
              </a:solidFill>
              <a:latin typeface="Cambria"/>
              <a:ea typeface="Cambria"/>
              <a:cs typeface="Cambria"/>
              <a:sym typeface="Cambria"/>
            </a:endParaRPr>
          </a:p>
        </p:txBody>
      </p:sp>
      <p:graphicFrame>
        <p:nvGraphicFramePr>
          <p:cNvPr id="74" name="Google Shape;74;p15"/>
          <p:cNvGraphicFramePr/>
          <p:nvPr>
            <p:extLst>
              <p:ext uri="{D42A27DB-BD31-4B8C-83A1-F6EECF244321}">
                <p14:modId xmlns:p14="http://schemas.microsoft.com/office/powerpoint/2010/main" val="3359098585"/>
              </p:ext>
            </p:extLst>
          </p:nvPr>
        </p:nvGraphicFramePr>
        <p:xfrm>
          <a:off x="742013" y="1049311"/>
          <a:ext cx="7757410" cy="3357797"/>
        </p:xfrm>
        <a:graphic>
          <a:graphicData uri="http://schemas.openxmlformats.org/drawingml/2006/table">
            <a:tbl>
              <a:tblPr firstRow="1" bandRow="1">
                <a:noFill/>
                <a:tableStyleId>{35E99D5D-0F24-4008-AE7B-5D1F0A8E587E}</a:tableStyleId>
              </a:tblPr>
              <a:tblGrid>
                <a:gridCol w="7757410">
                  <a:extLst>
                    <a:ext uri="{9D8B030D-6E8A-4147-A177-3AD203B41FA5}">
                      <a16:colId xmlns:a16="http://schemas.microsoft.com/office/drawing/2014/main" val="20000"/>
                    </a:ext>
                  </a:extLst>
                </a:gridCol>
              </a:tblGrid>
              <a:tr h="457277">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dirty="0">
                          <a:solidFill>
                            <a:srgbClr val="FF0000"/>
                          </a:solidFill>
                        </a:rPr>
                        <a:t>Title 1</a:t>
                      </a:r>
                      <a:endParaRPr sz="1400" u="none" strike="noStrike" cap="none" dirty="0">
                        <a:solidFill>
                          <a:srgbClr val="FF0000"/>
                        </a:solidFill>
                      </a:endParaRPr>
                    </a:p>
                  </a:txBody>
                  <a:tcPr marL="91450" marR="91450" marT="45725" marB="45725">
                    <a:solidFill>
                      <a:srgbClr val="FFB340">
                        <a:alpha val="66270"/>
                      </a:srgbClr>
                    </a:solidFill>
                  </a:tcPr>
                </a:tc>
                <a:extLst>
                  <a:ext uri="{0D108BD9-81ED-4DB2-BD59-A6C34878D82A}">
                    <a16:rowId xmlns:a16="http://schemas.microsoft.com/office/drawing/2014/main" val="10000"/>
                  </a:ext>
                </a:extLst>
              </a:tr>
              <a:tr h="2900520">
                <a:tc>
                  <a:txBody>
                    <a:bodyPr/>
                    <a:lstStyle/>
                    <a:p>
                      <a:pPr marL="0" lvl="0" indent="0" algn="l" rtl="0">
                        <a:spcBef>
                          <a:spcPts val="0"/>
                        </a:spcBef>
                        <a:spcAft>
                          <a:spcPts val="0"/>
                        </a:spcAft>
                        <a:buClr>
                          <a:schemeClr val="dk1"/>
                        </a:buClr>
                        <a:buSzPts val="1100"/>
                        <a:buFont typeface="Arial"/>
                        <a:buNone/>
                      </a:pPr>
                      <a:r>
                        <a:rPr lang="en" dirty="0"/>
                        <a:t>Context of the project: </a:t>
                      </a:r>
                      <a:r>
                        <a:rPr lang="en-US" dirty="0"/>
                        <a:t>The project solves job access issues for local skilled workers and helps customers quickly find verified professionals. It uses a location-based web platform for fast and reliable connections</a:t>
                      </a:r>
                    </a:p>
                    <a:p>
                      <a:pPr marL="0" lvl="0" indent="0" algn="l" rtl="0">
                        <a:spcBef>
                          <a:spcPts val="0"/>
                        </a:spcBef>
                        <a:spcAft>
                          <a:spcPts val="0"/>
                        </a:spcAft>
                        <a:buClr>
                          <a:schemeClr val="dk1"/>
                        </a:buClr>
                        <a:buSzPts val="1100"/>
                        <a:buFont typeface="Arial"/>
                        <a:buNone/>
                      </a:pPr>
                      <a:endParaRPr dirty="0"/>
                    </a:p>
                    <a:p>
                      <a:pPr marL="0" lvl="0" indent="0" algn="l" rtl="0">
                        <a:spcBef>
                          <a:spcPts val="0"/>
                        </a:spcBef>
                        <a:spcAft>
                          <a:spcPts val="0"/>
                        </a:spcAft>
                        <a:buClr>
                          <a:schemeClr val="dk1"/>
                        </a:buClr>
                        <a:buSzPts val="1100"/>
                        <a:buFont typeface="Arial"/>
                        <a:buNone/>
                      </a:pPr>
                      <a:endParaRPr dirty="0"/>
                    </a:p>
                    <a:p>
                      <a:pPr marL="0" lvl="0" indent="0" algn="l" rtl="0">
                        <a:spcBef>
                          <a:spcPts val="0"/>
                        </a:spcBef>
                        <a:spcAft>
                          <a:spcPts val="0"/>
                        </a:spcAft>
                        <a:buClr>
                          <a:schemeClr val="dk1"/>
                        </a:buClr>
                        <a:buSzPts val="1100"/>
                        <a:buFont typeface="Arial"/>
                        <a:buNone/>
                      </a:pPr>
                      <a:r>
                        <a:rPr lang="en" dirty="0"/>
                        <a:t>Area/Community of focus: </a:t>
                      </a:r>
                      <a:r>
                        <a:rPr lang="en-US" dirty="0"/>
                        <a:t>The focus is on urban and semi-urban communities. The stakeholders include skilled workers like plumbers, electricians, carpenters, and painters , as well as households and small businesses that require their services.</a:t>
                      </a:r>
                      <a:endParaRPr dirty="0"/>
                    </a:p>
                  </a:txBody>
                  <a:tcPr marL="91450" marR="91450" marT="45725" marB="45725"/>
                </a:tc>
                <a:extLst>
                  <a:ext uri="{0D108BD9-81ED-4DB2-BD59-A6C34878D82A}">
                    <a16:rowId xmlns:a16="http://schemas.microsoft.com/office/drawing/2014/main" val="10001"/>
                  </a:ext>
                </a:extLst>
              </a:tr>
            </a:tbl>
          </a:graphicData>
        </a:graphic>
      </p:graphicFrame>
      <p:sp>
        <p:nvSpPr>
          <p:cNvPr id="75" name="Google Shape;75;p15"/>
          <p:cNvSpPr txBox="1"/>
          <p:nvPr/>
        </p:nvSpPr>
        <p:spPr>
          <a:xfrm>
            <a:off x="2016150" y="2674875"/>
            <a:ext cx="5429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6"/>
          <p:cNvSpPr/>
          <p:nvPr/>
        </p:nvSpPr>
        <p:spPr>
          <a:xfrm>
            <a:off x="-100" y="0"/>
            <a:ext cx="9144000" cy="546900"/>
          </a:xfrm>
          <a:prstGeom prst="rect">
            <a:avLst/>
          </a:prstGeom>
          <a:solidFill>
            <a:srgbClr val="FCE5C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1100"/>
              <a:buFont typeface="Arial"/>
              <a:buNone/>
            </a:pPr>
            <a:r>
              <a:rPr lang="en" sz="3000" b="1">
                <a:solidFill>
                  <a:srgbClr val="980000"/>
                </a:solidFill>
                <a:latin typeface="Cambria"/>
                <a:ea typeface="Cambria"/>
                <a:cs typeface="Cambria"/>
                <a:sym typeface="Cambria"/>
              </a:rPr>
              <a:t>Recap of Selected Problem</a:t>
            </a:r>
            <a:endParaRPr sz="3000" b="1" i="0" u="none" strike="noStrike" cap="none">
              <a:solidFill>
                <a:srgbClr val="980000"/>
              </a:solidFill>
              <a:latin typeface="Cambria"/>
              <a:ea typeface="Cambria"/>
              <a:cs typeface="Cambria"/>
              <a:sym typeface="Cambria"/>
            </a:endParaRPr>
          </a:p>
        </p:txBody>
      </p:sp>
      <p:sp>
        <p:nvSpPr>
          <p:cNvPr id="81" name="Google Shape;81;p16"/>
          <p:cNvSpPr txBox="1"/>
          <p:nvPr/>
        </p:nvSpPr>
        <p:spPr>
          <a:xfrm>
            <a:off x="2016150" y="2674875"/>
            <a:ext cx="5429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
        <p:nvSpPr>
          <p:cNvPr id="82" name="Google Shape;82;p16"/>
          <p:cNvSpPr txBox="1"/>
          <p:nvPr/>
        </p:nvSpPr>
        <p:spPr>
          <a:xfrm>
            <a:off x="622092" y="1004725"/>
            <a:ext cx="7824865" cy="2633768"/>
          </a:xfrm>
          <a:prstGeom prst="rect">
            <a:avLst/>
          </a:prstGeom>
          <a:noFill/>
          <a:ln>
            <a:noFill/>
          </a:ln>
        </p:spPr>
        <p:txBody>
          <a:bodyPr spcFirstLastPara="1" wrap="square" lIns="91425" tIns="91425" rIns="91425" bIns="91425" anchor="t" anchorCtr="0">
            <a:spAutoFit/>
          </a:bodyPr>
          <a:lstStyle/>
          <a:p>
            <a:pPr marL="457200" lvl="0" indent="-298450" algn="l" rtl="0">
              <a:lnSpc>
                <a:spcPct val="115000"/>
              </a:lnSpc>
              <a:spcBef>
                <a:spcPts val="1200"/>
              </a:spcBef>
              <a:spcAft>
                <a:spcPts val="0"/>
              </a:spcAft>
              <a:buClr>
                <a:schemeClr val="dk1"/>
              </a:buClr>
              <a:buSzPts val="1100"/>
              <a:buChar char="●"/>
            </a:pPr>
            <a:r>
              <a:rPr lang="en" sz="1100" b="1" u="sng" dirty="0">
                <a:solidFill>
                  <a:schemeClr val="dk1"/>
                </a:solidFill>
              </a:rPr>
              <a:t>Problem Statement:</a:t>
            </a:r>
          </a:p>
          <a:p>
            <a:pPr marL="158750" lvl="0">
              <a:lnSpc>
                <a:spcPct val="115000"/>
              </a:lnSpc>
              <a:spcBef>
                <a:spcPts val="1200"/>
              </a:spcBef>
              <a:buClr>
                <a:schemeClr val="dk1"/>
              </a:buClr>
              <a:buSzPts val="1100"/>
            </a:pPr>
            <a:r>
              <a:rPr lang="en-US" sz="1100" dirty="0"/>
              <a:t>Local skilled workers such as plumbers, electricians, carpenters, and painters lack consistent job opportunities. Simultaneously, customers struggle to find reliable and verified professionals in their vicinity. This situation impacts the income stability of workers and the ability of customers to get timely, quality services</a:t>
            </a:r>
            <a:br>
              <a:rPr lang="en" sz="1100" dirty="0">
                <a:solidFill>
                  <a:schemeClr val="dk1"/>
                </a:solidFill>
              </a:rPr>
            </a:br>
            <a:endParaRPr sz="1100"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u="sng" dirty="0">
                <a:solidFill>
                  <a:schemeClr val="dk1"/>
                </a:solidFill>
              </a:rPr>
              <a:t>Objectives:</a:t>
            </a:r>
          </a:p>
          <a:p>
            <a:pPr marL="158750" lvl="0" algn="l" rtl="0">
              <a:lnSpc>
                <a:spcPct val="115000"/>
              </a:lnSpc>
              <a:spcBef>
                <a:spcPts val="0"/>
              </a:spcBef>
              <a:spcAft>
                <a:spcPts val="0"/>
              </a:spcAft>
              <a:buClr>
                <a:schemeClr val="dk1"/>
              </a:buClr>
              <a:buSzPts val="1100"/>
            </a:pPr>
            <a:endParaRPr lang="en" sz="1100" b="1" u="sng" dirty="0">
              <a:solidFill>
                <a:schemeClr val="dk1"/>
              </a:solidFill>
            </a:endParaRPr>
          </a:p>
          <a:p>
            <a:pPr marL="158750" lvl="0">
              <a:lnSpc>
                <a:spcPct val="115000"/>
              </a:lnSpc>
              <a:buClr>
                <a:schemeClr val="dk1"/>
              </a:buClr>
              <a:buSzPts val="1100"/>
            </a:pPr>
            <a:r>
              <a:rPr lang="en-US" sz="1100" dirty="0"/>
              <a:t>To develop a web-based platform that efficiently connects verified local skilled workers with customers. The platform will use location-based matching to ensure quick service, improve job opportunities, and enhance trust within the community</a:t>
            </a:r>
            <a:endParaRPr lang="en" sz="1100" b="1" u="sng" dirty="0">
              <a:solidFill>
                <a:schemeClr val="dk1"/>
              </a:solidFill>
            </a:endParaRPr>
          </a:p>
          <a:p>
            <a:pPr marL="158750" lvl="0" algn="l" rtl="0">
              <a:lnSpc>
                <a:spcPct val="115000"/>
              </a:lnSpc>
              <a:spcBef>
                <a:spcPts val="0"/>
              </a:spcBef>
              <a:spcAft>
                <a:spcPts val="0"/>
              </a:spcAft>
              <a:buClr>
                <a:schemeClr val="dk1"/>
              </a:buClr>
              <a:buSzPts val="1100"/>
            </a:pPr>
            <a:endParaRPr lang="en" sz="1100" b="1" u="sng" dirty="0">
              <a:solidFill>
                <a:schemeClr val="dk1"/>
              </a:solidFill>
            </a:endParaRPr>
          </a:p>
          <a:p>
            <a:pPr marL="158750" lvl="0" algn="l" rtl="0">
              <a:lnSpc>
                <a:spcPct val="115000"/>
              </a:lnSpc>
              <a:spcBef>
                <a:spcPts val="0"/>
              </a:spcBef>
              <a:spcAft>
                <a:spcPts val="0"/>
              </a:spcAft>
              <a:buClr>
                <a:schemeClr val="dk1"/>
              </a:buClr>
              <a:buSzPts val="1100"/>
            </a:pPr>
            <a:endParaRPr sz="1100" b="1" u="sng" dirty="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7"/>
          <p:cNvSpPr/>
          <p:nvPr/>
        </p:nvSpPr>
        <p:spPr>
          <a:xfrm>
            <a:off x="-100" y="0"/>
            <a:ext cx="9144000" cy="546900"/>
          </a:xfrm>
          <a:prstGeom prst="rect">
            <a:avLst/>
          </a:prstGeom>
          <a:solidFill>
            <a:srgbClr val="FCE5C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1100"/>
              <a:buFont typeface="Arial"/>
              <a:buNone/>
            </a:pPr>
            <a:r>
              <a:rPr lang="en" sz="3000" b="1">
                <a:solidFill>
                  <a:srgbClr val="980000"/>
                </a:solidFill>
                <a:latin typeface="Cambria"/>
                <a:ea typeface="Cambria"/>
                <a:cs typeface="Cambria"/>
                <a:sym typeface="Cambria"/>
              </a:rPr>
              <a:t>Community/ Field Visit</a:t>
            </a:r>
            <a:endParaRPr sz="3000" b="1" i="0" u="none" strike="noStrike" cap="none">
              <a:solidFill>
                <a:srgbClr val="980000"/>
              </a:solidFill>
              <a:latin typeface="Cambria"/>
              <a:ea typeface="Cambria"/>
              <a:cs typeface="Cambria"/>
              <a:sym typeface="Cambria"/>
            </a:endParaRPr>
          </a:p>
        </p:txBody>
      </p:sp>
      <p:sp>
        <p:nvSpPr>
          <p:cNvPr id="88" name="Google Shape;88;p17"/>
          <p:cNvSpPr txBox="1"/>
          <p:nvPr/>
        </p:nvSpPr>
        <p:spPr>
          <a:xfrm>
            <a:off x="2016150" y="2674875"/>
            <a:ext cx="5429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
        <p:nvSpPr>
          <p:cNvPr id="89" name="Google Shape;89;p17"/>
          <p:cNvSpPr txBox="1"/>
          <p:nvPr/>
        </p:nvSpPr>
        <p:spPr>
          <a:xfrm>
            <a:off x="73200" y="798475"/>
            <a:ext cx="8676900" cy="3680977"/>
          </a:xfrm>
          <a:prstGeom prst="rect">
            <a:avLst/>
          </a:prstGeom>
          <a:noFill/>
          <a:ln>
            <a:noFill/>
          </a:ln>
        </p:spPr>
        <p:txBody>
          <a:bodyPr spcFirstLastPara="1" wrap="square" lIns="91425" tIns="91425" rIns="91425" bIns="91425" anchor="t" anchorCtr="0">
            <a:spAutoFit/>
          </a:bodyPr>
          <a:lstStyle/>
          <a:p>
            <a:pPr marL="457200" lvl="0" indent="-298450">
              <a:lnSpc>
                <a:spcPct val="115000"/>
              </a:lnSpc>
              <a:spcBef>
                <a:spcPts val="1200"/>
              </a:spcBef>
              <a:buClr>
                <a:schemeClr val="dk1"/>
              </a:buClr>
              <a:buSzPts val="1100"/>
              <a:buChar char="●"/>
            </a:pPr>
            <a:r>
              <a:rPr lang="en" sz="1100" b="1" dirty="0">
                <a:solidFill>
                  <a:schemeClr val="dk1"/>
                </a:solidFill>
              </a:rPr>
              <a:t>Area visited </a:t>
            </a:r>
            <a:endParaRPr lang="en" sz="1100" dirty="0">
              <a:solidFill>
                <a:schemeClr val="dk1"/>
              </a:solidFill>
            </a:endParaRPr>
          </a:p>
          <a:p>
            <a:pPr marL="158750" lvl="0">
              <a:lnSpc>
                <a:spcPct val="115000"/>
              </a:lnSpc>
              <a:spcBef>
                <a:spcPts val="1200"/>
              </a:spcBef>
              <a:buClr>
                <a:schemeClr val="dk1"/>
              </a:buClr>
              <a:buSzPts val="1100"/>
            </a:pPr>
            <a:r>
              <a:rPr lang="en" sz="1100" dirty="0">
                <a:solidFill>
                  <a:schemeClr val="dk1"/>
                </a:solidFill>
              </a:rPr>
              <a:t> </a:t>
            </a:r>
            <a:r>
              <a:rPr lang="en-US" sz="1100" dirty="0"/>
              <a:t>The plan included visiting Pune's Information Technology (IT) sector, particularly Hinjewadi's Rajiv Gandhi Infotech Park , and the Manufacturing &amp; Automotive sectors in areas like Chakan, Talegaon, </a:t>
            </a:r>
            <a:r>
              <a:rPr lang="en-US" sz="1100" dirty="0" err="1"/>
              <a:t>Ranjangaon</a:t>
            </a:r>
            <a:r>
              <a:rPr lang="en-US" sz="1100" dirty="0"/>
              <a:t>, and </a:t>
            </a:r>
            <a:r>
              <a:rPr lang="en-US" sz="1100" dirty="0" err="1"/>
              <a:t>Mundhwa</a:t>
            </a:r>
            <a:r>
              <a:rPr lang="en-US" sz="1100" dirty="0"/>
              <a:t>.</a:t>
            </a:r>
            <a:endParaRPr lang="en" sz="1100" dirty="0">
              <a:solidFill>
                <a:schemeClr val="dk1"/>
              </a:solidFill>
            </a:endParaRPr>
          </a:p>
          <a:p>
            <a:pPr marL="158750" lvl="0" algn="l" rtl="0">
              <a:lnSpc>
                <a:spcPct val="115000"/>
              </a:lnSpc>
              <a:spcBef>
                <a:spcPts val="1200"/>
              </a:spcBef>
              <a:spcAft>
                <a:spcPts val="0"/>
              </a:spcAft>
              <a:buClr>
                <a:schemeClr val="dk1"/>
              </a:buClr>
              <a:buSzPts val="1100"/>
            </a:pPr>
            <a:br>
              <a:rPr lang="en" sz="1100" dirty="0">
                <a:solidFill>
                  <a:schemeClr val="dk1"/>
                </a:solidFill>
              </a:rPr>
            </a:br>
            <a:endParaRPr sz="1100"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dirty="0">
                <a:solidFill>
                  <a:schemeClr val="dk1"/>
                </a:solidFill>
              </a:rPr>
              <a:t>People consulted </a:t>
            </a:r>
          </a:p>
          <a:p>
            <a:pPr marL="158750" lvl="0" algn="l" rtl="0">
              <a:lnSpc>
                <a:spcPct val="115000"/>
              </a:lnSpc>
              <a:spcBef>
                <a:spcPts val="0"/>
              </a:spcBef>
              <a:spcAft>
                <a:spcPts val="0"/>
              </a:spcAft>
              <a:buClr>
                <a:schemeClr val="dk1"/>
              </a:buClr>
              <a:buSzPts val="1100"/>
            </a:pPr>
            <a:br>
              <a:rPr lang="en" sz="1100" b="1" dirty="0">
                <a:solidFill>
                  <a:schemeClr val="dk1"/>
                </a:solidFill>
              </a:rPr>
            </a:br>
            <a:endParaRPr sz="1100" b="1" dirty="0">
              <a:solidFill>
                <a:schemeClr val="dk1"/>
              </a:solidFill>
            </a:endParaRPr>
          </a:p>
          <a:p>
            <a:pPr marL="0" lvl="0" indent="0" algn="l" rtl="0">
              <a:spcBef>
                <a:spcPts val="1200"/>
              </a:spcBef>
              <a:spcAft>
                <a:spcPts val="0"/>
              </a:spcAft>
              <a:buNone/>
            </a:pPr>
            <a:endParaRPr lang="en-IN" dirty="0"/>
          </a:p>
          <a:p>
            <a:pPr>
              <a:spcBef>
                <a:spcPts val="1200"/>
              </a:spcBef>
            </a:pPr>
            <a:r>
              <a:rPr lang="en-IN" b="1" dirty="0">
                <a:solidFill>
                  <a:schemeClr val="dk1"/>
                </a:solidFill>
              </a:rPr>
              <a:t>  </a:t>
            </a:r>
          </a:p>
          <a:p>
            <a:pPr>
              <a:spcBef>
                <a:spcPts val="1200"/>
              </a:spcBef>
            </a:pPr>
            <a:r>
              <a:rPr lang="en-IN" b="1" dirty="0">
                <a:solidFill>
                  <a:schemeClr val="dk1"/>
                </a:solidFill>
              </a:rPr>
              <a:t>Observations (Table Format)</a:t>
            </a:r>
          </a:p>
          <a:p>
            <a:pPr marL="0" lvl="0" indent="0" algn="l" rtl="0">
              <a:spcBef>
                <a:spcPts val="1200"/>
              </a:spcBef>
              <a:spcAft>
                <a:spcPts val="0"/>
              </a:spcAft>
              <a:buNone/>
            </a:pPr>
            <a:endParaRPr dirty="0"/>
          </a:p>
        </p:txBody>
      </p:sp>
      <p:sp>
        <p:nvSpPr>
          <p:cNvPr id="3" name="Rectangle 2">
            <a:extLst>
              <a:ext uri="{FF2B5EF4-FFF2-40B4-BE49-F238E27FC236}">
                <a16:creationId xmlns:a16="http://schemas.microsoft.com/office/drawing/2014/main" id="{3FAB2DED-0C6A-E8C8-ED9F-84287D0279F1}"/>
              </a:ext>
            </a:extLst>
          </p:cNvPr>
          <p:cNvSpPr>
            <a:spLocks noChangeArrowheads="1"/>
          </p:cNvSpPr>
          <p:nvPr/>
        </p:nvSpPr>
        <p:spPr bwMode="auto">
          <a:xfrm>
            <a:off x="393900" y="2674875"/>
            <a:ext cx="7528402" cy="600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1"/>
                </a:solidFill>
                <a:effectLst/>
                <a:latin typeface="Arial" panose="020B0604020202020204" pitchFamily="34" charset="0"/>
              </a:rPr>
              <a:t>Independent skilled workers, including painters and carpenters.</a:t>
            </a:r>
          </a:p>
          <a:p>
            <a:pPr eaLnBrk="0" fontAlgn="base" hangingPunct="0">
              <a:spcBef>
                <a:spcPct val="0"/>
              </a:spcBef>
              <a:spcAft>
                <a:spcPct val="0"/>
              </a:spcAft>
              <a:buClrTx/>
              <a:buFontTx/>
              <a:buChar char="•"/>
            </a:pPr>
            <a:r>
              <a:rPr kumimoji="0" lang="en-US" altLang="en-US" sz="1100" b="0" i="0" u="none" strike="noStrike" cap="none" normalizeH="0" baseline="0" dirty="0" err="1">
                <a:ln>
                  <a:noFill/>
                </a:ln>
                <a:solidFill>
                  <a:schemeClr val="tx1"/>
                </a:solidFill>
                <a:effectLst/>
                <a:latin typeface="Arial" panose="020B0604020202020204" pitchFamily="34" charset="0"/>
              </a:rPr>
              <a:t>Wor</a:t>
            </a:r>
            <a:r>
              <a:rPr lang="en-US" altLang="en-US" sz="1100" dirty="0" err="1">
                <a:solidFill>
                  <a:schemeClr val="tx1"/>
                </a:solidFill>
                <a:latin typeface="Arial" panose="020B0604020202020204" pitchFamily="34" charset="0"/>
              </a:rPr>
              <a:t>IT</a:t>
            </a:r>
            <a:r>
              <a:rPr lang="en-US" altLang="en-US" sz="1100" dirty="0">
                <a:solidFill>
                  <a:schemeClr val="tx1"/>
                </a:solidFill>
                <a:latin typeface="Arial" panose="020B0604020202020204" pitchFamily="34" charset="0"/>
              </a:rPr>
              <a:t> </a:t>
            </a:r>
            <a:r>
              <a:rPr lang="en-US" altLang="en-US" sz="1100" dirty="0" err="1">
                <a:solidFill>
                  <a:schemeClr val="tx1"/>
                </a:solidFill>
                <a:latin typeface="Arial" panose="020B0604020202020204" pitchFamily="34" charset="0"/>
              </a:rPr>
              <a:t>profeHinjewadi</a:t>
            </a:r>
            <a:r>
              <a:rPr lang="en-US" altLang="en-US" sz="1100" dirty="0">
                <a:solidFill>
                  <a:schemeClr val="tx1"/>
                </a:solidFill>
                <a:latin typeface="Arial" panose="020B0604020202020204" pitchFamily="34" charset="0"/>
              </a:rPr>
              <a:t> to gather insights from a potential customer base.</a:t>
            </a:r>
          </a:p>
          <a:p>
            <a:pPr lvl="0" eaLnBrk="0" fontAlgn="base" hangingPunct="0">
              <a:spcBef>
                <a:spcPct val="0"/>
              </a:spcBef>
              <a:spcAft>
                <a:spcPct val="0"/>
              </a:spcAft>
              <a:buClrTx/>
              <a:buFontTx/>
              <a:buChar char="•"/>
            </a:pPr>
            <a:r>
              <a:rPr lang="en-US" altLang="en-US" sz="1100" dirty="0" err="1">
                <a:solidFill>
                  <a:schemeClr val="tx1"/>
                </a:solidFill>
                <a:latin typeface="Arial" panose="020B0604020202020204" pitchFamily="34" charset="0"/>
              </a:rPr>
              <a:t>wokers</a:t>
            </a:r>
            <a:r>
              <a:rPr lang="en-US" altLang="en-US" sz="1100" dirty="0">
                <a:solidFill>
                  <a:schemeClr val="tx1"/>
                </a:solidFill>
                <a:latin typeface="Arial" panose="020B0604020202020204" pitchFamily="34" charset="0"/>
              </a:rPr>
              <a:t> on </a:t>
            </a:r>
            <a:r>
              <a:rPr lang="en-US" altLang="en-US" sz="1100" dirty="0" err="1">
                <a:solidFill>
                  <a:schemeClr val="tx1"/>
                </a:solidFill>
                <a:latin typeface="Arial" panose="020B0604020202020204" pitchFamily="34" charset="0"/>
              </a:rPr>
              <a:t>consssionals</a:t>
            </a:r>
            <a:r>
              <a:rPr lang="en-US" altLang="en-US" sz="1100" dirty="0">
                <a:solidFill>
                  <a:schemeClr val="tx1"/>
                </a:solidFill>
                <a:latin typeface="Arial" panose="020B0604020202020204" pitchFamily="34" charset="0"/>
              </a:rPr>
              <a:t> in </a:t>
            </a:r>
            <a:r>
              <a:rPr kumimoji="0" lang="en-US" altLang="en-US" sz="1100" b="0" i="0" u="none" strike="noStrike" cap="none" normalizeH="0" baseline="0" dirty="0" err="1">
                <a:ln>
                  <a:noFill/>
                </a:ln>
                <a:solidFill>
                  <a:schemeClr val="tx1"/>
                </a:solidFill>
                <a:effectLst/>
                <a:latin typeface="Arial" panose="020B0604020202020204" pitchFamily="34" charset="0"/>
              </a:rPr>
              <a:t>truction</a:t>
            </a:r>
            <a:r>
              <a:rPr kumimoji="0" lang="en-US" altLang="en-US" sz="1100" b="0" i="0" u="none" strike="noStrike" cap="none" normalizeH="0" baseline="0" dirty="0">
                <a:ln>
                  <a:noFill/>
                </a:ln>
                <a:solidFill>
                  <a:schemeClr val="tx1"/>
                </a:solidFill>
                <a:effectLst/>
                <a:latin typeface="Arial" panose="020B0604020202020204" pitchFamily="34" charset="0"/>
              </a:rPr>
              <a:t> sites to understand their job acquisition methods.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8"/>
          <p:cNvSpPr/>
          <p:nvPr/>
        </p:nvSpPr>
        <p:spPr>
          <a:xfrm>
            <a:off x="-100" y="0"/>
            <a:ext cx="9144000" cy="546900"/>
          </a:xfrm>
          <a:prstGeom prst="rect">
            <a:avLst/>
          </a:prstGeom>
          <a:solidFill>
            <a:srgbClr val="FCE5C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1100"/>
              <a:buFont typeface="Arial"/>
              <a:buNone/>
            </a:pPr>
            <a:r>
              <a:rPr lang="en" sz="3000" b="1">
                <a:solidFill>
                  <a:srgbClr val="980000"/>
                </a:solidFill>
                <a:latin typeface="Cambria"/>
                <a:ea typeface="Cambria"/>
                <a:cs typeface="Cambria"/>
                <a:sym typeface="Cambria"/>
              </a:rPr>
              <a:t>Data Collection and Analysis</a:t>
            </a:r>
            <a:endParaRPr sz="3000" b="1" i="0" u="none" strike="noStrike" cap="none">
              <a:solidFill>
                <a:srgbClr val="980000"/>
              </a:solidFill>
              <a:latin typeface="Cambria"/>
              <a:ea typeface="Cambria"/>
              <a:cs typeface="Cambria"/>
              <a:sym typeface="Cambria"/>
            </a:endParaRPr>
          </a:p>
        </p:txBody>
      </p:sp>
      <p:sp>
        <p:nvSpPr>
          <p:cNvPr id="95" name="Google Shape;95;p18"/>
          <p:cNvSpPr txBox="1"/>
          <p:nvPr/>
        </p:nvSpPr>
        <p:spPr>
          <a:xfrm>
            <a:off x="2016150" y="2674875"/>
            <a:ext cx="5429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
        <p:nvSpPr>
          <p:cNvPr id="96" name="Google Shape;96;p18"/>
          <p:cNvSpPr txBox="1"/>
          <p:nvPr/>
        </p:nvSpPr>
        <p:spPr>
          <a:xfrm>
            <a:off x="73200" y="798475"/>
            <a:ext cx="8676900" cy="2573700"/>
          </a:xfrm>
          <a:prstGeom prst="rect">
            <a:avLst/>
          </a:prstGeom>
          <a:noFill/>
          <a:ln>
            <a:noFill/>
          </a:ln>
        </p:spPr>
        <p:txBody>
          <a:bodyPr spcFirstLastPara="1" wrap="square" lIns="91425" tIns="91425" rIns="91425" bIns="91425" anchor="t" anchorCtr="0">
            <a:spAutoFit/>
          </a:bodyPr>
          <a:lstStyle/>
          <a:p>
            <a:pPr marL="457200" lvl="0" indent="-298450" algn="l" rtl="0">
              <a:lnSpc>
                <a:spcPct val="115000"/>
              </a:lnSpc>
              <a:spcBef>
                <a:spcPts val="1200"/>
              </a:spcBef>
              <a:spcAft>
                <a:spcPts val="0"/>
              </a:spcAft>
              <a:buClr>
                <a:schemeClr val="dk1"/>
              </a:buClr>
              <a:buSzPts val="1100"/>
              <a:buChar char="●"/>
            </a:pPr>
            <a:r>
              <a:rPr lang="en" sz="1100">
                <a:solidFill>
                  <a:schemeClr val="dk1"/>
                </a:solidFill>
              </a:rPr>
              <a:t>Survey results, interviews</a:t>
            </a:r>
            <a:br>
              <a:rPr lang="en" sz="1100">
                <a:solidFill>
                  <a:schemeClr val="dk1"/>
                </a:solidFill>
              </a:rPr>
            </a:b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Charts, graphs, or sample feedback</a:t>
            </a:r>
            <a:endParaRPr sz="1100">
              <a:solidFill>
                <a:schemeClr val="dk1"/>
              </a:solidFill>
            </a:endParaRPr>
          </a:p>
          <a:p>
            <a:pPr marL="457200" lvl="0" indent="0" algn="l" rtl="0">
              <a:lnSpc>
                <a:spcPct val="115000"/>
              </a:lnSpc>
              <a:spcBef>
                <a:spcPts val="1200"/>
              </a:spcBef>
              <a:spcAft>
                <a:spcPts val="0"/>
              </a:spcAft>
              <a:buNone/>
            </a:pPr>
            <a:endParaRPr sz="1100">
              <a:solidFill>
                <a:schemeClr val="dk1"/>
              </a:solidFill>
            </a:endParaRPr>
          </a:p>
          <a:p>
            <a:pPr marL="457200" lvl="0" indent="-298450" algn="l" rtl="0">
              <a:lnSpc>
                <a:spcPct val="115000"/>
              </a:lnSpc>
              <a:spcBef>
                <a:spcPts val="1200"/>
              </a:spcBef>
              <a:spcAft>
                <a:spcPts val="0"/>
              </a:spcAft>
              <a:buClr>
                <a:schemeClr val="dk1"/>
              </a:buClr>
              <a:buSzPts val="1100"/>
              <a:buChar char="●"/>
            </a:pPr>
            <a:r>
              <a:rPr lang="en" sz="1100">
                <a:solidFill>
                  <a:schemeClr val="dk1"/>
                </a:solidFill>
              </a:rPr>
              <a:t>Key patterns</a:t>
            </a:r>
            <a:br>
              <a:rPr lang="en" sz="1100">
                <a:solidFill>
                  <a:schemeClr val="dk1"/>
                </a:solidFill>
              </a:rPr>
            </a:b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Insights drawn</a:t>
            </a:r>
            <a:endParaRPr sz="1100">
              <a:solidFill>
                <a:schemeClr val="dk1"/>
              </a:solidFill>
            </a:endParaRPr>
          </a:p>
          <a:p>
            <a:pPr marL="457200" lvl="0" indent="0" algn="l" rtl="0">
              <a:lnSpc>
                <a:spcPct val="115000"/>
              </a:lnSpc>
              <a:spcBef>
                <a:spcPts val="1200"/>
              </a:spcBef>
              <a:spcAft>
                <a:spcPts val="0"/>
              </a:spcAft>
              <a:buNone/>
            </a:pPr>
            <a:endParaRPr sz="1100">
              <a:solidFill>
                <a:schemeClr val="dk1"/>
              </a:solidFill>
            </a:endParaRPr>
          </a:p>
          <a:p>
            <a:pPr marL="0" lvl="0" indent="0" algn="l" rtl="0">
              <a:spcBef>
                <a:spcPts val="1200"/>
              </a:spcBef>
              <a:spcAft>
                <a:spcPts val="0"/>
              </a:spcAft>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9"/>
          <p:cNvSpPr/>
          <p:nvPr/>
        </p:nvSpPr>
        <p:spPr>
          <a:xfrm>
            <a:off x="-100" y="0"/>
            <a:ext cx="9144000" cy="546900"/>
          </a:xfrm>
          <a:prstGeom prst="rect">
            <a:avLst/>
          </a:prstGeom>
          <a:solidFill>
            <a:srgbClr val="FCE5C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1100"/>
              <a:buFont typeface="Arial"/>
              <a:buNone/>
            </a:pPr>
            <a:r>
              <a:rPr lang="en" sz="3000" b="1">
                <a:solidFill>
                  <a:srgbClr val="980000"/>
                </a:solidFill>
                <a:latin typeface="Cambria"/>
                <a:ea typeface="Cambria"/>
                <a:cs typeface="Cambria"/>
                <a:sym typeface="Cambria"/>
              </a:rPr>
              <a:t>Constraints and Challenges </a:t>
            </a:r>
            <a:endParaRPr sz="3000" b="1" i="0" u="none" strike="noStrike" cap="none">
              <a:solidFill>
                <a:srgbClr val="980000"/>
              </a:solidFill>
              <a:latin typeface="Cambria"/>
              <a:ea typeface="Cambria"/>
              <a:cs typeface="Cambria"/>
              <a:sym typeface="Cambria"/>
            </a:endParaRPr>
          </a:p>
        </p:txBody>
      </p:sp>
      <p:sp>
        <p:nvSpPr>
          <p:cNvPr id="102" name="Google Shape;102;p19"/>
          <p:cNvSpPr txBox="1"/>
          <p:nvPr/>
        </p:nvSpPr>
        <p:spPr>
          <a:xfrm>
            <a:off x="2016150" y="2674875"/>
            <a:ext cx="5429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
        <p:nvSpPr>
          <p:cNvPr id="103" name="Google Shape;103;p19"/>
          <p:cNvSpPr txBox="1"/>
          <p:nvPr/>
        </p:nvSpPr>
        <p:spPr>
          <a:xfrm>
            <a:off x="286718" y="869882"/>
            <a:ext cx="86769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dirty="0">
                <a:solidFill>
                  <a:schemeClr val="dk1"/>
                </a:solidFill>
              </a:rPr>
              <a:t>Constraints &amp; Challenges Identified</a:t>
            </a:r>
            <a:br>
              <a:rPr lang="en" sz="1100" b="1" dirty="0">
                <a:solidFill>
                  <a:schemeClr val="dk1"/>
                </a:solidFill>
              </a:rPr>
            </a:br>
            <a:endParaRPr sz="1100" b="1" dirty="0">
              <a:solidFill>
                <a:schemeClr val="dk1"/>
              </a:solidFill>
            </a:endParaRPr>
          </a:p>
          <a:p>
            <a:pPr marL="0" lvl="0" indent="0" algn="l" rtl="0">
              <a:spcBef>
                <a:spcPts val="0"/>
              </a:spcBef>
              <a:spcAft>
                <a:spcPts val="0"/>
              </a:spcAft>
              <a:buClr>
                <a:schemeClr val="dk1"/>
              </a:buClr>
              <a:buSzPts val="1100"/>
              <a:buFont typeface="Arial"/>
              <a:buNone/>
            </a:pPr>
            <a:endParaRPr sz="1500" b="1" dirty="0">
              <a:solidFill>
                <a:srgbClr val="FF9900"/>
              </a:solidFill>
            </a:endParaRPr>
          </a:p>
        </p:txBody>
      </p:sp>
      <p:sp>
        <p:nvSpPr>
          <p:cNvPr id="3" name="Rectangle 2">
            <a:extLst>
              <a:ext uri="{FF2B5EF4-FFF2-40B4-BE49-F238E27FC236}">
                <a16:creationId xmlns:a16="http://schemas.microsoft.com/office/drawing/2014/main" id="{7DF8BAD8-4095-56C2-80C4-B842299C6E96}"/>
              </a:ext>
            </a:extLst>
          </p:cNvPr>
          <p:cNvSpPr>
            <a:spLocks noChangeArrowheads="1"/>
          </p:cNvSpPr>
          <p:nvPr/>
        </p:nvSpPr>
        <p:spPr bwMode="auto">
          <a:xfrm>
            <a:off x="286718" y="1327488"/>
            <a:ext cx="8857181"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Based on the project's literature review, the team identified key challenges that </a:t>
            </a:r>
            <a:r>
              <a:rPr kumimoji="0" lang="en-US" altLang="en-US" sz="1800" b="0" i="0" u="none" strike="noStrike" cap="none" normalizeH="0" baseline="0" dirty="0" err="1">
                <a:ln>
                  <a:noFill/>
                </a:ln>
                <a:solidFill>
                  <a:schemeClr val="tx1"/>
                </a:solidFill>
                <a:effectLst/>
                <a:latin typeface="Arial" panose="020B0604020202020204" pitchFamily="34" charset="0"/>
              </a:rPr>
              <a:t>SkillBridge</a:t>
            </a:r>
            <a:r>
              <a:rPr kumimoji="0" lang="en-US" altLang="en-US" sz="1800" b="0" i="0" u="none" strike="noStrike" cap="none" normalizeH="0" baseline="0" dirty="0">
                <a:ln>
                  <a:noFill/>
                </a:ln>
                <a:solidFill>
                  <a:schemeClr val="tx1"/>
                </a:solidFill>
                <a:effectLst/>
                <a:latin typeface="Arial" panose="020B0604020202020204" pitchFamily="34" charset="0"/>
              </a:rPr>
              <a:t> aims to address: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Integration Challenge:</a:t>
            </a:r>
            <a:r>
              <a:rPr kumimoji="0" lang="en-US" altLang="en-US" sz="1800" b="0" i="0" u="none" strike="noStrike" cap="none" normalizeH="0" baseline="0" dirty="0">
                <a:ln>
                  <a:noFill/>
                </a:ln>
                <a:solidFill>
                  <a:schemeClr val="tx1"/>
                </a:solidFill>
                <a:effectLst/>
                <a:latin typeface="Arial" panose="020B0604020202020204" pitchFamily="34" charset="0"/>
              </a:rPr>
              <a:t> Existing platforms often fail to integrate worker verification systems with effective location-based search features.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Real-Time Adaptability:</a:t>
            </a:r>
            <a:r>
              <a:rPr kumimoji="0" lang="en-US" altLang="en-US" sz="1800" b="0" i="0" u="none" strike="noStrike" cap="none" normalizeH="0" baseline="0" dirty="0">
                <a:ln>
                  <a:noFill/>
                </a:ln>
                <a:solidFill>
                  <a:schemeClr val="tx1"/>
                </a:solidFill>
                <a:effectLst/>
                <a:latin typeface="Arial" panose="020B0604020202020204" pitchFamily="34" charset="0"/>
              </a:rPr>
              <a:t> Many skill-matching systems lack the real-time learning and location-aware capabilities needed for on-demand local services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20"/>
          <p:cNvSpPr/>
          <p:nvPr/>
        </p:nvSpPr>
        <p:spPr>
          <a:xfrm>
            <a:off x="-100" y="0"/>
            <a:ext cx="9144000" cy="546900"/>
          </a:xfrm>
          <a:prstGeom prst="rect">
            <a:avLst/>
          </a:prstGeom>
          <a:solidFill>
            <a:srgbClr val="FCE5C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1200"/>
              </a:spcBef>
              <a:spcAft>
                <a:spcPts val="1200"/>
              </a:spcAft>
              <a:buClr>
                <a:schemeClr val="dk1"/>
              </a:buClr>
              <a:buSzPts val="1100"/>
              <a:buFont typeface="Arial"/>
              <a:buNone/>
            </a:pPr>
            <a:r>
              <a:rPr lang="en" sz="3000" b="1">
                <a:solidFill>
                  <a:srgbClr val="980000"/>
                </a:solidFill>
                <a:latin typeface="Cambria"/>
                <a:ea typeface="Cambria"/>
                <a:cs typeface="Cambria"/>
                <a:sym typeface="Cambria"/>
              </a:rPr>
              <a:t>Ideas for Possible Solutions</a:t>
            </a:r>
            <a:endParaRPr sz="1100" b="1">
              <a:solidFill>
                <a:schemeClr val="dk1"/>
              </a:solidFill>
            </a:endParaRPr>
          </a:p>
        </p:txBody>
      </p:sp>
      <p:sp>
        <p:nvSpPr>
          <p:cNvPr id="109" name="Google Shape;109;p20"/>
          <p:cNvSpPr txBox="1"/>
          <p:nvPr/>
        </p:nvSpPr>
        <p:spPr>
          <a:xfrm>
            <a:off x="2016150" y="2674875"/>
            <a:ext cx="5429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
        <p:nvSpPr>
          <p:cNvPr id="110" name="Google Shape;110;p20"/>
          <p:cNvSpPr txBox="1"/>
          <p:nvPr/>
        </p:nvSpPr>
        <p:spPr>
          <a:xfrm>
            <a:off x="73200" y="798475"/>
            <a:ext cx="8676900" cy="354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Clr>
                <a:schemeClr val="dk1"/>
              </a:buClr>
              <a:buSzPts val="1100"/>
              <a:buFont typeface="Arial"/>
              <a:buNone/>
            </a:pPr>
            <a:endParaRPr sz="1100" b="1">
              <a:solidFill>
                <a:schemeClr val="dk1"/>
              </a:solidFill>
            </a:endParaRPr>
          </a:p>
        </p:txBody>
      </p:sp>
      <p:sp>
        <p:nvSpPr>
          <p:cNvPr id="4" name="Rectangle 3">
            <a:extLst>
              <a:ext uri="{FF2B5EF4-FFF2-40B4-BE49-F238E27FC236}">
                <a16:creationId xmlns:a16="http://schemas.microsoft.com/office/drawing/2014/main" id="{7257E5DF-A2C2-F2AB-DE30-096C30F6BDAD}"/>
              </a:ext>
            </a:extLst>
          </p:cNvPr>
          <p:cNvSpPr>
            <a:spLocks noChangeArrowheads="1"/>
          </p:cNvSpPr>
          <p:nvPr/>
        </p:nvSpPr>
        <p:spPr bwMode="auto">
          <a:xfrm>
            <a:off x="0" y="842559"/>
            <a:ext cx="903164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Arial" panose="020B0604020202020204" pitchFamily="34" charset="0"/>
              </a:rPr>
              <a:t>The proposed solution is the </a:t>
            </a:r>
            <a:r>
              <a:rPr kumimoji="0" lang="en-US" altLang="en-US" sz="1000" b="1" i="0" u="none" strike="noStrike" cap="none" normalizeH="0" baseline="0" dirty="0" err="1">
                <a:ln>
                  <a:noFill/>
                </a:ln>
                <a:solidFill>
                  <a:schemeClr val="tx1"/>
                </a:solidFill>
                <a:effectLst/>
                <a:latin typeface="Arial" panose="020B0604020202020204" pitchFamily="34" charset="0"/>
              </a:rPr>
              <a:t>SkillBridge</a:t>
            </a:r>
            <a:r>
              <a:rPr kumimoji="0" lang="en-US" altLang="en-US" sz="1000" b="1" i="0" u="none" strike="noStrike" cap="none" normalizeH="0" baseline="0" dirty="0">
                <a:ln>
                  <a:noFill/>
                </a:ln>
                <a:solidFill>
                  <a:schemeClr val="tx1"/>
                </a:solidFill>
                <a:effectLst/>
                <a:latin typeface="Arial" panose="020B0604020202020204" pitchFamily="34" charset="0"/>
              </a:rPr>
              <a:t> web platform</a:t>
            </a:r>
            <a:r>
              <a:rPr kumimoji="0" lang="en-US" altLang="en-US" sz="1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dirty="0">
                <a:ln>
                  <a:noFill/>
                </a:ln>
                <a:solidFill>
                  <a:schemeClr val="tx1"/>
                </a:solidFill>
                <a:effectLst/>
                <a:latin typeface="Arial" panose="020B0604020202020204" pitchFamily="34" charset="0"/>
              </a:rPr>
              <a:t>Brief Outline: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0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dirty="0">
                <a:ln>
                  <a:noFill/>
                </a:ln>
                <a:solidFill>
                  <a:schemeClr val="tx1"/>
                </a:solidFill>
                <a:effectLst/>
                <a:latin typeface="Arial" panose="020B0604020202020204" pitchFamily="34" charset="0"/>
              </a:rPr>
              <a:t>Registration &amp; Verification:</a:t>
            </a:r>
            <a:r>
              <a:rPr kumimoji="0" lang="en-US" altLang="en-US" sz="1000" b="0" i="0" u="none" strike="noStrike" cap="none" normalizeH="0" baseline="0" dirty="0">
                <a:ln>
                  <a:noFill/>
                </a:ln>
                <a:solidFill>
                  <a:schemeClr val="tx1"/>
                </a:solidFill>
                <a:effectLst/>
                <a:latin typeface="Arial" panose="020B0604020202020204" pitchFamily="34" charset="0"/>
              </a:rPr>
              <a:t> A simple onboarding process where workers can upload skill proofs and ID to build trust.</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10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dirty="0">
                <a:ln>
                  <a:noFill/>
                </a:ln>
                <a:solidFill>
                  <a:schemeClr val="tx1"/>
                </a:solidFill>
                <a:effectLst/>
                <a:latin typeface="Arial" panose="020B0604020202020204" pitchFamily="34" charset="0"/>
              </a:rPr>
              <a:t>Job Posting:</a:t>
            </a:r>
            <a:r>
              <a:rPr kumimoji="0" lang="en-US" altLang="en-US" sz="1000" b="0" i="0" u="none" strike="noStrike" cap="none" normalizeH="0" baseline="0" dirty="0">
                <a:ln>
                  <a:noFill/>
                </a:ln>
                <a:solidFill>
                  <a:schemeClr val="tx1"/>
                </a:solidFill>
                <a:effectLst/>
                <a:latin typeface="Arial" panose="020B0604020202020204" pitchFamily="34" charset="0"/>
              </a:rPr>
              <a:t> Customers can post jobs with clear details about location and price.</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10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dirty="0">
                <a:ln>
                  <a:noFill/>
                </a:ln>
                <a:solidFill>
                  <a:schemeClr val="tx1"/>
                </a:solidFill>
                <a:effectLst/>
                <a:latin typeface="Arial" panose="020B0604020202020204" pitchFamily="34" charset="0"/>
              </a:rPr>
              <a:t>Smart Matching:</a:t>
            </a:r>
            <a:r>
              <a:rPr kumimoji="0" lang="en-US" altLang="en-US" sz="1000" b="0" i="0" u="none" strike="noStrike" cap="none" normalizeH="0" baseline="0" dirty="0">
                <a:ln>
                  <a:noFill/>
                </a:ln>
                <a:solidFill>
                  <a:schemeClr val="tx1"/>
                </a:solidFill>
                <a:effectLst/>
                <a:latin typeface="Arial" panose="020B0604020202020204" pitchFamily="34" charset="0"/>
              </a:rPr>
              <a:t> The system's backend will use location data to find and notify nearby workers.</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10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dirty="0">
                <a:ln>
                  <a:noFill/>
                </a:ln>
                <a:solidFill>
                  <a:schemeClr val="tx1"/>
                </a:solidFill>
                <a:effectLst/>
                <a:latin typeface="Arial" panose="020B0604020202020204" pitchFamily="34" charset="0"/>
              </a:rPr>
              <a:t>Instant Notification:</a:t>
            </a:r>
            <a:r>
              <a:rPr kumimoji="0" lang="en-US" altLang="en-US" sz="1000" b="0" i="0" u="none" strike="noStrike" cap="none" normalizeH="0" baseline="0" dirty="0">
                <a:ln>
                  <a:noFill/>
                </a:ln>
                <a:solidFill>
                  <a:schemeClr val="tx1"/>
                </a:solidFill>
                <a:effectLst/>
                <a:latin typeface="Arial" panose="020B0604020202020204" pitchFamily="34" charset="0"/>
              </a:rPr>
              <a:t> Workers will receive alerts via the app, supplemented with WhatsApp/SMS notifications.</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10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dirty="0">
                <a:ln>
                  <a:noFill/>
                </a:ln>
                <a:solidFill>
                  <a:schemeClr val="tx1"/>
                </a:solidFill>
                <a:effectLst/>
                <a:latin typeface="Arial" panose="020B0604020202020204" pitchFamily="34" charset="0"/>
              </a:rPr>
              <a:t>Feedback System:</a:t>
            </a:r>
            <a:r>
              <a:rPr kumimoji="0" lang="en-US" altLang="en-US" sz="1000" b="0" i="0" u="none" strike="noStrike" cap="none" normalizeH="0" baseline="0" dirty="0">
                <a:ln>
                  <a:noFill/>
                </a:ln>
                <a:solidFill>
                  <a:schemeClr val="tx1"/>
                </a:solidFill>
                <a:effectLst/>
                <a:latin typeface="Arial" panose="020B0604020202020204" pitchFamily="34" charset="0"/>
              </a:rPr>
              <a:t> A rating and review system will allow customers to provide feedback after a job is completed, creating a merit-based ecosystem</a:t>
            </a:r>
          </a:p>
          <a:p>
            <a:pPr marL="457200" marR="0" lvl="1" indent="0" algn="l" defTabSz="914400" rtl="0" eaLnBrk="0" fontAlgn="base" latinLnBrk="0" hangingPunct="0">
              <a:lnSpc>
                <a:spcPct val="100000"/>
              </a:lnSpc>
              <a:spcBef>
                <a:spcPct val="0"/>
              </a:spcBef>
              <a:spcAft>
                <a:spcPct val="0"/>
              </a:spcAft>
              <a:buClrTx/>
              <a:buSzTx/>
              <a:tabLst/>
            </a:pPr>
            <a:r>
              <a:rPr kumimoji="0" lang="en-US" altLang="en-US" sz="10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dirty="0">
                <a:ln>
                  <a:noFill/>
                </a:ln>
                <a:solidFill>
                  <a:schemeClr val="tx1"/>
                </a:solidFill>
                <a:effectLst/>
                <a:latin typeface="Arial" panose="020B0604020202020204" pitchFamily="34" charset="0"/>
              </a:rPr>
              <a:t>Future Scope:</a:t>
            </a:r>
            <a:r>
              <a:rPr kumimoji="0" lang="en-US" altLang="en-US" sz="1000" b="0" i="0" u="none" strike="noStrike" cap="none" normalizeH="0" baseline="0" dirty="0">
                <a:ln>
                  <a:noFill/>
                </a:ln>
                <a:solidFill>
                  <a:schemeClr val="tx1"/>
                </a:solidFill>
                <a:effectLst/>
                <a:latin typeface="Arial" panose="020B0604020202020204" pitchFamily="34" charset="0"/>
              </a:rPr>
              <a:t> A secure, integrated payment system is planned for a future release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1"/>
          <p:cNvSpPr/>
          <p:nvPr/>
        </p:nvSpPr>
        <p:spPr>
          <a:xfrm>
            <a:off x="-100" y="0"/>
            <a:ext cx="9144000" cy="546900"/>
          </a:xfrm>
          <a:prstGeom prst="rect">
            <a:avLst/>
          </a:prstGeom>
          <a:solidFill>
            <a:srgbClr val="FCE5C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1200"/>
              </a:spcBef>
              <a:spcAft>
                <a:spcPts val="1200"/>
              </a:spcAft>
              <a:buClr>
                <a:schemeClr val="dk1"/>
              </a:buClr>
              <a:buSzPts val="1100"/>
              <a:buFont typeface="Arial"/>
              <a:buNone/>
            </a:pPr>
            <a:r>
              <a:rPr lang="en" sz="3000" b="1">
                <a:solidFill>
                  <a:srgbClr val="980000"/>
                </a:solidFill>
                <a:latin typeface="Cambria"/>
                <a:ea typeface="Cambria"/>
                <a:cs typeface="Cambria"/>
                <a:sym typeface="Cambria"/>
              </a:rPr>
              <a:t>Q and A</a:t>
            </a:r>
            <a:endParaRPr sz="1100" b="1">
              <a:solidFill>
                <a:schemeClr val="dk1"/>
              </a:solidFill>
            </a:endParaRPr>
          </a:p>
        </p:txBody>
      </p:sp>
      <p:sp>
        <p:nvSpPr>
          <p:cNvPr id="117" name="Google Shape;117;p21"/>
          <p:cNvSpPr txBox="1"/>
          <p:nvPr/>
        </p:nvSpPr>
        <p:spPr>
          <a:xfrm>
            <a:off x="2016150" y="2674875"/>
            <a:ext cx="5429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
        <p:nvSpPr>
          <p:cNvPr id="118" name="Google Shape;118;p21"/>
          <p:cNvSpPr txBox="1"/>
          <p:nvPr/>
        </p:nvSpPr>
        <p:spPr>
          <a:xfrm>
            <a:off x="73200" y="798475"/>
            <a:ext cx="8676900" cy="354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Clr>
                <a:schemeClr val="dk1"/>
              </a:buClr>
              <a:buSzPts val="1100"/>
              <a:buFont typeface="Arial"/>
              <a:buNone/>
            </a:pPr>
            <a:endParaRPr sz="1100" b="1">
              <a:solidFill>
                <a:schemeClr val="dk1"/>
              </a:solidFill>
            </a:endParaRPr>
          </a:p>
        </p:txBody>
      </p:sp>
      <p:sp>
        <p:nvSpPr>
          <p:cNvPr id="36" name="TextBox 35">
            <a:extLst>
              <a:ext uri="{FF2B5EF4-FFF2-40B4-BE49-F238E27FC236}">
                <a16:creationId xmlns:a16="http://schemas.microsoft.com/office/drawing/2014/main" id="{036A5B68-C65D-EA9A-9B13-C3C45A174E3C}"/>
              </a:ext>
            </a:extLst>
          </p:cNvPr>
          <p:cNvSpPr txBox="1"/>
          <p:nvPr/>
        </p:nvSpPr>
        <p:spPr>
          <a:xfrm>
            <a:off x="569626" y="982149"/>
            <a:ext cx="7577528" cy="3785652"/>
          </a:xfrm>
          <a:prstGeom prst="rect">
            <a:avLst/>
          </a:prstGeom>
          <a:noFill/>
        </p:spPr>
        <p:txBody>
          <a:bodyPr wrap="square">
            <a:spAutoFit/>
          </a:bodyPr>
          <a:lstStyle/>
          <a:p>
            <a:pPr>
              <a:buNone/>
            </a:pPr>
            <a:r>
              <a:rPr lang="en-US" sz="1000" b="1" dirty="0"/>
              <a:t>Q1: What is the main problem that </a:t>
            </a:r>
            <a:r>
              <a:rPr lang="en-US" sz="1000" b="1" dirty="0" err="1"/>
              <a:t>SkillBridge</a:t>
            </a:r>
            <a:r>
              <a:rPr lang="en-US" sz="1000" b="1" dirty="0"/>
              <a:t> aims to solve?</a:t>
            </a:r>
            <a:endParaRPr lang="en-US" sz="1000" dirty="0"/>
          </a:p>
          <a:p>
            <a:pPr>
              <a:buNone/>
            </a:pPr>
            <a:r>
              <a:rPr lang="en-US" sz="1000" b="1" dirty="0"/>
              <a:t>A:</a:t>
            </a:r>
            <a:r>
              <a:rPr lang="en-US" sz="1000" dirty="0"/>
              <a:t> The project addresses the core problem that local skilled workers, like plumbers and carpenters, struggle to find consistent job opportunities, while customers find it difficult to locate reliable, verified professionals in their local area.</a:t>
            </a:r>
          </a:p>
          <a:p>
            <a:pPr>
              <a:buNone/>
            </a:pPr>
            <a:br>
              <a:rPr lang="en-US" sz="1000" dirty="0"/>
            </a:br>
            <a:endParaRPr lang="en-US" sz="1000" dirty="0"/>
          </a:p>
          <a:p>
            <a:pPr>
              <a:buNone/>
            </a:pPr>
            <a:r>
              <a:rPr lang="en-US" sz="1000" b="1" dirty="0"/>
              <a:t>Q2: Who are the primary users or beneficiaries of the </a:t>
            </a:r>
            <a:r>
              <a:rPr lang="en-US" sz="1000" b="1" dirty="0" err="1"/>
              <a:t>SkillBridge</a:t>
            </a:r>
            <a:r>
              <a:rPr lang="en-US" sz="1000" b="1" dirty="0"/>
              <a:t> platform?</a:t>
            </a:r>
            <a:endParaRPr lang="en-US" sz="1000" dirty="0"/>
          </a:p>
          <a:p>
            <a:pPr>
              <a:buNone/>
            </a:pPr>
            <a:r>
              <a:rPr lang="en-US" sz="1000" b="1" dirty="0"/>
              <a:t>A:</a:t>
            </a:r>
            <a:r>
              <a:rPr lang="en-US" sz="1000" dirty="0"/>
              <a:t> The platform is designed for two main groups:</a:t>
            </a:r>
          </a:p>
          <a:p>
            <a:pPr>
              <a:buFont typeface="Arial" panose="020B0604020202020204" pitchFamily="34" charset="0"/>
              <a:buChar char="•"/>
            </a:pPr>
            <a:r>
              <a:rPr lang="en-US" sz="1000" b="1" dirty="0"/>
              <a:t>Skilled Workers:</a:t>
            </a:r>
            <a:r>
              <a:rPr lang="en-US" sz="1000" dirty="0"/>
              <a:t> Plumbers, electricians, carpenters, and painters who need better access to local jobs.</a:t>
            </a:r>
          </a:p>
          <a:p>
            <a:pPr>
              <a:buFont typeface="Arial" panose="020B0604020202020204" pitchFamily="34" charset="0"/>
              <a:buChar char="•"/>
            </a:pPr>
            <a:r>
              <a:rPr lang="en-US" sz="1000" b="1" dirty="0"/>
              <a:t>Customers:</a:t>
            </a:r>
            <a:r>
              <a:rPr lang="en-US" sz="1000" dirty="0"/>
              <a:t> Households and small businesses in urban and semi-urban communities that require professional repair and maintenance services.</a:t>
            </a:r>
          </a:p>
          <a:p>
            <a:pPr>
              <a:buNone/>
            </a:pPr>
            <a:br>
              <a:rPr lang="en-US" sz="1000" dirty="0"/>
            </a:br>
            <a:endParaRPr lang="en-US" sz="1000" dirty="0"/>
          </a:p>
          <a:p>
            <a:pPr>
              <a:buNone/>
            </a:pPr>
            <a:r>
              <a:rPr lang="en-US" sz="1000" b="1" dirty="0"/>
              <a:t>Q3: What technologies will be used to build the </a:t>
            </a:r>
            <a:r>
              <a:rPr lang="en-US" sz="1000" b="1" dirty="0" err="1"/>
              <a:t>SkillBridge</a:t>
            </a:r>
            <a:r>
              <a:rPr lang="en-US" sz="1000" b="1" dirty="0"/>
              <a:t> platform?</a:t>
            </a:r>
            <a:endParaRPr lang="en-US" sz="1000" dirty="0"/>
          </a:p>
          <a:p>
            <a:pPr>
              <a:buNone/>
            </a:pPr>
            <a:r>
              <a:rPr lang="en-US" sz="1000" b="1" dirty="0"/>
              <a:t>A:</a:t>
            </a:r>
            <a:r>
              <a:rPr lang="en-US" sz="1000" dirty="0"/>
              <a:t> The platform will be a web application built with a modern tech stack:</a:t>
            </a:r>
          </a:p>
          <a:p>
            <a:pPr>
              <a:buFont typeface="Arial" panose="020B0604020202020204" pitchFamily="34" charset="0"/>
              <a:buChar char="•"/>
            </a:pPr>
            <a:r>
              <a:rPr lang="en-US" sz="1000" b="1" dirty="0"/>
              <a:t>Frontend:</a:t>
            </a:r>
            <a:r>
              <a:rPr lang="en-US" sz="1000" dirty="0"/>
              <a:t> HTML, Tailwind CSS, and React.</a:t>
            </a:r>
          </a:p>
          <a:p>
            <a:pPr>
              <a:buFont typeface="Arial" panose="020B0604020202020204" pitchFamily="34" charset="0"/>
              <a:buChar char="•"/>
            </a:pPr>
            <a:r>
              <a:rPr lang="en-US" sz="1000" b="1" dirty="0"/>
              <a:t>Backend:</a:t>
            </a:r>
            <a:r>
              <a:rPr lang="en-US" sz="1000" dirty="0"/>
              <a:t> Node.js.</a:t>
            </a:r>
          </a:p>
          <a:p>
            <a:pPr>
              <a:buFont typeface="Arial" panose="020B0604020202020204" pitchFamily="34" charset="0"/>
              <a:buChar char="•"/>
            </a:pPr>
            <a:r>
              <a:rPr lang="en-US" sz="1000" b="1" dirty="0"/>
              <a:t>Database:</a:t>
            </a:r>
            <a:r>
              <a:rPr lang="en-US" sz="1000" dirty="0"/>
              <a:t> MongoDB or MySQL.</a:t>
            </a:r>
          </a:p>
          <a:p>
            <a:pPr>
              <a:buFont typeface="Arial" panose="020B0604020202020204" pitchFamily="34" charset="0"/>
              <a:buChar char="•"/>
            </a:pPr>
            <a:r>
              <a:rPr lang="en-US" sz="1000" b="1" dirty="0"/>
              <a:t>APIs:</a:t>
            </a:r>
            <a:r>
              <a:rPr lang="en-US" sz="1000" dirty="0"/>
              <a:t> Google Maps for location-based matching and WhatsApp for notifications.</a:t>
            </a:r>
          </a:p>
          <a:p>
            <a:pPr>
              <a:buNone/>
            </a:pPr>
            <a:br>
              <a:rPr lang="en-US" sz="1000" dirty="0"/>
            </a:br>
            <a:endParaRPr lang="en-US" sz="1000" dirty="0"/>
          </a:p>
          <a:p>
            <a:pPr>
              <a:buNone/>
            </a:pPr>
            <a:r>
              <a:rPr lang="en-US" sz="1000" b="1" dirty="0"/>
              <a:t>Q4: How does the platform plan to build trust between customers and workers?</a:t>
            </a:r>
            <a:endParaRPr lang="en-US" sz="1000" dirty="0"/>
          </a:p>
          <a:p>
            <a:pPr>
              <a:buNone/>
            </a:pPr>
            <a:r>
              <a:rPr lang="en-US" sz="1000" b="1" dirty="0"/>
              <a:t>A:</a:t>
            </a:r>
            <a:r>
              <a:rPr lang="en-US" sz="1000" dirty="0"/>
              <a:t> Trust is a central feature, established through a </a:t>
            </a:r>
            <a:r>
              <a:rPr lang="en-US" sz="1000" b="1" dirty="0"/>
              <a:t>worker verification process</a:t>
            </a:r>
            <a:r>
              <a:rPr lang="en-US" sz="1000" dirty="0"/>
              <a:t>. Workers must upload proof of their skills and a valid ID during profile setup. Additionally, a </a:t>
            </a:r>
            <a:r>
              <a:rPr lang="en-US" sz="1000" b="1" dirty="0"/>
              <a:t>customer rating and review system</a:t>
            </a:r>
            <a:r>
              <a:rPr lang="en-US" sz="1000" dirty="0"/>
              <a:t> will be implemented to create a transparent, performance-based reputation for each worker.</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820</Words>
  <Application>Microsoft Office PowerPoint</Application>
  <PresentationFormat>On-screen Show (16:9)</PresentationFormat>
  <Paragraphs>87</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Cambria</vt:lpstr>
      <vt:lpstr>Times New Roman</vt:lpstr>
      <vt:lpstr>Simple Light</vt:lpstr>
      <vt:lpstr>   Marathwada Mitra Mandal's COLLEGE OF ENGINEERING, Karve Nagar, Pune - 52 An Autonomous Institute Affiliated to SPPU                             Website: www.mmcoe.edu.in                                                                 email id: mmcoe@mmcoe.edu.in  </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Atharva Pardeshi</dc:creator>
  <cp:lastModifiedBy>Atharva Pardeshi</cp:lastModifiedBy>
  <cp:revision>1</cp:revision>
  <dcterms:modified xsi:type="dcterms:W3CDTF">2025-09-30T18:31:17Z</dcterms:modified>
</cp:coreProperties>
</file>