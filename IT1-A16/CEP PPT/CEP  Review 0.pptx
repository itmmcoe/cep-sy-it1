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3" roundtripDataSignature="AMtx7mgC6RU6tpHV9B2FH02nJ9FrhlJU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E84FEC-6E59-448D-B426-0189CDBA40EC}">
  <a:tblStyle styleId="{55E84FEC-6E59-448D-B426-0189CDBA40EC}"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2FC58C9A-642C-4D7C-8E2D-5FA97330D96E}"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5.xml"/><Relationship Id="rId22" Type="http://schemas.openxmlformats.org/officeDocument/2006/relationships/font" Target="fonts/Roboto-boldItalic.fntdata"/><Relationship Id="rId10" Type="http://schemas.openxmlformats.org/officeDocument/2006/relationships/slide" Target="slides/slide4.xml"/><Relationship Id="rId21" Type="http://schemas.openxmlformats.org/officeDocument/2006/relationships/font" Target="fonts/Roboto-italic.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075f685d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8075f685df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0" name="Shape 50"/>
        <p:cNvGrpSpPr/>
        <p:nvPr/>
      </p:nvGrpSpPr>
      <p:grpSpPr>
        <a:xfrm>
          <a:off x="0" y="0"/>
          <a:ext cx="0" cy="0"/>
          <a:chOff x="0" y="0"/>
          <a:chExt cx="0" cy="0"/>
        </a:xfrm>
      </p:grpSpPr>
      <p:sp>
        <p:nvSpPr>
          <p:cNvPr id="51" name="Google Shape;5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24"/>
          <p:cNvSpPr txBox="1"/>
          <p:nvPr/>
        </p:nvSpPr>
        <p:spPr>
          <a:xfrm>
            <a:off x="0" y="4573675"/>
            <a:ext cx="9186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Cambria"/>
                <a:ea typeface="Cambria"/>
                <a:cs typeface="Cambria"/>
                <a:sym typeface="Cambria"/>
              </a:rPr>
              <a:t>Marathwada Mitra Mandal’s College of Engineering          </a:t>
            </a:r>
            <a:endParaRPr b="0" i="0" sz="1500" u="none" cap="none" strike="noStrike">
              <a:solidFill>
                <a:srgbClr val="98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980000"/>
                </a:solidFill>
                <a:latin typeface="Cambria"/>
                <a:ea typeface="Cambria"/>
                <a:cs typeface="Cambria"/>
                <a:sym typeface="Cambria"/>
              </a:rPr>
              <a:t>DEPARTMENT OF INFORMATION TECHNOLOGY     </a:t>
            </a:r>
            <a:endParaRPr b="1" i="0" sz="1500" u="none" cap="none" strike="noStrike">
              <a:solidFill>
                <a:srgbClr val="980000"/>
              </a:solidFill>
              <a:latin typeface="Cambria"/>
              <a:ea typeface="Cambria"/>
              <a:cs typeface="Cambria"/>
              <a:sym typeface="Cambria"/>
            </a:endParaRPr>
          </a:p>
        </p:txBody>
      </p:sp>
      <p:pic>
        <p:nvPicPr>
          <p:cNvPr id="54" name="Google Shape;54;p24"/>
          <p:cNvPicPr preferRelativeResize="0"/>
          <p:nvPr/>
        </p:nvPicPr>
        <p:blipFill rotWithShape="1">
          <a:blip r:embed="rId2">
            <a:alphaModFix/>
          </a:blip>
          <a:srcRect b="0" l="0" r="0" t="0"/>
          <a:stretch/>
        </p:blipFill>
        <p:spPr>
          <a:xfrm>
            <a:off x="1802300" y="4575112"/>
            <a:ext cx="513526" cy="569825"/>
          </a:xfrm>
          <a:prstGeom prst="rect">
            <a:avLst/>
          </a:prstGeom>
          <a:noFill/>
          <a:ln>
            <a:noFill/>
          </a:ln>
        </p:spPr>
      </p:pic>
      <p:pic>
        <p:nvPicPr>
          <p:cNvPr id="55" name="Google Shape;55;p24"/>
          <p:cNvPicPr preferRelativeResize="0"/>
          <p:nvPr/>
        </p:nvPicPr>
        <p:blipFill rotWithShape="1">
          <a:blip r:embed="rId3">
            <a:alphaModFix/>
          </a:blip>
          <a:srcRect b="0" l="0" r="0" t="0"/>
          <a:stretch/>
        </p:blipFill>
        <p:spPr>
          <a:xfrm>
            <a:off x="7195175" y="4618450"/>
            <a:ext cx="633511" cy="4831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235500" y="134975"/>
            <a:ext cx="8520600" cy="1455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lang="en" sz="1200">
                <a:latin typeface="Times New Roman"/>
                <a:ea typeface="Times New Roman"/>
                <a:cs typeface="Times New Roman"/>
                <a:sym typeface="Times New Roman"/>
              </a:rPr>
              <a:t>Marathwada Mitra Mandal's</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b="1" lang="en" sz="1200">
                <a:latin typeface="Times New Roman"/>
                <a:ea typeface="Times New Roman"/>
                <a:cs typeface="Times New Roman"/>
                <a:sym typeface="Times New Roman"/>
              </a:rPr>
              <a:t>COLLEGE OF ENGINEERING, Karve Nagar, Pune - 52</a:t>
            </a:r>
            <a:endParaRPr b="1"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lang="en" sz="1200">
                <a:latin typeface="Times New Roman"/>
                <a:ea typeface="Times New Roman"/>
                <a:cs typeface="Times New Roman"/>
                <a:sym typeface="Times New Roman"/>
              </a:rPr>
              <a:t>An Autonomous Institute Affiliated to SPPU</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lang="en" sz="1200">
                <a:solidFill>
                  <a:srgbClr val="941A1B"/>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Website</a:t>
            </a:r>
            <a:r>
              <a:rPr lang="en" sz="1200">
                <a:solidFill>
                  <a:srgbClr val="941A1B"/>
                </a:solidFill>
                <a:latin typeface="Times New Roman"/>
                <a:ea typeface="Times New Roman"/>
                <a:cs typeface="Times New Roman"/>
                <a:sym typeface="Times New Roman"/>
              </a:rPr>
              <a:t>: </a:t>
            </a:r>
            <a:r>
              <a:rPr lang="en" sz="1200" u="sng">
                <a:solidFill>
                  <a:srgbClr val="3333CC"/>
                </a:solidFill>
                <a:latin typeface="Times New Roman"/>
                <a:ea typeface="Times New Roman"/>
                <a:cs typeface="Times New Roman"/>
                <a:sym typeface="Times New Roman"/>
              </a:rPr>
              <a:t>www.mmcoe.edu.in</a:t>
            </a:r>
            <a:r>
              <a:rPr lang="en" sz="1200">
                <a:solidFill>
                  <a:srgbClr val="941A1B"/>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   email id:</a:t>
            </a:r>
            <a:r>
              <a:rPr lang="en" sz="1200">
                <a:solidFill>
                  <a:srgbClr val="941A1B"/>
                </a:solidFill>
                <a:latin typeface="Times New Roman"/>
                <a:ea typeface="Times New Roman"/>
                <a:cs typeface="Times New Roman"/>
                <a:sym typeface="Times New Roman"/>
              </a:rPr>
              <a:t> </a:t>
            </a:r>
            <a:r>
              <a:rPr lang="en" sz="1200" u="sng">
                <a:solidFill>
                  <a:srgbClr val="3333CC"/>
                </a:solidFill>
                <a:latin typeface="Times New Roman"/>
                <a:ea typeface="Times New Roman"/>
                <a:cs typeface="Times New Roman"/>
                <a:sym typeface="Times New Roman"/>
              </a:rPr>
              <a:t>mmcoe@mmcoe.edu.in</a:t>
            </a:r>
            <a:endParaRPr sz="1200">
              <a:solidFill>
                <a:srgbClr val="941A1B"/>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t/>
            </a:r>
            <a:endParaRPr b="1" sz="1900">
              <a:solidFill>
                <a:srgbClr val="5C2D91"/>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990"/>
              <a:buNone/>
            </a:pPr>
            <a:r>
              <a:t/>
            </a:r>
            <a:endParaRPr b="1" sz="1979">
              <a:latin typeface="Cambria"/>
              <a:ea typeface="Cambria"/>
              <a:cs typeface="Cambria"/>
              <a:sym typeface="Cambria"/>
            </a:endParaRPr>
          </a:p>
        </p:txBody>
      </p:sp>
      <p:sp>
        <p:nvSpPr>
          <p:cNvPr id="61" name="Google Shape;61;p1"/>
          <p:cNvSpPr txBox="1"/>
          <p:nvPr>
            <p:ph idx="1" type="subTitle"/>
          </p:nvPr>
        </p:nvSpPr>
        <p:spPr>
          <a:xfrm>
            <a:off x="311700" y="13843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a:solidFill>
                  <a:srgbClr val="980000"/>
                </a:solidFill>
                <a:latin typeface="Cambria"/>
                <a:ea typeface="Cambria"/>
                <a:cs typeface="Cambria"/>
                <a:sym typeface="Cambria"/>
              </a:rPr>
              <a:t>Department of Information Technology</a:t>
            </a:r>
            <a:endParaRPr b="1">
              <a:solidFill>
                <a:srgbClr val="980000"/>
              </a:solidFill>
              <a:latin typeface="Cambria"/>
              <a:ea typeface="Cambria"/>
              <a:cs typeface="Cambria"/>
              <a:sym typeface="Cambria"/>
            </a:endParaRPr>
          </a:p>
        </p:txBody>
      </p:sp>
      <p:sp>
        <p:nvSpPr>
          <p:cNvPr id="62" name="Google Shape;62;p1"/>
          <p:cNvSpPr txBox="1"/>
          <p:nvPr/>
        </p:nvSpPr>
        <p:spPr>
          <a:xfrm>
            <a:off x="94925" y="2156375"/>
            <a:ext cx="8952000" cy="939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 sz="1900" u="none" cap="none" strike="noStrike">
                <a:solidFill>
                  <a:srgbClr val="000000"/>
                </a:solidFill>
                <a:latin typeface="Cambria"/>
                <a:ea typeface="Cambria"/>
                <a:cs typeface="Cambria"/>
                <a:sym typeface="Cambria"/>
              </a:rPr>
              <a:t>Community Engagement Project : Review 0 (AY 2025-26)</a:t>
            </a:r>
            <a:r>
              <a:rPr b="0" i="0" lang="en" sz="1700" u="none" cap="none" strike="noStrike">
                <a:solidFill>
                  <a:srgbClr val="000000"/>
                </a:solidFill>
                <a:latin typeface="Cambria"/>
                <a:ea typeface="Cambria"/>
                <a:cs typeface="Cambria"/>
                <a:sym typeface="Cambria"/>
              </a:rPr>
              <a:t> </a:t>
            </a:r>
            <a:endParaRPr b="0" i="0" sz="17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000000"/>
                </a:solidFill>
                <a:latin typeface="Cambria"/>
                <a:ea typeface="Cambria"/>
                <a:cs typeface="Cambria"/>
                <a:sym typeface="Cambria"/>
              </a:rPr>
              <a:t>“</a:t>
            </a:r>
            <a:r>
              <a:rPr b="1" lang="en" sz="3000">
                <a:solidFill>
                  <a:srgbClr val="0000FF"/>
                </a:solidFill>
                <a:latin typeface="Cambria"/>
                <a:ea typeface="Cambria"/>
                <a:cs typeface="Cambria"/>
                <a:sym typeface="Cambria"/>
              </a:rPr>
              <a:t>An emergency services platform</a:t>
            </a:r>
            <a:r>
              <a:rPr b="1" i="0" lang="en" sz="3000" u="none" cap="none" strike="noStrike">
                <a:solidFill>
                  <a:srgbClr val="000000"/>
                </a:solidFill>
                <a:latin typeface="Cambria"/>
                <a:ea typeface="Cambria"/>
                <a:cs typeface="Cambria"/>
                <a:sym typeface="Cambria"/>
              </a:rPr>
              <a:t>”</a:t>
            </a:r>
            <a:endParaRPr b="1" i="0" sz="3000" u="none" cap="none" strike="noStrike">
              <a:solidFill>
                <a:srgbClr val="000000"/>
              </a:solidFill>
              <a:latin typeface="Cambria"/>
              <a:ea typeface="Cambria"/>
              <a:cs typeface="Cambria"/>
              <a:sym typeface="Cambria"/>
            </a:endParaRPr>
          </a:p>
        </p:txBody>
      </p:sp>
      <p:sp>
        <p:nvSpPr>
          <p:cNvPr id="63" name="Google Shape;63;p1"/>
          <p:cNvSpPr txBox="1"/>
          <p:nvPr/>
        </p:nvSpPr>
        <p:spPr>
          <a:xfrm>
            <a:off x="94925" y="3034375"/>
            <a:ext cx="4459200" cy="1908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Cambria"/>
                <a:ea typeface="Cambria"/>
                <a:cs typeface="Cambria"/>
                <a:sym typeface="Cambria"/>
              </a:rPr>
              <a:t>Presented By:</a:t>
            </a:r>
            <a:r>
              <a:rPr b="0" i="0" lang="en" sz="1400" u="none" cap="none" strike="noStrike">
                <a:solidFill>
                  <a:srgbClr val="000000"/>
                </a:solidFill>
                <a:latin typeface="Cambria"/>
                <a:ea typeface="Cambria"/>
                <a:cs typeface="Cambria"/>
                <a:sym typeface="Cambria"/>
              </a:rPr>
              <a:t> </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400"/>
              <a:buFont typeface="Arial"/>
              <a:buNone/>
            </a:pPr>
            <a:r>
              <a:t/>
            </a:r>
            <a:endParaRPr>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Cambria"/>
                <a:ea typeface="Cambria"/>
                <a:cs typeface="Cambria"/>
                <a:sym typeface="Cambria"/>
              </a:rPr>
              <a:t>Name: Sonal Karche                          PRN: B24IT1041</a:t>
            </a:r>
            <a:endParaRPr>
              <a:solidFill>
                <a:schemeClr val="dk1"/>
              </a:solidFill>
              <a:latin typeface="Cambria"/>
              <a:ea typeface="Cambria"/>
              <a:cs typeface="Cambria"/>
              <a:sym typeface="Cambria"/>
            </a:endParaRPr>
          </a:p>
          <a:p>
            <a:pPr indent="0" lvl="0" marL="0" rtl="0" algn="l">
              <a:spcBef>
                <a:spcPts val="0"/>
              </a:spcBef>
              <a:spcAft>
                <a:spcPts val="0"/>
              </a:spcAft>
              <a:buClr>
                <a:schemeClr val="dk1"/>
              </a:buClr>
              <a:buSzPts val="1400"/>
              <a:buFont typeface="Arial"/>
              <a:buNone/>
            </a:pPr>
            <a:r>
              <a:rPr lang="en">
                <a:solidFill>
                  <a:schemeClr val="dk1"/>
                </a:solidFill>
                <a:latin typeface="Cambria"/>
                <a:ea typeface="Cambria"/>
                <a:cs typeface="Cambria"/>
                <a:sym typeface="Cambria"/>
              </a:rPr>
              <a:t>Name: Pranav Chavan                       PRN: B24IT1038</a:t>
            </a:r>
            <a:endParaRPr>
              <a:solidFill>
                <a:schemeClr val="dk1"/>
              </a:solidFill>
              <a:latin typeface="Cambria"/>
              <a:ea typeface="Cambria"/>
              <a:cs typeface="Cambria"/>
              <a:sym typeface="Cambria"/>
            </a:endParaRPr>
          </a:p>
          <a:p>
            <a:pPr indent="0" lvl="0" marL="0" rtl="0" algn="l">
              <a:spcBef>
                <a:spcPts val="0"/>
              </a:spcBef>
              <a:spcAft>
                <a:spcPts val="0"/>
              </a:spcAft>
              <a:buClr>
                <a:schemeClr val="dk1"/>
              </a:buClr>
              <a:buSzPts val="1400"/>
              <a:buFont typeface="Arial"/>
              <a:buNone/>
            </a:pPr>
            <a:r>
              <a:rPr lang="en">
                <a:solidFill>
                  <a:schemeClr val="dk1"/>
                </a:solidFill>
                <a:latin typeface="Cambria"/>
                <a:ea typeface="Cambria"/>
                <a:cs typeface="Cambria"/>
                <a:sym typeface="Cambria"/>
              </a:rPr>
              <a:t>Name: Harshwardhan Khaire         PRN: B24IT1045</a:t>
            </a:r>
            <a:endParaRPr>
              <a:solidFill>
                <a:schemeClr val="dk1"/>
              </a:solidFill>
              <a:latin typeface="Cambria"/>
              <a:ea typeface="Cambria"/>
              <a:cs typeface="Cambria"/>
              <a:sym typeface="Cambria"/>
            </a:endParaRPr>
          </a:p>
          <a:p>
            <a:pPr indent="0" lvl="0" marL="0" rtl="0" algn="l">
              <a:spcBef>
                <a:spcPts val="0"/>
              </a:spcBef>
              <a:spcAft>
                <a:spcPts val="0"/>
              </a:spcAft>
              <a:buClr>
                <a:schemeClr val="dk1"/>
              </a:buClr>
              <a:buSzPts val="1400"/>
              <a:buFont typeface="Arial"/>
              <a:buNone/>
            </a:pPr>
            <a:r>
              <a:rPr lang="en">
                <a:solidFill>
                  <a:schemeClr val="dk1"/>
                </a:solidFill>
                <a:latin typeface="Cambria"/>
                <a:ea typeface="Cambria"/>
                <a:cs typeface="Cambria"/>
                <a:sym typeface="Cambria"/>
              </a:rPr>
              <a:t>Name: Sanika Potdar                         PRN: B24IT1026</a:t>
            </a:r>
            <a:endParaRPr>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Cambria"/>
                <a:ea typeface="Cambria"/>
                <a:cs typeface="Cambria"/>
                <a:sym typeface="Cambria"/>
              </a:rPr>
              <a:t>                            </a:t>
            </a:r>
            <a:endParaRPr b="0" i="0" sz="1400" u="none" cap="none" strike="noStrike">
              <a:solidFill>
                <a:srgbClr val="FF0000"/>
              </a:solidFill>
              <a:latin typeface="Cambria"/>
              <a:ea typeface="Cambria"/>
              <a:cs typeface="Cambria"/>
              <a:sym typeface="Cambria"/>
            </a:endParaRPr>
          </a:p>
        </p:txBody>
      </p:sp>
      <p:pic>
        <p:nvPicPr>
          <p:cNvPr id="64" name="Google Shape;64;p1"/>
          <p:cNvPicPr preferRelativeResize="0"/>
          <p:nvPr/>
        </p:nvPicPr>
        <p:blipFill rotWithShape="1">
          <a:blip r:embed="rId3">
            <a:alphaModFix/>
          </a:blip>
          <a:srcRect b="0" l="0" r="0" t="0"/>
          <a:stretch/>
        </p:blipFill>
        <p:spPr>
          <a:xfrm>
            <a:off x="927400" y="224750"/>
            <a:ext cx="834799" cy="824648"/>
          </a:xfrm>
          <a:prstGeom prst="rect">
            <a:avLst/>
          </a:prstGeom>
          <a:noFill/>
          <a:ln>
            <a:noFill/>
          </a:ln>
        </p:spPr>
      </p:pic>
      <p:sp>
        <p:nvSpPr>
          <p:cNvPr id="65" name="Google Shape;65;p1"/>
          <p:cNvSpPr txBox="1"/>
          <p:nvPr/>
        </p:nvSpPr>
        <p:spPr>
          <a:xfrm>
            <a:off x="6713150" y="4761275"/>
            <a:ext cx="1736700" cy="26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FF"/>
                </a:solidFill>
                <a:latin typeface="Cambria"/>
                <a:ea typeface="Cambria"/>
                <a:cs typeface="Cambria"/>
                <a:sym typeface="Cambria"/>
              </a:rPr>
              <a:t>Date: </a:t>
            </a:r>
            <a:endParaRPr b="0" i="0" sz="1500" u="none" cap="none" strike="noStrike">
              <a:solidFill>
                <a:srgbClr val="0000FF"/>
              </a:solidFill>
              <a:latin typeface="Cambria"/>
              <a:ea typeface="Cambria"/>
              <a:cs typeface="Cambria"/>
              <a:sym typeface="Cambria"/>
            </a:endParaRPr>
          </a:p>
        </p:txBody>
      </p:sp>
      <p:sp>
        <p:nvSpPr>
          <p:cNvPr id="66" name="Google Shape;66;p1"/>
          <p:cNvSpPr txBox="1"/>
          <p:nvPr/>
        </p:nvSpPr>
        <p:spPr>
          <a:xfrm>
            <a:off x="5974175" y="3483675"/>
            <a:ext cx="2168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Cambria"/>
                <a:ea typeface="Cambria"/>
                <a:cs typeface="Cambria"/>
                <a:sym typeface="Cambria"/>
              </a:rPr>
              <a:t>Name of Guide</a:t>
            </a:r>
            <a:r>
              <a:rPr b="0" i="0" lang="en" sz="1400" u="none" cap="none" strike="noStrike">
                <a:solidFill>
                  <a:srgbClr val="000000"/>
                </a:solidFill>
                <a:latin typeface="Cambria"/>
                <a:ea typeface="Cambria"/>
                <a:cs typeface="Cambria"/>
                <a:sym typeface="Cambria"/>
              </a:rPr>
              <a:t>: Mr.Prakash Gadekar</a:t>
            </a:r>
            <a:endParaRPr b="0" i="0" sz="1400" u="none" cap="none" strike="noStrike">
              <a:solidFill>
                <a:srgbClr val="000000"/>
              </a:solidFill>
              <a:latin typeface="Cambria"/>
              <a:ea typeface="Cambria"/>
              <a:cs typeface="Cambria"/>
              <a:sym typeface="Cambria"/>
            </a:endParaRPr>
          </a:p>
        </p:txBody>
      </p:sp>
      <p:sp>
        <p:nvSpPr>
          <p:cNvPr id="67" name="Google Shape;67;p1"/>
          <p:cNvSpPr txBox="1"/>
          <p:nvPr/>
        </p:nvSpPr>
        <p:spPr>
          <a:xfrm>
            <a:off x="-159800" y="4761275"/>
            <a:ext cx="32001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68" name="Google Shape;68;p1"/>
          <p:cNvSpPr txBox="1"/>
          <p:nvPr/>
        </p:nvSpPr>
        <p:spPr>
          <a:xfrm>
            <a:off x="5733300" y="4747575"/>
            <a:ext cx="341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CEP Project Title</a:t>
            </a:r>
            <a:endParaRPr b="1" i="0" sz="3000" u="none" cap="none" strike="noStrike">
              <a:solidFill>
                <a:srgbClr val="980000"/>
              </a:solidFill>
              <a:latin typeface="Cambria"/>
              <a:ea typeface="Cambria"/>
              <a:cs typeface="Cambria"/>
              <a:sym typeface="Cambria"/>
            </a:endParaRPr>
          </a:p>
        </p:txBody>
      </p:sp>
      <p:graphicFrame>
        <p:nvGraphicFramePr>
          <p:cNvPr id="74" name="Google Shape;74;p2"/>
          <p:cNvGraphicFramePr/>
          <p:nvPr/>
        </p:nvGraphicFramePr>
        <p:xfrm>
          <a:off x="1399071" y="1801692"/>
          <a:ext cx="3000000" cy="3000000"/>
        </p:xfrm>
        <a:graphic>
          <a:graphicData uri="http://schemas.openxmlformats.org/drawingml/2006/table">
            <a:tbl>
              <a:tblPr bandRow="1" firstRow="1">
                <a:noFill/>
                <a:tableStyleId>{55E84FEC-6E59-448D-B426-0189CDBA40EC}</a:tableStyleId>
              </a:tblPr>
              <a:tblGrid>
                <a:gridCol w="6400750"/>
              </a:tblGrid>
              <a:tr h="317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Title 1</a:t>
                      </a:r>
                      <a:endParaRPr sz="1400" u="none" cap="none" strike="noStrike">
                        <a:solidFill>
                          <a:srgbClr val="FF0000"/>
                        </a:solidFill>
                      </a:endParaRPr>
                    </a:p>
                  </a:txBody>
                  <a:tcPr marT="45725" marB="45725" marR="91450" marL="91450">
                    <a:solidFill>
                      <a:srgbClr val="FFB340">
                        <a:alpha val="65882"/>
                      </a:srgbClr>
                    </a:solidFill>
                  </a:tcPr>
                </a:tc>
              </a:tr>
              <a:tr h="385850">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t>Context of the project</a:t>
                      </a:r>
                      <a:r>
                        <a:rPr lang="en"/>
                        <a:t>: </a:t>
                      </a:r>
                      <a:endParaRPr/>
                    </a:p>
                    <a:p>
                      <a:pPr indent="-304800" lvl="0" marL="457200" marR="0" rtl="0" algn="l">
                        <a:lnSpc>
                          <a:spcPct val="100000"/>
                        </a:lnSpc>
                        <a:spcBef>
                          <a:spcPts val="0"/>
                        </a:spcBef>
                        <a:spcAft>
                          <a:spcPts val="0"/>
                        </a:spcAft>
                        <a:buClr>
                          <a:schemeClr val="dk1"/>
                        </a:buClr>
                        <a:buSzPts val="1200"/>
                        <a:buFont typeface="Roboto"/>
                        <a:buChar char="●"/>
                      </a:pPr>
                      <a:r>
                        <a:rPr lang="en" sz="1200">
                          <a:latin typeface="Roboto"/>
                          <a:ea typeface="Roboto"/>
                          <a:cs typeface="Roboto"/>
                          <a:sym typeface="Roboto"/>
                        </a:rPr>
                        <a:t>Area/Community of Focus: Urban/Rural areas needing rapid emergency help</a:t>
                      </a:r>
                      <a:endParaRPr sz="1200">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latin typeface="Roboto"/>
                          <a:ea typeface="Roboto"/>
                          <a:cs typeface="Roboto"/>
                          <a:sym typeface="Roboto"/>
                        </a:rPr>
                        <a:t>Use cases: Accidents, fires, medical emergencies, vehicle breakdowns</a:t>
                      </a:r>
                      <a:endParaRPr sz="1200">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a:p>
                  </a:txBody>
                  <a:tcPr marT="45725" marB="45725" marR="91450" marL="91450"/>
                </a:tc>
              </a:tr>
            </a:tbl>
          </a:graphicData>
        </a:graphic>
      </p:graphicFrame>
      <p:sp>
        <p:nvSpPr>
          <p:cNvPr id="75" name="Google Shape;75;p2"/>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Introduction</a:t>
            </a:r>
            <a:endParaRPr b="1" i="0" sz="3000" u="none" cap="none" strike="noStrike">
              <a:solidFill>
                <a:srgbClr val="980000"/>
              </a:solidFill>
              <a:latin typeface="Cambria"/>
              <a:ea typeface="Cambria"/>
              <a:cs typeface="Cambria"/>
              <a:sym typeface="Cambria"/>
            </a:endParaRPr>
          </a:p>
        </p:txBody>
      </p:sp>
      <p:sp>
        <p:nvSpPr>
          <p:cNvPr id="81" name="Google Shape;81;p3"/>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txBox="1"/>
          <p:nvPr/>
        </p:nvSpPr>
        <p:spPr>
          <a:xfrm>
            <a:off x="282925" y="1305825"/>
            <a:ext cx="6217200" cy="28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Roboto"/>
                <a:ea typeface="Roboto"/>
                <a:cs typeface="Roboto"/>
                <a:sym typeface="Roboto"/>
              </a:rPr>
              <a:t>In emergencies, every second counts. Rapid, coordinated response from multiple emergency services such as ambulance, police, fire, crane, and mechanic assistance is crucial to saving lives and minimizing damage. However, current systems often operate in silos, resulting in delays, miscommunication, and inefficient resource use.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This project proposes an integrated emergency services platform that leverages real-time location sharing and automated alerts to streamline communication, dispatch, and coordination of emergency responders. By consolidating these critical services into a unified system, the platform aims to enhance response times, improve community safety, and build trust in public safety infrastructure.</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Problem Identification</a:t>
            </a:r>
            <a:endParaRPr b="1" i="0" sz="3000" u="none" cap="none" strike="noStrike">
              <a:solidFill>
                <a:srgbClr val="980000"/>
              </a:solidFill>
              <a:latin typeface="Cambria"/>
              <a:ea typeface="Cambria"/>
              <a:cs typeface="Cambria"/>
              <a:sym typeface="Cambria"/>
            </a:endParaRPr>
          </a:p>
        </p:txBody>
      </p:sp>
      <p:sp>
        <p:nvSpPr>
          <p:cNvPr id="88" name="Google Shape;88;p4"/>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
          <p:cNvSpPr txBox="1"/>
          <p:nvPr/>
        </p:nvSpPr>
        <p:spPr>
          <a:xfrm>
            <a:off x="73200" y="798475"/>
            <a:ext cx="86769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Problem Statement: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 sz="1200">
                <a:solidFill>
                  <a:schemeClr val="dk1"/>
                </a:solidFill>
                <a:latin typeface="Roboto"/>
                <a:ea typeface="Roboto"/>
                <a:cs typeface="Roboto"/>
                <a:sym typeface="Roboto"/>
              </a:rPr>
              <a:t>Current emergency services are fragmented, resulting in slow, uncoordinated responses and lack of real-time location sharing for ambulance, police, fire, crane, and mechanic assistance during emergencies.</a:t>
            </a:r>
            <a:br>
              <a:rPr b="0" i="0" lang="en" sz="1400" u="none" cap="none" strike="noStrike">
                <a:solidFill>
                  <a:srgbClr val="000000"/>
                </a:solidFill>
                <a:latin typeface="Arial"/>
                <a:ea typeface="Arial"/>
                <a:cs typeface="Arial"/>
                <a:sym typeface="Arial"/>
              </a:rPr>
            </a:br>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Why is this problem important?: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 sz="1200">
                <a:solidFill>
                  <a:schemeClr val="dk1"/>
                </a:solidFill>
                <a:latin typeface="Roboto"/>
                <a:ea typeface="Roboto"/>
                <a:cs typeface="Roboto"/>
                <a:sym typeface="Roboto"/>
              </a:rPr>
              <a:t>Every minute of delayed response increases risk to life and property. Integrated, location-based dispatch and alerts are critical to improve response time and save lives.</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Impact on the local community: </a:t>
            </a:r>
            <a:endParaRPr b="0" i="0" sz="14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Community Impact:</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 sz="1200">
                <a:solidFill>
                  <a:schemeClr val="dk1"/>
                </a:solidFill>
                <a:latin typeface="Roboto"/>
                <a:ea typeface="Roboto"/>
                <a:cs typeface="Roboto"/>
                <a:sym typeface="Roboto"/>
              </a:rPr>
              <a:t>Faster emergency help reduces injuries and fatalities.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Real-time alerts enhance public safety and awareness.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Efficient resource use builds trust and accountability.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Equitable access bridges urban-rural service gaps, protecting all residents.</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Proposed Objective</a:t>
            </a:r>
            <a:endParaRPr b="1" i="0" sz="3000" u="none" cap="none" strike="noStrike">
              <a:solidFill>
                <a:srgbClr val="980000"/>
              </a:solidFill>
              <a:latin typeface="Cambria"/>
              <a:ea typeface="Cambria"/>
              <a:cs typeface="Cambria"/>
              <a:sym typeface="Cambria"/>
            </a:endParaRPr>
          </a:p>
        </p:txBody>
      </p:sp>
      <p:sp>
        <p:nvSpPr>
          <p:cNvPr id="95" name="Google Shape;95;p5"/>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
          <p:cNvSpPr txBox="1"/>
          <p:nvPr/>
        </p:nvSpPr>
        <p:spPr>
          <a:xfrm>
            <a:off x="73200" y="798475"/>
            <a:ext cx="8676900" cy="348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the team aims to achieve:-</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b="1" lang="en" sz="1700">
                <a:solidFill>
                  <a:schemeClr val="dk1"/>
                </a:solidFill>
                <a:latin typeface="Roboto"/>
                <a:ea typeface="Roboto"/>
                <a:cs typeface="Roboto"/>
                <a:sym typeface="Roboto"/>
              </a:rPr>
              <a:t>Proposed Objectives :-</a:t>
            </a:r>
            <a:endParaRPr b="1" sz="17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sz="17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Develop an integrated platform to provide seamless access to emergency services including ambulance, police, fire, crane, and mechanic assistance.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Enable real-time live location tracking to facilitate rapid and accurate dispatch of nearby emergency responders.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Implement a comprehensive emergency alert system for quick mass notifications and effective crisis communication.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Centralize coordination and monitoring to optimize resource allocation, reduce response times, and improve overall operational efficiency.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Enhance community safety, awareness, and trust through reliable, timely emergency support.</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6"/>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Literature Review</a:t>
            </a:r>
            <a:endParaRPr b="1" i="0" sz="3000" u="none" cap="none" strike="noStrike">
              <a:solidFill>
                <a:srgbClr val="980000"/>
              </a:solidFill>
              <a:latin typeface="Cambria"/>
              <a:ea typeface="Cambria"/>
              <a:cs typeface="Cambria"/>
              <a:sym typeface="Cambria"/>
            </a:endParaRPr>
          </a:p>
        </p:txBody>
      </p:sp>
      <p:sp>
        <p:nvSpPr>
          <p:cNvPr id="102" name="Google Shape;102;p6"/>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
          <p:cNvSpPr txBox="1"/>
          <p:nvPr/>
        </p:nvSpPr>
        <p:spPr>
          <a:xfrm>
            <a:off x="73200" y="798475"/>
            <a:ext cx="8676900" cy="13269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120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Key findings from research</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Gaps in existing solutions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For each Project Title at least 3 to 4 slides to be there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Literature review of each title to be presented in the format of given below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4" name="Google Shape;104;p6"/>
          <p:cNvGraphicFramePr/>
          <p:nvPr/>
        </p:nvGraphicFramePr>
        <p:xfrm>
          <a:off x="843200" y="1893225"/>
          <a:ext cx="3000000" cy="3000000"/>
        </p:xfrm>
        <a:graphic>
          <a:graphicData uri="http://schemas.openxmlformats.org/drawingml/2006/table">
            <a:tbl>
              <a:tblPr>
                <a:noFill/>
                <a:tableStyleId>{2FC58C9A-642C-4D7C-8E2D-5FA97330D96E}</a:tableStyleId>
              </a:tblPr>
              <a:tblGrid>
                <a:gridCol w="1024625"/>
                <a:gridCol w="848900"/>
                <a:gridCol w="1294500"/>
                <a:gridCol w="1024625"/>
                <a:gridCol w="1024625"/>
                <a:gridCol w="1024625"/>
              </a:tblGrid>
              <a:tr h="805025">
                <a:tc>
                  <a:txBody>
                    <a:bodyPr/>
                    <a:lstStyle/>
                    <a:p>
                      <a:pPr indent="0" lvl="0" marL="116202" marR="0" rtl="0" algn="l">
                        <a:lnSpc>
                          <a:spcPct val="116111"/>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Sr.</a:t>
                      </a:r>
                      <a:endParaRPr sz="1800" u="none" cap="none" strike="noStrike">
                        <a:latin typeface="Cambria"/>
                        <a:ea typeface="Cambria"/>
                        <a:cs typeface="Cambria"/>
                        <a:sym typeface="Cambria"/>
                      </a:endParaRPr>
                    </a:p>
                    <a:p>
                      <a:pPr indent="0" lvl="0" marL="109852" marR="0" rtl="0" algn="l">
                        <a:lnSpc>
                          <a:spcPct val="116111"/>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No</a:t>
                      </a:r>
                      <a:endParaRPr sz="18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Cambria"/>
                        <a:ea typeface="Cambria"/>
                        <a:cs typeface="Cambria"/>
                        <a:sym typeface="Cambria"/>
                      </a:endParaRPr>
                    </a:p>
                    <a:p>
                      <a:pPr indent="0" lvl="0" marL="190500" marR="0" rtl="0" algn="l">
                        <a:lnSpc>
                          <a:spcPct val="100000"/>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Paper Title</a:t>
                      </a:r>
                      <a:endParaRPr sz="1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47625" marR="0" rtl="0" algn="ctr">
                        <a:lnSpc>
                          <a:spcPct val="116111"/>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Publication Details</a:t>
                      </a:r>
                      <a:endParaRPr b="1" sz="1800" u="none" cap="none" strike="noStrike">
                        <a:latin typeface="Cambria"/>
                        <a:ea typeface="Cambria"/>
                        <a:cs typeface="Cambria"/>
                        <a:sym typeface="Cambria"/>
                      </a:endParaRPr>
                    </a:p>
                    <a:p>
                      <a:pPr indent="0" lvl="0" marL="57150" marR="0" rtl="0" algn="ctr">
                        <a:lnSpc>
                          <a:spcPct val="116111"/>
                        </a:lnSpc>
                        <a:spcBef>
                          <a:spcPts val="0"/>
                        </a:spcBef>
                        <a:spcAft>
                          <a:spcPts val="0"/>
                        </a:spcAft>
                        <a:buClr>
                          <a:srgbClr val="000000"/>
                        </a:buClr>
                        <a:buSzPts val="1400"/>
                        <a:buFont typeface="Arial"/>
                        <a:buNone/>
                      </a:pPr>
                      <a:r>
                        <a:rPr b="1" lang="en" sz="1400" u="none" cap="none" strike="noStrike">
                          <a:latin typeface="Cambria"/>
                          <a:ea typeface="Cambria"/>
                          <a:cs typeface="Cambria"/>
                          <a:sym typeface="Cambria"/>
                        </a:rPr>
                        <a:t>(Journal name &amp;</a:t>
                      </a:r>
                      <a:endParaRPr sz="1400" u="none" cap="none" strike="noStrike">
                        <a:latin typeface="Cambria"/>
                        <a:ea typeface="Cambria"/>
                        <a:cs typeface="Cambria"/>
                        <a:sym typeface="Cambria"/>
                      </a:endParaRPr>
                    </a:p>
                    <a:p>
                      <a:pPr indent="0" lvl="0" marL="49530" marR="0" rtl="0" algn="ctr">
                        <a:lnSpc>
                          <a:spcPct val="116111"/>
                        </a:lnSpc>
                        <a:spcBef>
                          <a:spcPts val="0"/>
                        </a:spcBef>
                        <a:spcAft>
                          <a:spcPts val="0"/>
                        </a:spcAft>
                        <a:buClr>
                          <a:srgbClr val="000000"/>
                        </a:buClr>
                        <a:buSzPts val="1400"/>
                        <a:buFont typeface="Arial"/>
                        <a:buNone/>
                      </a:pPr>
                      <a:r>
                        <a:rPr b="1" lang="en" sz="1400" u="none" cap="none" strike="noStrike">
                          <a:latin typeface="Cambria"/>
                          <a:ea typeface="Cambria"/>
                          <a:cs typeface="Cambria"/>
                          <a:sym typeface="Cambria"/>
                        </a:rPr>
                        <a:t>Year)</a:t>
                      </a:r>
                      <a:endParaRPr sz="14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7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lang="en" sz="1700" u="none" cap="none" strike="noStrike">
                          <a:latin typeface="Cambria"/>
                          <a:ea typeface="Cambria"/>
                          <a:cs typeface="Cambria"/>
                          <a:sym typeface="Cambria"/>
                        </a:rPr>
                        <a:t>     </a:t>
                      </a:r>
                      <a:r>
                        <a:rPr b="1" lang="en" sz="1800" u="none" cap="none" strike="noStrike">
                          <a:latin typeface="Cambria"/>
                          <a:ea typeface="Cambria"/>
                          <a:cs typeface="Cambria"/>
                          <a:sym typeface="Cambria"/>
                        </a:rPr>
                        <a:t>Merits </a:t>
                      </a:r>
                      <a:endParaRPr sz="1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209550" marR="0" rtl="0" algn="l">
                        <a:lnSpc>
                          <a:spcPct val="100000"/>
                        </a:lnSpc>
                        <a:spcBef>
                          <a:spcPts val="0"/>
                        </a:spcBef>
                        <a:spcAft>
                          <a:spcPts val="0"/>
                        </a:spcAft>
                        <a:buClr>
                          <a:schemeClr val="dk1"/>
                        </a:buClr>
                        <a:buSzPts val="1800"/>
                        <a:buFont typeface="Arial"/>
                        <a:buNone/>
                      </a:pPr>
                      <a:r>
                        <a:rPr b="1" lang="en" sz="1800" u="none" cap="none" strike="noStrike">
                          <a:solidFill>
                            <a:schemeClr val="dk1"/>
                          </a:solidFill>
                          <a:latin typeface="Cambria"/>
                          <a:ea typeface="Cambria"/>
                          <a:cs typeface="Cambria"/>
                          <a:sym typeface="Cambria"/>
                        </a:rPr>
                        <a:t>Demerits</a:t>
                      </a:r>
                      <a:endParaRPr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Cambria"/>
                        <a:ea typeface="Cambria"/>
                        <a:cs typeface="Cambria"/>
                        <a:sym typeface="Cambria"/>
                      </a:endParaRPr>
                    </a:p>
                    <a:p>
                      <a:pPr indent="0" lvl="0" marL="0" marR="0" rtl="0" algn="l">
                        <a:lnSpc>
                          <a:spcPct val="100000"/>
                        </a:lnSpc>
                        <a:spcBef>
                          <a:spcPts val="0"/>
                        </a:spcBef>
                        <a:spcAft>
                          <a:spcPts val="0"/>
                        </a:spcAft>
                        <a:buClr>
                          <a:schemeClr val="dk1"/>
                        </a:buClr>
                        <a:buSzPts val="1800"/>
                        <a:buFont typeface="Arial"/>
                        <a:buNone/>
                      </a:pPr>
                      <a:r>
                        <a:rPr b="1" lang="en" sz="1800" u="none" cap="none" strike="noStrike">
                          <a:solidFill>
                            <a:schemeClr val="dk1"/>
                          </a:solidFill>
                          <a:latin typeface="Cambria"/>
                          <a:ea typeface="Cambria"/>
                          <a:cs typeface="Cambria"/>
                          <a:sym typeface="Cambria"/>
                        </a:rPr>
                        <a:t>Gap/</a:t>
                      </a:r>
                      <a:endParaRPr b="1"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chemeClr val="dk1"/>
                        </a:buClr>
                        <a:buSzPts val="1800"/>
                        <a:buFont typeface="Arial"/>
                        <a:buNone/>
                      </a:pPr>
                      <a:r>
                        <a:rPr b="1" lang="en" sz="1800" u="none" cap="none" strike="noStrike">
                          <a:solidFill>
                            <a:schemeClr val="dk1"/>
                          </a:solidFill>
                          <a:latin typeface="Cambria"/>
                          <a:ea typeface="Cambria"/>
                          <a:cs typeface="Cambria"/>
                          <a:sym typeface="Cambria"/>
                        </a:rPr>
                        <a:t>Findings</a:t>
                      </a:r>
                      <a:endParaRPr sz="1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01225">
                <a:tc>
                  <a:txBody>
                    <a:bodyPr/>
                    <a:lstStyle/>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rPr b="1" lang="en" sz="1800">
                          <a:latin typeface="Cambria"/>
                          <a:ea typeface="Cambria"/>
                          <a:cs typeface="Cambria"/>
                          <a:sym typeface="Cambria"/>
                        </a:rPr>
                        <a:t>1.</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800">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t/>
                      </a:r>
                      <a:endParaRPr sz="800">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lang="en" sz="800">
                          <a:latin typeface="Cambria"/>
                          <a:ea typeface="Cambria"/>
                          <a:cs typeface="Cambria"/>
                          <a:sym typeface="Cambria"/>
                        </a:rPr>
                        <a:t>An Integrated Emergency Platform for Standardized and Accessible Emergency Medical Services in India</a:t>
                      </a:r>
                      <a:endParaRPr sz="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47625" marR="0" rtl="0" algn="ctr">
                        <a:lnSpc>
                          <a:spcPct val="116111"/>
                        </a:lnSpc>
                        <a:spcBef>
                          <a:spcPts val="0"/>
                        </a:spcBef>
                        <a:spcAft>
                          <a:spcPts val="0"/>
                        </a:spcAft>
                        <a:buClr>
                          <a:srgbClr val="000000"/>
                        </a:buClr>
                        <a:buSzPts val="1800"/>
                        <a:buFont typeface="Arial"/>
                        <a:buNone/>
                      </a:pPr>
                      <a:r>
                        <a:t/>
                      </a:r>
                      <a:endParaRPr b="1" sz="800">
                        <a:latin typeface="Cambria"/>
                        <a:ea typeface="Cambria"/>
                        <a:cs typeface="Cambria"/>
                        <a:sym typeface="Cambria"/>
                      </a:endParaRPr>
                    </a:p>
                    <a:p>
                      <a:pPr indent="0" lvl="0" marL="47625" marR="0" rtl="0" algn="ctr">
                        <a:lnSpc>
                          <a:spcPct val="116111"/>
                        </a:lnSpc>
                        <a:spcBef>
                          <a:spcPts val="0"/>
                        </a:spcBef>
                        <a:spcAft>
                          <a:spcPts val="0"/>
                        </a:spcAft>
                        <a:buClr>
                          <a:srgbClr val="000000"/>
                        </a:buClr>
                        <a:buSzPts val="1800"/>
                        <a:buFont typeface="Arial"/>
                        <a:buNone/>
                      </a:pPr>
                      <a:r>
                        <a:t/>
                      </a:r>
                      <a:endParaRPr b="1" sz="800">
                        <a:latin typeface="Cambria"/>
                        <a:ea typeface="Cambria"/>
                        <a:cs typeface="Cambria"/>
                        <a:sym typeface="Cambria"/>
                      </a:endParaRPr>
                    </a:p>
                    <a:p>
                      <a:pPr indent="0" lvl="0" marL="47625" marR="0" rtl="0" algn="ctr">
                        <a:lnSpc>
                          <a:spcPct val="116111"/>
                        </a:lnSpc>
                        <a:spcBef>
                          <a:spcPts val="0"/>
                        </a:spcBef>
                        <a:spcAft>
                          <a:spcPts val="0"/>
                        </a:spcAft>
                        <a:buClr>
                          <a:srgbClr val="000000"/>
                        </a:buClr>
                        <a:buSzPts val="1800"/>
                        <a:buFont typeface="Arial"/>
                        <a:buNone/>
                      </a:pPr>
                      <a:r>
                        <a:rPr b="1" lang="en" sz="800">
                          <a:latin typeface="Cambria"/>
                          <a:ea typeface="Cambria"/>
                          <a:cs typeface="Cambria"/>
                          <a:sym typeface="Cambria"/>
                        </a:rPr>
                        <a:t>Vishwakarma Institute of Technology (VIT Pune), Pune, Maharashtra, 2021</a:t>
                      </a:r>
                      <a:endParaRPr b="1" sz="8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400">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t/>
                      </a:r>
                      <a:endParaRPr sz="400">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t/>
                      </a:r>
                      <a:endParaRPr sz="400">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lang="en" sz="800">
                          <a:solidFill>
                            <a:schemeClr val="dk1"/>
                          </a:solidFill>
                          <a:latin typeface="Roboto"/>
                          <a:ea typeface="Roboto"/>
                          <a:cs typeface="Roboto"/>
                          <a:sym typeface="Roboto"/>
                        </a:rPr>
                        <a:t>The paper presents a standardized, AI-assisted emergency medical platform improving response and accessibility</a:t>
                      </a:r>
                      <a:endParaRPr sz="400">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7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t/>
                      </a:r>
                      <a:endParaRPr sz="7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lang="en" sz="700">
                          <a:solidFill>
                            <a:schemeClr val="dk1"/>
                          </a:solidFill>
                          <a:latin typeface="Roboto"/>
                          <a:ea typeface="Roboto"/>
                          <a:cs typeface="Roboto"/>
                          <a:sym typeface="Roboto"/>
                        </a:rPr>
                        <a:t>The system faces challenges like fragmented emergency care, limited connectivity in rural areas, reliance on mobile internet and GPS accuracy, and currently lacks integration of all emergency services beyond ambulance and hospital networks.</a:t>
                      </a:r>
                      <a:endParaRPr sz="3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t/>
                      </a:r>
                      <a:endParaRPr sz="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lang="en" sz="800">
                          <a:solidFill>
                            <a:schemeClr val="dk1"/>
                          </a:solidFill>
                          <a:latin typeface="Roboto"/>
                          <a:ea typeface="Roboto"/>
                          <a:cs typeface="Roboto"/>
                          <a:sym typeface="Roboto"/>
                        </a:rPr>
                        <a:t>The integrated emergency platform significantly improves communication, accessibility, and response times, showing strong potential to transform emergency healthcare delivery in India.</a:t>
                      </a:r>
                      <a:endParaRPr sz="4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8075f685df_0_27"/>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Literature Review</a:t>
            </a:r>
            <a:endParaRPr b="1" i="0" sz="3000" u="none" cap="none" strike="noStrike">
              <a:solidFill>
                <a:srgbClr val="980000"/>
              </a:solidFill>
              <a:latin typeface="Cambria"/>
              <a:ea typeface="Cambria"/>
              <a:cs typeface="Cambria"/>
              <a:sym typeface="Cambria"/>
            </a:endParaRPr>
          </a:p>
        </p:txBody>
      </p:sp>
      <p:sp>
        <p:nvSpPr>
          <p:cNvPr id="110" name="Google Shape;110;g38075f685df_0_27"/>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8075f685df_0_27"/>
          <p:cNvSpPr txBox="1"/>
          <p:nvPr/>
        </p:nvSpPr>
        <p:spPr>
          <a:xfrm>
            <a:off x="73200" y="798475"/>
            <a:ext cx="8676900" cy="13269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120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Key findings from research</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Gaps in existing solutions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For each Project Title at least 3 to 4 slides to be there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Literature review of each title to be presented in the format of given below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12" name="Google Shape;112;g38075f685df_0_27"/>
          <p:cNvGraphicFramePr/>
          <p:nvPr/>
        </p:nvGraphicFramePr>
        <p:xfrm>
          <a:off x="843200" y="1893225"/>
          <a:ext cx="3000000" cy="3000000"/>
        </p:xfrm>
        <a:graphic>
          <a:graphicData uri="http://schemas.openxmlformats.org/drawingml/2006/table">
            <a:tbl>
              <a:tblPr>
                <a:noFill/>
                <a:tableStyleId>{2FC58C9A-642C-4D7C-8E2D-5FA97330D96E}</a:tableStyleId>
              </a:tblPr>
              <a:tblGrid>
                <a:gridCol w="1024625"/>
                <a:gridCol w="848900"/>
                <a:gridCol w="1294500"/>
                <a:gridCol w="1024625"/>
                <a:gridCol w="1024625"/>
                <a:gridCol w="1024625"/>
              </a:tblGrid>
              <a:tr h="805025">
                <a:tc>
                  <a:txBody>
                    <a:bodyPr/>
                    <a:lstStyle/>
                    <a:p>
                      <a:pPr indent="0" lvl="0" marL="116202" marR="0" rtl="0" algn="l">
                        <a:lnSpc>
                          <a:spcPct val="116111"/>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Sr.</a:t>
                      </a:r>
                      <a:endParaRPr sz="1800" u="none" cap="none" strike="noStrike">
                        <a:latin typeface="Cambria"/>
                        <a:ea typeface="Cambria"/>
                        <a:cs typeface="Cambria"/>
                        <a:sym typeface="Cambria"/>
                      </a:endParaRPr>
                    </a:p>
                    <a:p>
                      <a:pPr indent="0" lvl="0" marL="109852" marR="0" rtl="0" algn="l">
                        <a:lnSpc>
                          <a:spcPct val="116111"/>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No</a:t>
                      </a:r>
                      <a:endParaRPr sz="18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Cambria"/>
                        <a:ea typeface="Cambria"/>
                        <a:cs typeface="Cambria"/>
                        <a:sym typeface="Cambria"/>
                      </a:endParaRPr>
                    </a:p>
                    <a:p>
                      <a:pPr indent="0" lvl="0" marL="190500" marR="0" rtl="0" algn="l">
                        <a:lnSpc>
                          <a:spcPct val="100000"/>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Paper Title</a:t>
                      </a:r>
                      <a:endParaRPr sz="1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47625" marR="0" rtl="0" algn="ctr">
                        <a:lnSpc>
                          <a:spcPct val="116111"/>
                        </a:lnSpc>
                        <a:spcBef>
                          <a:spcPts val="0"/>
                        </a:spcBef>
                        <a:spcAft>
                          <a:spcPts val="0"/>
                        </a:spcAft>
                        <a:buClr>
                          <a:srgbClr val="000000"/>
                        </a:buClr>
                        <a:buSzPts val="1800"/>
                        <a:buFont typeface="Arial"/>
                        <a:buNone/>
                      </a:pPr>
                      <a:r>
                        <a:rPr b="1" lang="en" sz="1800" u="none" cap="none" strike="noStrike">
                          <a:latin typeface="Cambria"/>
                          <a:ea typeface="Cambria"/>
                          <a:cs typeface="Cambria"/>
                          <a:sym typeface="Cambria"/>
                        </a:rPr>
                        <a:t>Publication Details</a:t>
                      </a:r>
                      <a:endParaRPr b="1" sz="1800" u="none" cap="none" strike="noStrike">
                        <a:latin typeface="Cambria"/>
                        <a:ea typeface="Cambria"/>
                        <a:cs typeface="Cambria"/>
                        <a:sym typeface="Cambria"/>
                      </a:endParaRPr>
                    </a:p>
                    <a:p>
                      <a:pPr indent="0" lvl="0" marL="57150" marR="0" rtl="0" algn="ctr">
                        <a:lnSpc>
                          <a:spcPct val="116111"/>
                        </a:lnSpc>
                        <a:spcBef>
                          <a:spcPts val="0"/>
                        </a:spcBef>
                        <a:spcAft>
                          <a:spcPts val="0"/>
                        </a:spcAft>
                        <a:buClr>
                          <a:srgbClr val="000000"/>
                        </a:buClr>
                        <a:buSzPts val="1400"/>
                        <a:buFont typeface="Arial"/>
                        <a:buNone/>
                      </a:pPr>
                      <a:r>
                        <a:rPr b="1" lang="en" sz="1400" u="none" cap="none" strike="noStrike">
                          <a:latin typeface="Cambria"/>
                          <a:ea typeface="Cambria"/>
                          <a:cs typeface="Cambria"/>
                          <a:sym typeface="Cambria"/>
                        </a:rPr>
                        <a:t>(Journal name &amp;</a:t>
                      </a:r>
                      <a:endParaRPr sz="1400" u="none" cap="none" strike="noStrike">
                        <a:latin typeface="Cambria"/>
                        <a:ea typeface="Cambria"/>
                        <a:cs typeface="Cambria"/>
                        <a:sym typeface="Cambria"/>
                      </a:endParaRPr>
                    </a:p>
                    <a:p>
                      <a:pPr indent="0" lvl="0" marL="49530" marR="0" rtl="0" algn="ctr">
                        <a:lnSpc>
                          <a:spcPct val="116111"/>
                        </a:lnSpc>
                        <a:spcBef>
                          <a:spcPts val="0"/>
                        </a:spcBef>
                        <a:spcAft>
                          <a:spcPts val="0"/>
                        </a:spcAft>
                        <a:buClr>
                          <a:srgbClr val="000000"/>
                        </a:buClr>
                        <a:buSzPts val="1400"/>
                        <a:buFont typeface="Arial"/>
                        <a:buNone/>
                      </a:pPr>
                      <a:r>
                        <a:rPr b="1" lang="en" sz="1400" u="none" cap="none" strike="noStrike">
                          <a:latin typeface="Cambria"/>
                          <a:ea typeface="Cambria"/>
                          <a:cs typeface="Cambria"/>
                          <a:sym typeface="Cambria"/>
                        </a:rPr>
                        <a:t>Year)</a:t>
                      </a:r>
                      <a:endParaRPr sz="14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7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lang="en" sz="1700" u="none" cap="none" strike="noStrike">
                          <a:latin typeface="Cambria"/>
                          <a:ea typeface="Cambria"/>
                          <a:cs typeface="Cambria"/>
                          <a:sym typeface="Cambria"/>
                        </a:rPr>
                        <a:t>     </a:t>
                      </a:r>
                      <a:r>
                        <a:rPr b="1" lang="en" sz="1800" u="none" cap="none" strike="noStrike">
                          <a:latin typeface="Cambria"/>
                          <a:ea typeface="Cambria"/>
                          <a:cs typeface="Cambria"/>
                          <a:sym typeface="Cambria"/>
                        </a:rPr>
                        <a:t>Merits </a:t>
                      </a:r>
                      <a:endParaRPr sz="1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209550" marR="0" rtl="0" algn="l">
                        <a:lnSpc>
                          <a:spcPct val="100000"/>
                        </a:lnSpc>
                        <a:spcBef>
                          <a:spcPts val="0"/>
                        </a:spcBef>
                        <a:spcAft>
                          <a:spcPts val="0"/>
                        </a:spcAft>
                        <a:buClr>
                          <a:schemeClr val="dk1"/>
                        </a:buClr>
                        <a:buSzPts val="1800"/>
                        <a:buFont typeface="Arial"/>
                        <a:buNone/>
                      </a:pPr>
                      <a:r>
                        <a:rPr b="1" lang="en" sz="1800" u="none" cap="none" strike="noStrike">
                          <a:solidFill>
                            <a:schemeClr val="dk1"/>
                          </a:solidFill>
                          <a:latin typeface="Cambria"/>
                          <a:ea typeface="Cambria"/>
                          <a:cs typeface="Cambria"/>
                          <a:sym typeface="Cambria"/>
                        </a:rPr>
                        <a:t>Demerits</a:t>
                      </a:r>
                      <a:endParaRPr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Cambria"/>
                        <a:ea typeface="Cambria"/>
                        <a:cs typeface="Cambria"/>
                        <a:sym typeface="Cambria"/>
                      </a:endParaRPr>
                    </a:p>
                    <a:p>
                      <a:pPr indent="0" lvl="0" marL="0" marR="0" rtl="0" algn="l">
                        <a:lnSpc>
                          <a:spcPct val="100000"/>
                        </a:lnSpc>
                        <a:spcBef>
                          <a:spcPts val="0"/>
                        </a:spcBef>
                        <a:spcAft>
                          <a:spcPts val="0"/>
                        </a:spcAft>
                        <a:buClr>
                          <a:schemeClr val="dk1"/>
                        </a:buClr>
                        <a:buSzPts val="1800"/>
                        <a:buFont typeface="Arial"/>
                        <a:buNone/>
                      </a:pPr>
                      <a:r>
                        <a:rPr b="1" lang="en" sz="1800" u="none" cap="none" strike="noStrike">
                          <a:solidFill>
                            <a:schemeClr val="dk1"/>
                          </a:solidFill>
                          <a:latin typeface="Cambria"/>
                          <a:ea typeface="Cambria"/>
                          <a:cs typeface="Cambria"/>
                          <a:sym typeface="Cambria"/>
                        </a:rPr>
                        <a:t>Gap/</a:t>
                      </a:r>
                      <a:endParaRPr b="1"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chemeClr val="dk1"/>
                        </a:buClr>
                        <a:buSzPts val="1800"/>
                        <a:buFont typeface="Arial"/>
                        <a:buNone/>
                      </a:pPr>
                      <a:r>
                        <a:rPr b="1" lang="en" sz="1800" u="none" cap="none" strike="noStrike">
                          <a:solidFill>
                            <a:schemeClr val="dk1"/>
                          </a:solidFill>
                          <a:latin typeface="Cambria"/>
                          <a:ea typeface="Cambria"/>
                          <a:cs typeface="Cambria"/>
                          <a:sym typeface="Cambria"/>
                        </a:rPr>
                        <a:t>Findings</a:t>
                      </a:r>
                      <a:endParaRPr sz="1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01225">
                <a:tc>
                  <a:txBody>
                    <a:bodyPr/>
                    <a:lstStyle/>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rPr b="1" lang="en" sz="1800">
                          <a:latin typeface="Cambria"/>
                          <a:ea typeface="Cambria"/>
                          <a:cs typeface="Cambria"/>
                          <a:sym typeface="Cambria"/>
                        </a:rPr>
                        <a:t>2.</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p>
                      <a:pPr indent="0" lvl="0" marL="116202" marR="0" rtl="0" algn="l">
                        <a:lnSpc>
                          <a:spcPct val="116111"/>
                        </a:lnSpc>
                        <a:spcBef>
                          <a:spcPts val="0"/>
                        </a:spcBef>
                        <a:spcAft>
                          <a:spcPts val="0"/>
                        </a:spcAft>
                        <a:buClr>
                          <a:srgbClr val="000000"/>
                        </a:buClr>
                        <a:buSzPts val="1800"/>
                        <a:buFont typeface="Arial"/>
                        <a:buNone/>
                      </a:pPr>
                      <a:r>
                        <a:t/>
                      </a:r>
                      <a:endParaRPr b="1" sz="1800" u="none" cap="none" strike="noStrike">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b="1" sz="800">
                        <a:solidFill>
                          <a:srgbClr val="333333"/>
                        </a:solidFill>
                        <a:highlight>
                          <a:srgbClr val="FFFFFF"/>
                        </a:highlight>
                      </a:endParaRPr>
                    </a:p>
                    <a:p>
                      <a:pPr indent="0" lvl="0" marL="0" marR="0" rtl="0" algn="l">
                        <a:lnSpc>
                          <a:spcPct val="100000"/>
                        </a:lnSpc>
                        <a:spcBef>
                          <a:spcPts val="0"/>
                        </a:spcBef>
                        <a:spcAft>
                          <a:spcPts val="0"/>
                        </a:spcAft>
                        <a:buClr>
                          <a:srgbClr val="000000"/>
                        </a:buClr>
                        <a:buSzPts val="1700"/>
                        <a:buFont typeface="Arial"/>
                        <a:buNone/>
                      </a:pPr>
                      <a:r>
                        <a:t/>
                      </a:r>
                      <a:endParaRPr b="1" sz="800">
                        <a:solidFill>
                          <a:srgbClr val="333333"/>
                        </a:solidFill>
                        <a:highlight>
                          <a:srgbClr val="FFFFFF"/>
                        </a:highlight>
                      </a:endParaRPr>
                    </a:p>
                    <a:p>
                      <a:pPr indent="0" lvl="0" marL="0" marR="0" rtl="0" algn="l">
                        <a:lnSpc>
                          <a:spcPct val="100000"/>
                        </a:lnSpc>
                        <a:spcBef>
                          <a:spcPts val="0"/>
                        </a:spcBef>
                        <a:spcAft>
                          <a:spcPts val="0"/>
                        </a:spcAft>
                        <a:buClr>
                          <a:srgbClr val="000000"/>
                        </a:buClr>
                        <a:buSzPts val="1700"/>
                        <a:buFont typeface="Arial"/>
                        <a:buNone/>
                      </a:pPr>
                      <a:r>
                        <a:rPr b="1" lang="en" sz="800">
                          <a:solidFill>
                            <a:srgbClr val="333333"/>
                          </a:solidFill>
                          <a:highlight>
                            <a:srgbClr val="FFFFFF"/>
                          </a:highlight>
                        </a:rPr>
                        <a:t>An Integrated Emergency Platform for Standardized and Accessible Emergency Medical Services in India</a:t>
                      </a:r>
                      <a:endParaRPr sz="8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47625" marR="0" rtl="0" algn="ctr">
                        <a:lnSpc>
                          <a:spcPct val="116111"/>
                        </a:lnSpc>
                        <a:spcBef>
                          <a:spcPts val="0"/>
                        </a:spcBef>
                        <a:spcAft>
                          <a:spcPts val="0"/>
                        </a:spcAft>
                        <a:buClr>
                          <a:srgbClr val="000000"/>
                        </a:buClr>
                        <a:buSzPts val="1800"/>
                        <a:buFont typeface="Arial"/>
                        <a:buNone/>
                      </a:pPr>
                      <a:r>
                        <a:t/>
                      </a:r>
                      <a:endParaRPr b="1" sz="800">
                        <a:latin typeface="Cambria"/>
                        <a:ea typeface="Cambria"/>
                        <a:cs typeface="Cambria"/>
                        <a:sym typeface="Cambria"/>
                      </a:endParaRPr>
                    </a:p>
                    <a:p>
                      <a:pPr indent="0" lvl="0" marL="47625" marR="0" rtl="0" algn="ctr">
                        <a:lnSpc>
                          <a:spcPct val="116111"/>
                        </a:lnSpc>
                        <a:spcBef>
                          <a:spcPts val="0"/>
                        </a:spcBef>
                        <a:spcAft>
                          <a:spcPts val="0"/>
                        </a:spcAft>
                        <a:buClr>
                          <a:srgbClr val="000000"/>
                        </a:buClr>
                        <a:buSzPts val="1800"/>
                        <a:buFont typeface="Arial"/>
                        <a:buNone/>
                      </a:pPr>
                      <a:r>
                        <a:t/>
                      </a:r>
                      <a:endParaRPr b="1" sz="800">
                        <a:latin typeface="Cambria"/>
                        <a:ea typeface="Cambria"/>
                        <a:cs typeface="Cambria"/>
                        <a:sym typeface="Cambria"/>
                      </a:endParaRPr>
                    </a:p>
                    <a:p>
                      <a:pPr indent="0" lvl="0" marL="47625" rtl="0" algn="ctr">
                        <a:lnSpc>
                          <a:spcPct val="116111"/>
                        </a:lnSpc>
                        <a:spcBef>
                          <a:spcPts val="0"/>
                        </a:spcBef>
                        <a:spcAft>
                          <a:spcPts val="0"/>
                        </a:spcAft>
                        <a:buClr>
                          <a:schemeClr val="dk1"/>
                        </a:buClr>
                        <a:buSzPts val="1100"/>
                        <a:buFont typeface="Arial"/>
                        <a:buNone/>
                      </a:pPr>
                      <a:r>
                        <a:rPr b="1" lang="en" sz="800">
                          <a:latin typeface="Cambria"/>
                          <a:ea typeface="Cambria"/>
                          <a:cs typeface="Cambria"/>
                          <a:sym typeface="Cambria"/>
                        </a:rPr>
                        <a:t>Journal of</a:t>
                      </a:r>
                      <a:endParaRPr b="1" sz="800">
                        <a:latin typeface="Cambria"/>
                        <a:ea typeface="Cambria"/>
                        <a:cs typeface="Cambria"/>
                        <a:sym typeface="Cambria"/>
                      </a:endParaRPr>
                    </a:p>
                    <a:p>
                      <a:pPr indent="0" lvl="0" marL="47625" rtl="0" algn="ctr">
                        <a:lnSpc>
                          <a:spcPct val="116111"/>
                        </a:lnSpc>
                        <a:spcBef>
                          <a:spcPts val="0"/>
                        </a:spcBef>
                        <a:spcAft>
                          <a:spcPts val="0"/>
                        </a:spcAft>
                        <a:buClr>
                          <a:schemeClr val="dk1"/>
                        </a:buClr>
                        <a:buSzPts val="1100"/>
                        <a:buFont typeface="Arial"/>
                        <a:buNone/>
                      </a:pPr>
                      <a:r>
                        <a:rPr b="1" lang="en" sz="800">
                          <a:latin typeface="Cambria"/>
                          <a:ea typeface="Cambria"/>
                          <a:cs typeface="Cambria"/>
                          <a:sym typeface="Cambria"/>
                        </a:rPr>
                        <a:t>transport</a:t>
                      </a:r>
                      <a:endParaRPr b="1" sz="800">
                        <a:latin typeface="Cambria"/>
                        <a:ea typeface="Cambria"/>
                        <a:cs typeface="Cambria"/>
                        <a:sym typeface="Cambria"/>
                      </a:endParaRPr>
                    </a:p>
                    <a:p>
                      <a:pPr indent="0" lvl="0" marL="47625" rtl="0" algn="ctr">
                        <a:lnSpc>
                          <a:spcPct val="116111"/>
                        </a:lnSpc>
                        <a:spcBef>
                          <a:spcPts val="0"/>
                        </a:spcBef>
                        <a:spcAft>
                          <a:spcPts val="0"/>
                        </a:spcAft>
                        <a:buClr>
                          <a:schemeClr val="dk1"/>
                        </a:buClr>
                        <a:buSzPts val="1100"/>
                        <a:buFont typeface="Arial"/>
                        <a:buNone/>
                      </a:pPr>
                      <a:r>
                        <a:rPr b="1" lang="en" sz="800">
                          <a:latin typeface="Cambria"/>
                          <a:ea typeface="Cambria"/>
                          <a:cs typeface="Cambria"/>
                          <a:sym typeface="Cambria"/>
                        </a:rPr>
                        <a:t>Informatics, 2022</a:t>
                      </a:r>
                      <a:endParaRPr b="1" sz="800">
                        <a:latin typeface="Cambria"/>
                        <a:ea typeface="Cambria"/>
                        <a:cs typeface="Cambria"/>
                        <a:sym typeface="Cambria"/>
                      </a:endParaRPr>
                    </a:p>
                    <a:p>
                      <a:pPr indent="0" lvl="0" marL="47625" marR="0" rtl="0" algn="ctr">
                        <a:lnSpc>
                          <a:spcPct val="116111"/>
                        </a:lnSpc>
                        <a:spcBef>
                          <a:spcPts val="0"/>
                        </a:spcBef>
                        <a:spcAft>
                          <a:spcPts val="0"/>
                        </a:spcAft>
                        <a:buClr>
                          <a:srgbClr val="000000"/>
                        </a:buClr>
                        <a:buSzPts val="1800"/>
                        <a:buFont typeface="Arial"/>
                        <a:buNone/>
                      </a:pPr>
                      <a:r>
                        <a:t/>
                      </a:r>
                      <a:endParaRPr b="1" sz="800">
                        <a:latin typeface="Cambria"/>
                        <a:ea typeface="Cambria"/>
                        <a:cs typeface="Cambria"/>
                        <a:sym typeface="Cambria"/>
                      </a:endParaRPr>
                    </a:p>
                  </a:txBody>
                  <a:tcPr marT="125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t/>
                      </a:r>
                      <a:endParaRPr sz="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lang="en" sz="800">
                          <a:solidFill>
                            <a:schemeClr val="dk1"/>
                          </a:solidFill>
                          <a:latin typeface="Roboto"/>
                          <a:ea typeface="Roboto"/>
                          <a:cs typeface="Roboto"/>
                          <a:sym typeface="Roboto"/>
                        </a:rPr>
                        <a:t>The centralized ambulance booking system improves response times, ensures nationwide accessibility, and streamlines dispatch through real-time tracking and a uniform booking process.</a:t>
                      </a:r>
                      <a:endParaRPr sz="100">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3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t/>
                      </a:r>
                      <a:endParaRPr sz="3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t/>
                      </a:r>
                      <a:endParaRPr sz="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lang="en" sz="800">
                          <a:solidFill>
                            <a:schemeClr val="dk1"/>
                          </a:solidFill>
                          <a:latin typeface="Roboto"/>
                          <a:ea typeface="Roboto"/>
                          <a:cs typeface="Roboto"/>
                          <a:sym typeface="Roboto"/>
                        </a:rPr>
                        <a:t>The key challenges include fragmented emergency services, multiple helplines that create confusion, limited coverage in rural areas, absence of real-time tracking, inconsistent pricing, and poor coordination between hospitals and ambulances.</a:t>
                      </a:r>
                      <a:endParaRPr sz="300">
                        <a:solidFill>
                          <a:schemeClr val="dk1"/>
                        </a:solidFill>
                        <a:latin typeface="Times New Roman"/>
                        <a:ea typeface="Times New Roman"/>
                        <a:cs typeface="Times New Roman"/>
                        <a:sym typeface="Times New Roman"/>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t/>
                      </a:r>
                      <a:endParaRPr sz="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lang="en" sz="800">
                          <a:solidFill>
                            <a:schemeClr val="dk1"/>
                          </a:solidFill>
                          <a:latin typeface="Roboto"/>
                          <a:ea typeface="Roboto"/>
                          <a:cs typeface="Roboto"/>
                          <a:sym typeface="Roboto"/>
                        </a:rPr>
                        <a:t>The integrated emergency platform enhances communication efficiency, expands access, and accelerates response times, demonstrating significant promise to revolutionize emergency healthcare delivery across India.</a:t>
                      </a:r>
                      <a:endParaRPr sz="400" u="none" cap="none" strike="noStrike">
                        <a:latin typeface="Cambria"/>
                        <a:ea typeface="Cambria"/>
                        <a:cs typeface="Cambria"/>
                        <a:sym typeface="Cambria"/>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Planned Field Visit / Stakeholder Interaction</a:t>
            </a:r>
            <a:endParaRPr b="1" i="0" sz="1100" u="none" cap="none" strike="noStrike">
              <a:solidFill>
                <a:schemeClr val="dk1"/>
              </a:solidFill>
              <a:latin typeface="Arial"/>
              <a:ea typeface="Arial"/>
              <a:cs typeface="Arial"/>
              <a:sym typeface="Arial"/>
            </a:endParaRPr>
          </a:p>
        </p:txBody>
      </p:sp>
      <p:sp>
        <p:nvSpPr>
          <p:cNvPr id="118" name="Google Shape;118;p7"/>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7"/>
          <p:cNvSpPr txBox="1"/>
          <p:nvPr/>
        </p:nvSpPr>
        <p:spPr>
          <a:xfrm>
            <a:off x="73200" y="798475"/>
            <a:ext cx="8676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20" name="Google Shape;120;p7"/>
          <p:cNvSpPr txBox="1"/>
          <p:nvPr/>
        </p:nvSpPr>
        <p:spPr>
          <a:xfrm>
            <a:off x="133075" y="984800"/>
            <a:ext cx="8898900" cy="363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Places to Visit </a:t>
            </a:r>
            <a:endParaRPr b="1" sz="1700">
              <a:solidFill>
                <a:schemeClr val="dk1"/>
              </a:solidFill>
              <a:latin typeface="Roboto"/>
              <a:ea typeface="Roboto"/>
              <a:cs typeface="Roboto"/>
              <a:sym typeface="Roboto"/>
            </a:endParaRPr>
          </a:p>
          <a:p>
            <a:pPr indent="-304800" lvl="0" marL="457200" rtl="0" algn="l">
              <a:lnSpc>
                <a:spcPct val="115000"/>
              </a:lnSpc>
              <a:spcBef>
                <a:spcPts val="400"/>
              </a:spcBef>
              <a:spcAft>
                <a:spcPts val="0"/>
              </a:spcAft>
              <a:buClr>
                <a:schemeClr val="dk1"/>
              </a:buClr>
              <a:buSzPts val="1200"/>
              <a:buFont typeface="Roboto"/>
              <a:buChar char="●"/>
            </a:pPr>
            <a:r>
              <a:rPr lang="en" sz="1200">
                <a:solidFill>
                  <a:schemeClr val="dk1"/>
                </a:solidFill>
                <a:latin typeface="Roboto"/>
                <a:ea typeface="Roboto"/>
                <a:cs typeface="Roboto"/>
                <a:sym typeface="Roboto"/>
              </a:rPr>
              <a:t>Emergency Service Centers: Ambulance dispatch units, police control rooms, fire stations, crane and mechanic service hubs.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Government Agencies: Local municipal authorities, disaster management offices, public safety departments.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Technology Partners: GIS and location service providers, communication system vendors, app developers.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Community Representatives: Local NGOs, citizen safety groups, healthcare providers.</a:t>
            </a:r>
            <a:endParaRPr sz="1200">
              <a:solidFill>
                <a:schemeClr val="dk1"/>
              </a:solidFill>
              <a:latin typeface="Roboto"/>
              <a:ea typeface="Roboto"/>
              <a:cs typeface="Roboto"/>
              <a:sym typeface="Roboto"/>
            </a:endParaRPr>
          </a:p>
          <a:p>
            <a:pPr indent="0" lvl="0" marL="0" marR="0" rtl="0" algn="l">
              <a:lnSpc>
                <a:spcPct val="115000"/>
              </a:lnSpc>
              <a:spcBef>
                <a:spcPts val="1200"/>
              </a:spcBef>
              <a:spcAft>
                <a:spcPts val="0"/>
              </a:spcAft>
              <a:buNone/>
            </a:pPr>
            <a:r>
              <a:t/>
            </a:r>
            <a:endParaRPr sz="1100">
              <a:solidFill>
                <a:schemeClr val="dk1"/>
              </a:solidFill>
            </a:endParaRPr>
          </a:p>
          <a:p>
            <a:pPr indent="0" lvl="0" marL="0" marR="0" rtl="0" algn="l">
              <a:lnSpc>
                <a:spcPct val="115000"/>
              </a:lnSpc>
              <a:spcBef>
                <a:spcPts val="1200"/>
              </a:spcBef>
              <a:spcAft>
                <a:spcPts val="0"/>
              </a:spcAft>
              <a:buNone/>
            </a:pPr>
            <a:r>
              <a:rPr b="1" lang="en" sz="1700">
                <a:solidFill>
                  <a:schemeClr val="dk1"/>
                </a:solidFill>
                <a:latin typeface="Roboto"/>
                <a:ea typeface="Roboto"/>
                <a:cs typeface="Roboto"/>
                <a:sym typeface="Roboto"/>
              </a:rPr>
              <a:t>Data to be Collected</a:t>
            </a:r>
            <a:endParaRPr b="1" sz="17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Response Logs: Service request timestamps, dispatch times, arrival times for each emergency service.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Resource Availability: Location and status of ambulances, police vehicles, fire trucks, cranes, and mechanics in real time.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User Data: Location data during emergencies, alert triggers, feedback on service efficiency.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Communication Records: Alerts sent, acknowledgment receipts by responders and users.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Operational Metrics: Incident types, frequency, response outcomes, process bottlenecks.</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Expected Outcomes</a:t>
            </a:r>
            <a:endParaRPr b="1" i="0" sz="1100" u="none" cap="none" strike="noStrike">
              <a:solidFill>
                <a:schemeClr val="dk1"/>
              </a:solidFill>
              <a:latin typeface="Arial"/>
              <a:ea typeface="Arial"/>
              <a:cs typeface="Arial"/>
              <a:sym typeface="Arial"/>
            </a:endParaRPr>
          </a:p>
        </p:txBody>
      </p:sp>
      <p:sp>
        <p:nvSpPr>
          <p:cNvPr id="126" name="Google Shape;126;p8"/>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8"/>
          <p:cNvSpPr txBox="1"/>
          <p:nvPr/>
        </p:nvSpPr>
        <p:spPr>
          <a:xfrm>
            <a:off x="73200" y="798475"/>
            <a:ext cx="8676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28" name="Google Shape;128;p8"/>
          <p:cNvSpPr txBox="1"/>
          <p:nvPr/>
        </p:nvSpPr>
        <p:spPr>
          <a:xfrm>
            <a:off x="133075" y="984800"/>
            <a:ext cx="7718700" cy="347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br>
              <a:rPr b="0" i="0" lang="en" sz="1100" u="none" cap="none" strike="noStrike">
                <a:solidFill>
                  <a:schemeClr val="dk1"/>
                </a:solidFill>
                <a:latin typeface="Arial"/>
                <a:ea typeface="Arial"/>
                <a:cs typeface="Arial"/>
                <a:sym typeface="Arial"/>
              </a:rPr>
            </a:br>
            <a:r>
              <a:rPr b="1" lang="en" sz="1700">
                <a:solidFill>
                  <a:schemeClr val="dk1"/>
                </a:solidFill>
                <a:latin typeface="Roboto"/>
                <a:ea typeface="Roboto"/>
                <a:cs typeface="Roboto"/>
                <a:sym typeface="Roboto"/>
              </a:rPr>
              <a:t>Expected Outcomes</a:t>
            </a:r>
            <a:endParaRPr b="1" sz="17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Significant reduction in emergency response times through rapid, precise dispatch of ambulance, police, fire, crane, and mechanic services.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Enhanced coordination and communication among emergency responders enabled by real-time location sharing and integrated alerts.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Improved public safety and community awareness through timely, geo-targeted emergency notifications.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Optimized resource utilization leading to cost savings and operational efficiency for emergency agencies.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Increased trust and satisfaction among community members due to reliable, transparent, and effective emergency response.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Data-driven insights for continuous improvement of emergency services from post-incident analytics.</a:t>
            </a:r>
            <a:endParaRPr sz="1200">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1100"/>
              <a:buFont typeface="Arial"/>
              <a:buNone/>
            </a:pPr>
            <a:r>
              <a:t/>
            </a:r>
            <a:endParaRPr b="1" sz="1100">
              <a:solidFill>
                <a:schemeClr val="dk1"/>
              </a:solidFill>
            </a:endParaRPr>
          </a:p>
          <a:p>
            <a:pPr indent="0" lvl="0" marL="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Methodology</a:t>
            </a:r>
            <a:endParaRPr b="1" i="0" sz="1100" u="none" cap="none" strike="noStrike">
              <a:solidFill>
                <a:schemeClr val="dk1"/>
              </a:solidFill>
              <a:latin typeface="Arial"/>
              <a:ea typeface="Arial"/>
              <a:cs typeface="Arial"/>
              <a:sym typeface="Arial"/>
            </a:endParaRPr>
          </a:p>
        </p:txBody>
      </p:sp>
      <p:sp>
        <p:nvSpPr>
          <p:cNvPr id="134" name="Google Shape;134;p9"/>
          <p:cNvSpPr txBox="1"/>
          <p:nvPr/>
        </p:nvSpPr>
        <p:spPr>
          <a:xfrm>
            <a:off x="153025" y="884975"/>
            <a:ext cx="8944200" cy="360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Clr>
                <a:schemeClr val="dk1"/>
              </a:buClr>
              <a:buSzPts val="1100"/>
              <a:buFont typeface="Arial"/>
              <a:buNone/>
            </a:pPr>
            <a:r>
              <a:rPr lang="en" sz="1100">
                <a:solidFill>
                  <a:schemeClr val="dk1"/>
                </a:solidFill>
                <a:latin typeface="Roboto"/>
                <a:ea typeface="Roboto"/>
                <a:cs typeface="Roboto"/>
                <a:sym typeface="Roboto"/>
              </a:rPr>
              <a:t>Hardware:</a:t>
            </a:r>
            <a:endParaRPr sz="1100">
              <a:solidFill>
                <a:schemeClr val="dk1"/>
              </a:solidFill>
              <a:latin typeface="Roboto"/>
              <a:ea typeface="Roboto"/>
              <a:cs typeface="Roboto"/>
              <a:sym typeface="Roboto"/>
            </a:endParaRPr>
          </a:p>
          <a:p>
            <a:pPr indent="-298450" lvl="0" marL="457200" rtl="0" algn="l">
              <a:lnSpc>
                <a:spcPct val="115000"/>
              </a:lnSpc>
              <a:spcBef>
                <a:spcPts val="600"/>
              </a:spcBef>
              <a:spcAft>
                <a:spcPts val="0"/>
              </a:spcAft>
              <a:buClr>
                <a:schemeClr val="dk1"/>
              </a:buClr>
              <a:buSzPts val="1100"/>
              <a:buFont typeface="Roboto"/>
              <a:buChar char="●"/>
            </a:pPr>
            <a:r>
              <a:rPr lang="en" sz="1100">
                <a:solidFill>
                  <a:schemeClr val="dk1"/>
                </a:solidFill>
                <a:latin typeface="Roboto"/>
                <a:ea typeface="Roboto"/>
                <a:cs typeface="Roboto"/>
                <a:sym typeface="Roboto"/>
              </a:rPr>
              <a:t>Mobile devices (smartphones/tablets) carried by users and responders for real-time GPS location sharing and communication.</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Emergency vehicles equipped with GPS trackers and communication modules for live status updates.</a:t>
            </a:r>
            <a:endParaRPr sz="11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11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 sz="1100">
                <a:solidFill>
                  <a:schemeClr val="dk1"/>
                </a:solidFill>
                <a:latin typeface="Roboto"/>
                <a:ea typeface="Roboto"/>
                <a:cs typeface="Roboto"/>
                <a:sym typeface="Roboto"/>
              </a:rPr>
              <a:t>Software:</a:t>
            </a:r>
            <a:endParaRPr sz="1100">
              <a:solidFill>
                <a:schemeClr val="dk1"/>
              </a:solidFill>
              <a:latin typeface="Roboto"/>
              <a:ea typeface="Roboto"/>
              <a:cs typeface="Roboto"/>
              <a:sym typeface="Roboto"/>
            </a:endParaRPr>
          </a:p>
          <a:p>
            <a:pPr indent="-298450" lvl="0" marL="457200" rtl="0" algn="l">
              <a:lnSpc>
                <a:spcPct val="115000"/>
              </a:lnSpc>
              <a:spcBef>
                <a:spcPts val="600"/>
              </a:spcBef>
              <a:spcAft>
                <a:spcPts val="0"/>
              </a:spcAft>
              <a:buClr>
                <a:schemeClr val="dk1"/>
              </a:buClr>
              <a:buSzPts val="1100"/>
              <a:buFont typeface="Roboto"/>
              <a:buChar char="●"/>
            </a:pPr>
            <a:r>
              <a:rPr lang="en" sz="1100">
                <a:solidFill>
                  <a:schemeClr val="dk1"/>
                </a:solidFill>
                <a:latin typeface="Roboto"/>
                <a:ea typeface="Roboto"/>
                <a:cs typeface="Roboto"/>
                <a:sym typeface="Roboto"/>
              </a:rPr>
              <a:t>Backend system with microservices architecture handling request processing, resource allocation, alerts, and data analytics.</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Integration of GIS (Geographic Information System) services for mapping, spatial queries, and route optimization.</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Real-time notification and alert engine for emergency messaging via app, SMS, voice calls, and emails.</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Security modules for data encryption, authentication, and privacy compliance.</a:t>
            </a:r>
            <a:endParaRPr sz="11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 sz="1100">
                <a:solidFill>
                  <a:schemeClr val="dk1"/>
                </a:solidFill>
                <a:latin typeface="Roboto"/>
                <a:ea typeface="Roboto"/>
                <a:cs typeface="Roboto"/>
                <a:sym typeface="Roboto"/>
              </a:rPr>
              <a:t>Platform:</a:t>
            </a:r>
            <a:endParaRPr sz="1100">
              <a:solidFill>
                <a:schemeClr val="dk1"/>
              </a:solidFill>
              <a:latin typeface="Roboto"/>
              <a:ea typeface="Roboto"/>
              <a:cs typeface="Roboto"/>
              <a:sym typeface="Roboto"/>
            </a:endParaRPr>
          </a:p>
          <a:p>
            <a:pPr indent="-298450" lvl="0" marL="457200" rtl="0" algn="l">
              <a:lnSpc>
                <a:spcPct val="115000"/>
              </a:lnSpc>
              <a:spcBef>
                <a:spcPts val="600"/>
              </a:spcBef>
              <a:spcAft>
                <a:spcPts val="0"/>
              </a:spcAft>
              <a:buClr>
                <a:schemeClr val="dk1"/>
              </a:buClr>
              <a:buSzPts val="1100"/>
              <a:buFont typeface="Roboto"/>
              <a:buChar char="●"/>
            </a:pPr>
            <a:r>
              <a:rPr lang="en" sz="1100">
                <a:solidFill>
                  <a:schemeClr val="dk1"/>
                </a:solidFill>
                <a:latin typeface="Roboto"/>
                <a:ea typeface="Roboto"/>
                <a:cs typeface="Roboto"/>
                <a:sym typeface="Roboto"/>
              </a:rPr>
              <a:t>Cloud-based platform ensuring flexible scaling, redundancy, and disaster recovery capabilities.</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API gateways for easy integration with external emergency service databases and third-party applications.</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Dashboard for dispatchers and administrators providing real-time monitoring, incident tracking, and reporting.</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Data storage with backup and audit capabilities, supporting analytics and continuous improvement.</a:t>
            </a:r>
            <a:endParaRPr sz="1100">
              <a:solidFill>
                <a:schemeClr val="dk1"/>
              </a:solidFill>
              <a:latin typeface="Roboto"/>
              <a:ea typeface="Roboto"/>
              <a:cs typeface="Roboto"/>
              <a:sym typeface="Roboto"/>
            </a:endParaRPr>
          </a:p>
          <a:p>
            <a:pPr indent="0" lvl="0" marL="0" marR="0" rtl="0" algn="l">
              <a:lnSpc>
                <a:spcPct val="115000"/>
              </a:lnSpc>
              <a:spcBef>
                <a:spcPts val="1200"/>
              </a:spcBef>
              <a:spcAft>
                <a:spcPts val="1200"/>
              </a:spcAft>
              <a:buClr>
                <a:srgbClr val="000000"/>
              </a:buClr>
              <a:buSzPts val="1100"/>
              <a:buFont typeface="Arial"/>
              <a:buNone/>
            </a:pPr>
            <a:r>
              <a:t/>
            </a:r>
            <a:endParaRPr sz="1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ctrTitle"/>
          </p:nvPr>
        </p:nvSpPr>
        <p:spPr>
          <a:xfrm>
            <a:off x="311700" y="991225"/>
            <a:ext cx="8520600" cy="6483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0"/>
              </a:spcAft>
              <a:buClr>
                <a:schemeClr val="dk1"/>
              </a:buClr>
              <a:buSzPts val="4680"/>
              <a:buFont typeface="Arial"/>
              <a:buNone/>
            </a:pPr>
            <a:r>
              <a:rPr lang="en" sz="1590"/>
              <a:t>Algorithm &amp; Flowchart</a:t>
            </a:r>
            <a:endParaRPr sz="1995"/>
          </a:p>
          <a:p>
            <a:pPr indent="0" lvl="0" marL="0" rtl="0" algn="l">
              <a:lnSpc>
                <a:spcPct val="100000"/>
              </a:lnSpc>
              <a:spcBef>
                <a:spcPts val="1200"/>
              </a:spcBef>
              <a:spcAft>
                <a:spcPts val="0"/>
              </a:spcAft>
              <a:buSzPts val="4680"/>
              <a:buNone/>
            </a:pPr>
            <a:r>
              <a:t/>
            </a:r>
            <a:endParaRPr sz="1620"/>
          </a:p>
        </p:txBody>
      </p:sp>
      <p:sp>
        <p:nvSpPr>
          <p:cNvPr id="140" name="Google Shape;140;p10"/>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Methodology</a:t>
            </a:r>
            <a:endParaRPr b="1" i="0" sz="1100" u="none" cap="none" strike="noStrike">
              <a:solidFill>
                <a:schemeClr val="dk1"/>
              </a:solidFill>
              <a:latin typeface="Arial"/>
              <a:ea typeface="Arial"/>
              <a:cs typeface="Arial"/>
              <a:sym typeface="Arial"/>
            </a:endParaRPr>
          </a:p>
        </p:txBody>
      </p:sp>
      <p:sp>
        <p:nvSpPr>
          <p:cNvPr id="141" name="Google Shape;141;p10"/>
          <p:cNvSpPr txBox="1"/>
          <p:nvPr/>
        </p:nvSpPr>
        <p:spPr>
          <a:xfrm>
            <a:off x="464300" y="1523475"/>
            <a:ext cx="3982800" cy="30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200">
                <a:solidFill>
                  <a:schemeClr val="dk1"/>
                </a:solidFill>
                <a:latin typeface="Roboto"/>
                <a:ea typeface="Roboto"/>
                <a:cs typeface="Roboto"/>
                <a:sym typeface="Roboto"/>
              </a:rPr>
              <a:t>Algorithm: </a:t>
            </a:r>
            <a:endParaRPr sz="1000">
              <a:solidFill>
                <a:schemeClr val="dk1"/>
              </a:solidFill>
              <a:latin typeface="Roboto"/>
              <a:ea typeface="Roboto"/>
              <a:cs typeface="Roboto"/>
              <a:sym typeface="Roboto"/>
            </a:endParaRPr>
          </a:p>
          <a:p>
            <a:pPr indent="-292100" lvl="0" marL="457200" rtl="0" algn="l">
              <a:lnSpc>
                <a:spcPct val="115000"/>
              </a:lnSpc>
              <a:spcBef>
                <a:spcPts val="1800"/>
              </a:spcBef>
              <a:spcAft>
                <a:spcPts val="0"/>
              </a:spcAft>
              <a:buClr>
                <a:schemeClr val="dk1"/>
              </a:buClr>
              <a:buSzPts val="1000"/>
              <a:buFont typeface="Roboto"/>
              <a:buChar char="●"/>
            </a:pPr>
            <a:r>
              <a:rPr b="1" lang="en" sz="12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User reports emergency with live location automatically captured.</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Finds nearest responder using geo-location.</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Sends real-time alert to responder.</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Monitors movement of user and responder.</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Sends status updates.</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Broadcasts alerts if needed.</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Collects data for improvement.</a:t>
            </a:r>
            <a:endParaRPr sz="10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1"/>
              </a:solidFill>
              <a:latin typeface="Roboto"/>
              <a:ea typeface="Roboto"/>
              <a:cs typeface="Roboto"/>
              <a:sym typeface="Roboto"/>
            </a:endParaRPr>
          </a:p>
          <a:p>
            <a:pPr indent="0" lvl="0" marL="0" rtl="0" algn="l">
              <a:lnSpc>
                <a:spcPct val="115000"/>
              </a:lnSpc>
              <a:spcBef>
                <a:spcPts val="1800"/>
              </a:spcBef>
              <a:spcAft>
                <a:spcPts val="400"/>
              </a:spcAft>
              <a:buNone/>
            </a:pPr>
            <a:r>
              <a:t/>
            </a:r>
            <a:endParaRPr b="1" sz="1200">
              <a:solidFill>
                <a:schemeClr val="dk1"/>
              </a:solidFill>
              <a:latin typeface="Roboto"/>
              <a:ea typeface="Roboto"/>
              <a:cs typeface="Roboto"/>
              <a:sym typeface="Roboto"/>
            </a:endParaRPr>
          </a:p>
        </p:txBody>
      </p:sp>
      <p:sp>
        <p:nvSpPr>
          <p:cNvPr id="142" name="Google Shape;142;p10"/>
          <p:cNvSpPr txBox="1"/>
          <p:nvPr/>
        </p:nvSpPr>
        <p:spPr>
          <a:xfrm>
            <a:off x="4708225" y="1465425"/>
            <a:ext cx="4280100" cy="308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200">
                <a:solidFill>
                  <a:schemeClr val="dk1"/>
                </a:solidFill>
                <a:latin typeface="Roboto"/>
                <a:ea typeface="Roboto"/>
                <a:cs typeface="Roboto"/>
                <a:sym typeface="Roboto"/>
              </a:rPr>
              <a:t>Flowchart Outline:</a:t>
            </a:r>
            <a:endParaRPr b="1" sz="1200">
              <a:solidFill>
                <a:schemeClr val="dk1"/>
              </a:solidFill>
              <a:latin typeface="Roboto"/>
              <a:ea typeface="Roboto"/>
              <a:cs typeface="Roboto"/>
              <a:sym typeface="Roboto"/>
            </a:endParaRPr>
          </a:p>
          <a:p>
            <a:pPr indent="-292100" lvl="0" marL="457200" rtl="0" algn="l">
              <a:lnSpc>
                <a:spcPct val="115000"/>
              </a:lnSpc>
              <a:spcBef>
                <a:spcPts val="400"/>
              </a:spcBef>
              <a:spcAft>
                <a:spcPts val="0"/>
              </a:spcAft>
              <a:buClr>
                <a:schemeClr val="dk1"/>
              </a:buClr>
              <a:buSzPts val="1000"/>
              <a:buFont typeface="Roboto"/>
              <a:buChar char="●"/>
            </a:pPr>
            <a:r>
              <a:rPr lang="en" sz="1000">
                <a:solidFill>
                  <a:schemeClr val="dk1"/>
                </a:solidFill>
                <a:latin typeface="Roboto"/>
                <a:ea typeface="Roboto"/>
                <a:cs typeface="Roboto"/>
                <a:sym typeface="Roboto"/>
              </a:rPr>
              <a:t>Emergency reported</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Capture location &amp; details</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Validate and prioritize</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Find nearest resource</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Dispatch responder</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Track response</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Send updates</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Issue alerts if needed</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Close and review incident</a:t>
            </a:r>
            <a:endParaRPr sz="21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