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gUgOcSYM1XDlEwbDgV+CX1J6AN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156AF3-0449-49E9-80D6-D0D261114449}">
  <a:tblStyle styleId="{50156AF3-0449-49E9-80D6-D0D26111444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e12cbe41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9e12cbe4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e12cbe41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9e12cbe41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dee9032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dee9032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e12cbe41a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9e12cbe41a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23"/>
          <p:cNvSpPr txBox="1"/>
          <p:nvPr/>
        </p:nvSpPr>
        <p:spPr>
          <a:xfrm>
            <a:off x="0" y="4573675"/>
            <a:ext cx="918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Marathwada Mitra Mandal’s College of Engineering          </a:t>
            </a:r>
            <a:endParaRPr b="0" i="0" sz="15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     </a:t>
            </a:r>
            <a:endParaRPr b="1" i="0" sz="15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4" name="Google Shape;5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2300" y="4575112"/>
            <a:ext cx="513526" cy="5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5175" y="4618450"/>
            <a:ext cx="633511" cy="4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235500" y="134975"/>
            <a:ext cx="85206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Marathwada Mitra Mandal's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COLLEGE OF ENGINEERING, Karve Nagar, Pune - 52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An Autonomous Institute Affiliated to SPPU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www.mmcoe.edu.in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  email id: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mmcoe@mmcoe.edu.in</a:t>
            </a:r>
            <a:endParaRPr sz="1200">
              <a:solidFill>
                <a:srgbClr val="941A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900">
              <a:solidFill>
                <a:srgbClr val="5C2D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979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311700" y="1384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</a:t>
            </a:r>
            <a:endParaRPr b="1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94925" y="2156375"/>
            <a:ext cx="8952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Project Based Learning - Review 2 (AY 2025-26)</a:t>
            </a:r>
            <a:r>
              <a:rPr b="0" i="0" lang="en" sz="17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lang="en" sz="3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Emergency Service Platform</a:t>
            </a:r>
            <a:r>
              <a:rPr b="1" i="0" lang="en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b="1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-22850" y="3360825"/>
            <a:ext cx="4459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Presented By: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SI145  Harshwardhan Khaire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SI138  Pranav Chavan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SI141   Sonal Karche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SI126   Sanika Potdar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4" name="Google Shape;6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400" y="224750"/>
            <a:ext cx="834799" cy="8246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 txBox="1"/>
          <p:nvPr/>
        </p:nvSpPr>
        <p:spPr>
          <a:xfrm>
            <a:off x="6713150" y="4761275"/>
            <a:ext cx="1736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Date: </a:t>
            </a:r>
            <a:endParaRPr b="0" i="0" sz="1500" u="none" cap="none" strike="noStrik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5748300" y="3483675"/>
            <a:ext cx="308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Guide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Prakash Gadekar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-159800" y="4761275"/>
            <a:ext cx="32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Sponsor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(If applicable)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5643825" y="4761275"/>
            <a:ext cx="366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                   29/10/2025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CEP Project Title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74" name="Google Shape;74;p2"/>
          <p:cNvGraphicFramePr/>
          <p:nvPr/>
        </p:nvGraphicFramePr>
        <p:xfrm>
          <a:off x="590696" y="6794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{50156AF3-0449-49E9-80D6-D0D261114449}</a:tableStyleId>
              </a:tblPr>
              <a:tblGrid>
                <a:gridCol w="7915600"/>
              </a:tblGrid>
              <a:tr h="60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FF0000"/>
                          </a:solidFill>
                        </a:rPr>
                        <a:t>Title 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B340">
                        <a:alpha val="65882"/>
                      </a:srgbClr>
                    </a:solidFill>
                  </a:tcPr>
                </a:tc>
              </a:tr>
              <a:tr h="3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/>
                        <a:t>Context of the project :</a:t>
                      </a:r>
                      <a:endParaRPr sz="1400" u="none" cap="none" strike="noStrike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/>
                        <a:t>In emergencies, people struggle to find and contact the right service quickly.</a:t>
                      </a:r>
                      <a:br>
                        <a:rPr lang="en"/>
                      </a:b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/>
                        <a:t>Delays in reaching fire, police, ambulance, or nearest help can cost lives and property.</a:t>
                      </a:r>
                      <a:br>
                        <a:rPr lang="en"/>
                      </a:b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/>
                        <a:t>A single app integrating all emergency services can bridge this gap.</a:t>
                      </a:r>
                      <a:endParaRPr/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/>
                        <a:t>It is often observed that during emergencies, more than one service (e.g., ambulance and police) is required simultaneously, making coordination difficult.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/>
                        <a:t>Area/Community of focus 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Urban communities, where response time is critical.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5" name="Google Shape;75;p2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Proposed Solution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177050" y="660175"/>
            <a:ext cx="8789700" cy="3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</a:rPr>
              <a:t>A unified </a:t>
            </a:r>
            <a:r>
              <a:rPr b="1" lang="en">
                <a:solidFill>
                  <a:schemeClr val="dk1"/>
                </a:solidFill>
              </a:rPr>
              <a:t>digital platform</a:t>
            </a:r>
            <a:r>
              <a:rPr lang="en">
                <a:solidFill>
                  <a:schemeClr val="dk1"/>
                </a:solidFill>
              </a:rPr>
              <a:t> connecting users to ambulance, police and  fire station.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</a:rPr>
              <a:t>Allows users to </a:t>
            </a:r>
            <a:r>
              <a:rPr b="1" lang="en">
                <a:solidFill>
                  <a:schemeClr val="dk1"/>
                </a:solidFill>
              </a:rPr>
              <a:t>request emergency help instantly</a:t>
            </a:r>
            <a:r>
              <a:rPr lang="en">
                <a:solidFill>
                  <a:schemeClr val="dk1"/>
                </a:solidFill>
              </a:rPr>
              <a:t> via web or mobile app.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</a:rPr>
              <a:t>Uses </a:t>
            </a:r>
            <a:r>
              <a:rPr b="1" lang="en">
                <a:solidFill>
                  <a:schemeClr val="dk1"/>
                </a:solidFill>
              </a:rPr>
              <a:t>real-time GPS tracking</a:t>
            </a:r>
            <a:r>
              <a:rPr lang="en">
                <a:solidFill>
                  <a:schemeClr val="dk1"/>
                </a:solidFill>
              </a:rPr>
              <a:t> to locate users and route requests to the nearest service.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</a:rPr>
              <a:t>Provides </a:t>
            </a:r>
            <a:r>
              <a:rPr b="1" lang="en">
                <a:solidFill>
                  <a:schemeClr val="dk1"/>
                </a:solidFill>
              </a:rPr>
              <a:t>live status updates</a:t>
            </a:r>
            <a:r>
              <a:rPr lang="en">
                <a:solidFill>
                  <a:schemeClr val="dk1"/>
                </a:solidFill>
              </a:rPr>
              <a:t> — </a:t>
            </a:r>
            <a:r>
              <a:rPr i="1" lang="en">
                <a:solidFill>
                  <a:schemeClr val="dk1"/>
                </a:solidFill>
              </a:rPr>
              <a:t>Accepted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i="1" lang="en">
                <a:solidFill>
                  <a:schemeClr val="dk1"/>
                </a:solidFill>
              </a:rPr>
              <a:t>On the Way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i="1" lang="en">
                <a:solidFill>
                  <a:schemeClr val="dk1"/>
                </a:solidFill>
              </a:rPr>
              <a:t>Resolved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</a:rPr>
              <a:t>Ensures </a:t>
            </a:r>
            <a:r>
              <a:rPr b="1" lang="en">
                <a:solidFill>
                  <a:schemeClr val="dk1"/>
                </a:solidFill>
              </a:rPr>
              <a:t>faster response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clear communication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public transparency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e12cbe41a_1_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Proposed Solution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g39e12cbe41a_1_0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9e12cbe41a_1_0"/>
          <p:cNvSpPr txBox="1"/>
          <p:nvPr/>
        </p:nvSpPr>
        <p:spPr>
          <a:xfrm>
            <a:off x="177050" y="660175"/>
            <a:ext cx="8789700" cy="4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Technology Stack</a:t>
            </a: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Frontend</a:t>
            </a: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HTML, CSS, JavaScript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Leaflet.js (Maps)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OpenStreetMap API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Backend</a:t>
            </a: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Node.js + Express.js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APIs Used</a:t>
            </a: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Geolocation API (Live Location Tracking)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localStorage API (Data Storage)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OpenStreetMap Tile API (Map Data)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Tel Protocol (Emergency Calling)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e12cbe41a_1_6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Proposed Solution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" name="Google Shape;95;g39e12cbe41a_1_6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9e12cbe41a_1_6"/>
          <p:cNvSpPr txBox="1"/>
          <p:nvPr/>
        </p:nvSpPr>
        <p:spPr>
          <a:xfrm>
            <a:off x="177050" y="660175"/>
            <a:ext cx="8789700" cy="26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UI/UX</a:t>
            </a: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Responsive Design 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Progressive Web App (PWA)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Google Fonts (Inter)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Custom Animations &amp; Gradients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Prototype or Model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79375" y="798475"/>
            <a:ext cx="86499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Photos/screenshots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50" y="1180347"/>
            <a:ext cx="3846975" cy="23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775" y="1226525"/>
            <a:ext cx="4042624" cy="235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dee9032a7_0_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g39dee9032a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00" y="669275"/>
            <a:ext cx="5456151" cy="2844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9dee9032a7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2100" y="204325"/>
            <a:ext cx="2330200" cy="4806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9dee9032a7_0_0"/>
          <p:cNvSpPr txBox="1"/>
          <p:nvPr/>
        </p:nvSpPr>
        <p:spPr>
          <a:xfrm>
            <a:off x="648225" y="204325"/>
            <a:ext cx="35463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 it works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Testing and Feedback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73200" y="798475"/>
            <a:ext cx="9144000" cy="46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Testing &amp; Feedback</a:t>
            </a:r>
            <a:endParaRPr b="1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Testing 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Conducted </a:t>
            </a:r>
            <a:r>
              <a:rPr b="1" lang="en">
                <a:solidFill>
                  <a:schemeClr val="dk1"/>
                </a:solidFill>
              </a:rPr>
              <a:t>simulated emergency scenarios</a:t>
            </a:r>
            <a:r>
              <a:rPr lang="en">
                <a:solidFill>
                  <a:schemeClr val="dk1"/>
                </a:solidFill>
              </a:rPr>
              <a:t> to test workflow efficiency.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Sample users entered emergency requests via </a:t>
            </a:r>
            <a:r>
              <a:rPr b="1" lang="en">
                <a:solidFill>
                  <a:schemeClr val="dk1"/>
                </a:solidFill>
              </a:rPr>
              <a:t>mock interface</a:t>
            </a:r>
            <a:r>
              <a:rPr lang="en">
                <a:solidFill>
                  <a:schemeClr val="dk1"/>
                </a:solidFill>
              </a:rPr>
              <a:t> (web/mobile).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Verified response flow between </a:t>
            </a:r>
            <a:r>
              <a:rPr b="1" lang="en">
                <a:solidFill>
                  <a:schemeClr val="dk1"/>
                </a:solidFill>
              </a:rPr>
              <a:t>user, service provider, and volunteer dashboards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GPS tracking and status update simulation</a:t>
            </a:r>
            <a:r>
              <a:rPr lang="en">
                <a:solidFill>
                  <a:schemeClr val="dk1"/>
                </a:solidFill>
              </a:rPr>
              <a:t> tested for accuracy and timing.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System evaluated for </a:t>
            </a:r>
            <a:r>
              <a:rPr b="1" lang="en">
                <a:solidFill>
                  <a:schemeClr val="dk1"/>
                </a:solidFill>
              </a:rPr>
              <a:t>usability, clarity, and notification reliability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Feedback 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Users:</a:t>
            </a:r>
            <a:r>
              <a:rPr lang="en">
                <a:solidFill>
                  <a:schemeClr val="dk1"/>
                </a:solidFill>
              </a:rPr>
              <a:t> Found the interface intuitive and easy to use during simulated stress conditions.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Service Provi</a:t>
            </a:r>
            <a:r>
              <a:rPr b="1" lang="en">
                <a:solidFill>
                  <a:schemeClr val="dk1"/>
                </a:solidFill>
              </a:rPr>
              <a:t>d</a:t>
            </a:r>
            <a:r>
              <a:rPr b="1" lang="en">
                <a:solidFill>
                  <a:schemeClr val="dk1"/>
                </a:solidFill>
              </a:rPr>
              <a:t>ers:</a:t>
            </a:r>
            <a:r>
              <a:rPr lang="en">
                <a:solidFill>
                  <a:schemeClr val="dk1"/>
                </a:solidFill>
              </a:rPr>
              <a:t> Appreciated the centralized dashboard for managing multiple cases.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Overall:</a:t>
            </a:r>
            <a:r>
              <a:rPr lang="en">
                <a:solidFill>
                  <a:schemeClr val="dk1"/>
                </a:solidFill>
              </a:rPr>
              <a:t> Positive response to concept; users valued real-time updates and transparency.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Recommendations included </a:t>
            </a:r>
            <a:r>
              <a:rPr b="1" lang="en">
                <a:solidFill>
                  <a:schemeClr val="dk1"/>
                </a:solidFill>
              </a:rPr>
              <a:t>adding emergency contact auto-dial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offline support</a:t>
            </a:r>
            <a:r>
              <a:rPr lang="en">
                <a:solidFill>
                  <a:schemeClr val="dk1"/>
                </a:solidFill>
              </a:rPr>
              <a:t> in low-network areas.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Feasibility and Sustainability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73200" y="798475"/>
            <a:ext cx="8676900" cy="49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it be scaled or maintained?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n">
                <a:solidFill>
                  <a:schemeClr val="dk1"/>
                </a:solidFill>
              </a:rPr>
              <a:t>Built using </a:t>
            </a:r>
            <a:r>
              <a:rPr b="1" lang="en">
                <a:solidFill>
                  <a:schemeClr val="dk1"/>
                </a:solidFill>
              </a:rPr>
              <a:t>modular architecture</a:t>
            </a:r>
            <a:r>
              <a:rPr lang="en">
                <a:solidFill>
                  <a:schemeClr val="dk1"/>
                </a:solidFill>
              </a:rPr>
              <a:t>, allowing easy addition of new features or services.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n">
                <a:solidFill>
                  <a:schemeClr val="dk1"/>
                </a:solidFill>
              </a:rPr>
              <a:t>Regular </a:t>
            </a:r>
            <a:r>
              <a:rPr b="1" lang="en">
                <a:solidFill>
                  <a:schemeClr val="dk1"/>
                </a:solidFill>
              </a:rPr>
              <a:t>maintenance and updates</a:t>
            </a:r>
            <a:r>
              <a:rPr lang="en">
                <a:solidFill>
                  <a:schemeClr val="dk1"/>
                </a:solidFill>
              </a:rPr>
              <a:t> can be managed by a small technical team.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b="1" lang="en">
                <a:solidFill>
                  <a:schemeClr val="dk1"/>
                </a:solidFill>
              </a:rPr>
              <a:t>APIs and dashboards</a:t>
            </a:r>
            <a:r>
              <a:rPr lang="en">
                <a:solidFill>
                  <a:schemeClr val="dk1"/>
                </a:solidFill>
              </a:rPr>
              <a:t> ensure smooth integration with new emergency agencies or partners.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n">
                <a:solidFill>
                  <a:schemeClr val="dk1"/>
                </a:solidFill>
              </a:rPr>
              <a:t>Open for </a:t>
            </a:r>
            <a:r>
              <a:rPr b="1" lang="en">
                <a:solidFill>
                  <a:schemeClr val="dk1"/>
                </a:solidFill>
              </a:rPr>
              <a:t>future expansion</a:t>
            </a:r>
            <a:r>
              <a:rPr lang="en">
                <a:solidFill>
                  <a:schemeClr val="dk1"/>
                </a:solidFill>
              </a:rPr>
              <a:t> to rural areas or nationwide coverage.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and complexity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b="1" lang="en">
                <a:solidFill>
                  <a:schemeClr val="dk1"/>
                </a:solidFill>
              </a:rPr>
              <a:t>Development Cost:</a:t>
            </a:r>
            <a:r>
              <a:rPr lang="en">
                <a:solidFill>
                  <a:schemeClr val="dk1"/>
                </a:solidFill>
              </a:rPr>
              <a:t> Moderate — mainly for server setup, APIs, and app development (required in future development).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b="1" lang="en">
                <a:solidFill>
                  <a:schemeClr val="dk1"/>
                </a:solidFill>
              </a:rPr>
              <a:t>Maintenance Cost:</a:t>
            </a:r>
            <a:r>
              <a:rPr lang="en">
                <a:solidFill>
                  <a:schemeClr val="dk1"/>
                </a:solidFill>
              </a:rPr>
              <a:t> Low to medium — depends on hosting and periodic updates.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b="1" lang="en">
                <a:solidFill>
                  <a:schemeClr val="dk1"/>
                </a:solidFill>
              </a:rPr>
              <a:t>Complexity Level:</a:t>
            </a:r>
            <a:r>
              <a:rPr lang="en">
                <a:solidFill>
                  <a:schemeClr val="dk1"/>
                </a:solidFill>
              </a:rPr>
              <a:t> Medium — involves integration of multiple services and real-time GPS tracking.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n">
                <a:solidFill>
                  <a:schemeClr val="dk1"/>
                </a:solidFill>
              </a:rPr>
              <a:t>Use of </a:t>
            </a:r>
            <a:r>
              <a:rPr b="1" lang="en">
                <a:solidFill>
                  <a:schemeClr val="dk1"/>
                </a:solidFill>
              </a:rPr>
              <a:t>open-source tools and cloud services</a:t>
            </a:r>
            <a:r>
              <a:rPr lang="en">
                <a:solidFill>
                  <a:schemeClr val="dk1"/>
                </a:solidFill>
              </a:rPr>
              <a:t> reduces overall expenses.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n">
                <a:solidFill>
                  <a:schemeClr val="dk1"/>
                </a:solidFill>
              </a:rPr>
              <a:t>Long-term sustainability achievable through </a:t>
            </a:r>
            <a:r>
              <a:rPr b="1" lang="en">
                <a:solidFill>
                  <a:schemeClr val="dk1"/>
                </a:solidFill>
              </a:rPr>
              <a:t>government or NGO partnerships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community adoption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Final Outcome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21325" y="798475"/>
            <a:ext cx="64101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0" lang="en" u="none" cap="none" strike="noStrike">
                <a:solidFill>
                  <a:schemeClr val="dk1"/>
                </a:solidFill>
              </a:rPr>
              <a:t>Before vs. After comparison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Before: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Users had to call multiple numbers for different emergency services.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Response time was slow and coordination poor.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Limited tracking or transparency once help was requested.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After: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All emergency services accessible from </a:t>
            </a:r>
            <a:r>
              <a:rPr b="1" lang="en">
                <a:solidFill>
                  <a:schemeClr val="dk1"/>
                </a:solidFill>
              </a:rPr>
              <a:t>one digital platform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Faster response</a:t>
            </a:r>
            <a:r>
              <a:rPr lang="en">
                <a:solidFill>
                  <a:schemeClr val="dk1"/>
                </a:solidFill>
              </a:rPr>
              <a:t> through automated routing and GPS tracking.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Live status updates</a:t>
            </a:r>
            <a:r>
              <a:rPr lang="en">
                <a:solidFill>
                  <a:schemeClr val="dk1"/>
                </a:solidFill>
              </a:rPr>
              <a:t> ensure better transparency and user confidence.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e12cbe41a_1_14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Final Outcome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9e12cbe41a_1_14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9e12cbe41a_1_14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9e12cbe41a_1_14"/>
          <p:cNvSpPr txBox="1"/>
          <p:nvPr/>
        </p:nvSpPr>
        <p:spPr>
          <a:xfrm>
            <a:off x="133075" y="798475"/>
            <a:ext cx="62457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Impact Estimate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30–40% reduction</a:t>
            </a:r>
            <a:r>
              <a:rPr lang="en">
                <a:solidFill>
                  <a:schemeClr val="dk1"/>
                </a:solidFill>
              </a:rPr>
              <a:t> in average emergency response time (estimated).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Improved coordination</a:t>
            </a:r>
            <a:r>
              <a:rPr lang="en">
                <a:solidFill>
                  <a:schemeClr val="dk1"/>
                </a:solidFill>
              </a:rPr>
              <a:t> among police, fire, ambulance.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Increased public trust</a:t>
            </a:r>
            <a:r>
              <a:rPr lang="en">
                <a:solidFill>
                  <a:schemeClr val="dk1"/>
                </a:solidFill>
              </a:rPr>
              <a:t> through transparent tracking and reporting.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Potential to </a:t>
            </a:r>
            <a:r>
              <a:rPr b="1" lang="en">
                <a:solidFill>
                  <a:schemeClr val="dk1"/>
                </a:solidFill>
              </a:rPr>
              <a:t>save lives and property</a:t>
            </a:r>
            <a:r>
              <a:rPr lang="en">
                <a:solidFill>
                  <a:schemeClr val="dk1"/>
                </a:solidFill>
              </a:rPr>
              <a:t> with timely intervention.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Promotes </a:t>
            </a:r>
            <a:r>
              <a:rPr b="1" lang="en">
                <a:solidFill>
                  <a:schemeClr val="dk1"/>
                </a:solidFill>
              </a:rPr>
              <a:t>community involvement</a:t>
            </a:r>
            <a:r>
              <a:rPr lang="en">
                <a:solidFill>
                  <a:schemeClr val="dk1"/>
                </a:solidFill>
              </a:rPr>
              <a:t> via volunteer participation.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Team Contributions and Learning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555425" y="798475"/>
            <a:ext cx="63519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 of each member : 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Pranav Chavan - Tech Stack and API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Sonal Karche - Problem Statement and Frontend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Sanika Potdar - Documentation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Harshwardhan Khaire - Research and Design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Reflection / Learnings</a:t>
            </a:r>
            <a:endParaRPr b="1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Real-world problem analysis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Application of web/mobile integration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Basics of APIs, GPS, and cloud systems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Team coordination and technical documentation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Future Scope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578900" y="650575"/>
            <a:ext cx="47109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0" lang="en" u="none" cap="none" strike="noStrike">
                <a:solidFill>
                  <a:schemeClr val="dk1"/>
                </a:solidFill>
                <a:highlight>
                  <a:schemeClr val="lt1"/>
                </a:highlight>
              </a:rPr>
              <a:t>Future Scope</a:t>
            </a: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Smart AI Chatbot &amp; Voice Assistant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Live Video Consultations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Secure Database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Real-time Hospital Bed Availability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Multi-language Support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Blockchain for Medical Records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Community Volunteer Network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End to end encryption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Offline Map Downloads</a:t>
            </a:r>
            <a:br>
              <a:rPr i="0" lang="en" u="none" cap="none" strike="noStrike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i="0" u="none" cap="none" strike="noStrike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