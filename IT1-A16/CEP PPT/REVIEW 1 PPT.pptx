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jf9IMj+wy4rMNYzVlSydirCCXQ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D4884D-6915-4EA3-8900-31FB4CA5E32D}">
  <a:tblStyle styleId="{9BD4884D-6915-4EA3-8900-31FB4CA5E32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B00605BE-B2DB-4837-B9DB-1DA85C1DFED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35cef6d67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835cef6d67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35cef6d67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835cef6d67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35cef6d67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835cef6d67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21"/>
          <p:cNvSpPr txBox="1"/>
          <p:nvPr/>
        </p:nvSpPr>
        <p:spPr>
          <a:xfrm>
            <a:off x="0" y="4573675"/>
            <a:ext cx="918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Marathwada Mitra Mandal’s College of Engineering          </a:t>
            </a:r>
            <a:endParaRPr b="0" i="0" sz="15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     </a:t>
            </a:r>
            <a:endParaRPr b="1" i="0" sz="15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4" name="Google Shape;5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2300" y="4575112"/>
            <a:ext cx="513526" cy="5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5175" y="4618450"/>
            <a:ext cx="633511" cy="4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235500" y="134975"/>
            <a:ext cx="8520600" cy="14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Marathwada Mitra Mandal's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COLLEGE OF ENGINEERING, Karve Nagar, Pune - 52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An Autonomous Institute Affiliated to SPPU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Website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www.mmcoe.edu.in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  email id: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mmcoe@mmcoe.edu.in</a:t>
            </a:r>
            <a:endParaRPr sz="1200">
              <a:solidFill>
                <a:srgbClr val="941A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900">
              <a:solidFill>
                <a:srgbClr val="5C2D9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979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311700" y="13843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</a:t>
            </a:r>
            <a:endParaRPr b="1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94925" y="2156375"/>
            <a:ext cx="8952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Project Based Learning - Review 1 (AY 2025-26)</a:t>
            </a:r>
            <a:r>
              <a:rPr b="0" i="0" lang="en" sz="17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17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1" lang="en" sz="30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Emergency Service Platform</a:t>
            </a:r>
            <a:r>
              <a:rPr b="1" i="0" lang="en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b="1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-22850" y="3360825"/>
            <a:ext cx="4459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Presented By: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SI145  Harshwardhan Khaire</a:t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SI138   Pranav Chavan</a:t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        SI141   Sonal Karche</a:t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SI126   Sanika Potdar</a:t>
            </a:r>
            <a:endParaRPr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4" name="Google Shape;6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400" y="224750"/>
            <a:ext cx="834799" cy="82464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 txBox="1"/>
          <p:nvPr/>
        </p:nvSpPr>
        <p:spPr>
          <a:xfrm>
            <a:off x="6713150" y="4761275"/>
            <a:ext cx="1736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Date: </a:t>
            </a:r>
            <a:endParaRPr b="0" i="0" sz="1500" u="none" cap="none" strike="noStrike">
              <a:solidFill>
                <a:srgbClr val="0000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5974175" y="3483675"/>
            <a:ext cx="216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Guide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r. Prakash Gadekar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-159800" y="4761275"/>
            <a:ext cx="32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Sponsor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(If applicable)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5733300" y="4747575"/>
            <a:ext cx="34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CEP Project Title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74" name="Google Shape;74;p2"/>
          <p:cNvGraphicFramePr/>
          <p:nvPr/>
        </p:nvGraphicFramePr>
        <p:xfrm>
          <a:off x="800196" y="1187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{9BD4884D-6915-4EA3-8900-31FB4CA5E32D}</a:tableStyleId>
              </a:tblPr>
              <a:tblGrid>
                <a:gridCol w="7651700"/>
              </a:tblGrid>
              <a:tr h="44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Emergency Service Platform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B340">
                        <a:alpha val="65882"/>
                      </a:srgbClr>
                    </a:solidFill>
                  </a:tcPr>
                </a:tc>
              </a:tr>
              <a:tr h="249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Context</a:t>
                      </a:r>
                      <a:r>
                        <a:rPr b="1" lang="en" sz="1400" u="none" cap="none" strike="noStrike"/>
                        <a:t> of the project</a:t>
                      </a:r>
                      <a:r>
                        <a:rPr b="1" lang="en"/>
                        <a:t> : </a:t>
                      </a:r>
                      <a:endParaRPr b="1"/>
                    </a:p>
                    <a:p>
                      <a:pPr indent="-3111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" sz="1300"/>
                        <a:t>In emergencies, people struggle to find and contact the right service quickly.</a:t>
                      </a:r>
                      <a:br>
                        <a:rPr lang="en" sz="1300"/>
                      </a:br>
                      <a:endParaRPr sz="1300"/>
                    </a:p>
                    <a:p>
                      <a:pPr indent="-3111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" sz="1300"/>
                        <a:t>Delays in reaching fire, police, ambulance, or roadside assistance can cost lives and property.</a:t>
                      </a:r>
                      <a:br>
                        <a:rPr lang="en" sz="1300"/>
                      </a:br>
                      <a:endParaRPr sz="1300"/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" sz="1300"/>
                        <a:t>A single app integrating all emergency services can bridge this gap.</a:t>
                      </a:r>
                      <a:endParaRPr sz="13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Area/Community of focus : </a:t>
                      </a:r>
                      <a:r>
                        <a:rPr lang="en" sz="1400" u="none" cap="none" strike="noStrike"/>
                        <a:t> </a:t>
                      </a:r>
                      <a:endParaRPr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 </a:t>
                      </a:r>
                      <a:r>
                        <a:rPr lang="en" sz="1300" u="none" cap="none" strike="noStrike"/>
                        <a:t>Urban</a:t>
                      </a:r>
                      <a:r>
                        <a:rPr lang="en" sz="1300"/>
                        <a:t> </a:t>
                      </a:r>
                      <a:r>
                        <a:rPr lang="en" sz="1300" u="none" cap="none" strike="noStrike"/>
                        <a:t>communities, where response time is critical</a:t>
                      </a:r>
                      <a:r>
                        <a:rPr lang="en" sz="1400" u="none" cap="none" strike="noStrike"/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Recap of Selected Problem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219575" y="711175"/>
            <a:ext cx="8568900" cy="3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: Emergency response today is slow and fragmented, relying on phone calls and manual coordination. This causes delays, miscommunication, and limited support from NGOs/volunteers—leading to panic and preventable harm. Our project bridges this gap with a fast, digital, location-aware solution.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Objectives: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Develop a </a:t>
            </a:r>
            <a:r>
              <a:rPr b="1" lang="en" sz="1200">
                <a:solidFill>
                  <a:schemeClr val="dk1"/>
                </a:solidFill>
              </a:rPr>
              <a:t>one-stop digital platform</a:t>
            </a:r>
            <a:r>
              <a:rPr lang="en" sz="1200">
                <a:solidFill>
                  <a:schemeClr val="dk1"/>
                </a:solidFill>
              </a:rPr>
              <a:t> for requesting multiple emergency services (ambulance, police, fire, NGOs).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</a:rPr>
              <a:t>Automate and digitize communication</a:t>
            </a:r>
            <a:r>
              <a:rPr lang="en" sz="1200">
                <a:solidFill>
                  <a:schemeClr val="dk1"/>
                </a:solidFill>
              </a:rPr>
              <a:t> between users and service providers.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Enable </a:t>
            </a:r>
            <a:r>
              <a:rPr b="1" lang="en" sz="1200">
                <a:solidFill>
                  <a:schemeClr val="dk1"/>
                </a:solidFill>
              </a:rPr>
              <a:t>real-time GPS location sharing</a:t>
            </a:r>
            <a:r>
              <a:rPr lang="en" sz="1200">
                <a:solidFill>
                  <a:schemeClr val="dk1"/>
                </a:solidFill>
              </a:rPr>
              <a:t> to reduce response delays.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Provide </a:t>
            </a:r>
            <a:r>
              <a:rPr b="1" lang="en" sz="1200">
                <a:solidFill>
                  <a:schemeClr val="dk1"/>
                </a:solidFill>
              </a:rPr>
              <a:t>transparency</a:t>
            </a:r>
            <a:r>
              <a:rPr lang="en" sz="1200">
                <a:solidFill>
                  <a:schemeClr val="dk1"/>
                </a:solidFill>
              </a:rPr>
              <a:t> with live status updates (“Accepted”, “On the Way”, “Resolved”).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Engage </a:t>
            </a:r>
            <a:r>
              <a:rPr b="1" lang="en" sz="1200">
                <a:solidFill>
                  <a:schemeClr val="dk1"/>
                </a:solidFill>
              </a:rPr>
              <a:t>volunteers and NGOs</a:t>
            </a:r>
            <a:r>
              <a:rPr lang="en" sz="1200">
                <a:solidFill>
                  <a:schemeClr val="dk1"/>
                </a:solidFill>
              </a:rPr>
              <a:t> to support official services in emergencies.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Ensure </a:t>
            </a:r>
            <a:r>
              <a:rPr b="1" lang="en" sz="1200">
                <a:solidFill>
                  <a:schemeClr val="dk1"/>
                </a:solidFill>
              </a:rPr>
              <a:t>efficient case management</a:t>
            </a:r>
            <a:r>
              <a:rPr lang="en" sz="1200">
                <a:solidFill>
                  <a:schemeClr val="dk1"/>
                </a:solidFill>
              </a:rPr>
              <a:t> for providers via dashboards and reports.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Community/ Field Visit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119775" y="682050"/>
            <a:ext cx="8676900" cy="41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visited: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Kothrud Fire Station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Shashwat Hospital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Warje Malwadi Police Station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People consulted (photos if applicable)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Aniket Uttekar (Fire Station </a:t>
            </a:r>
            <a:r>
              <a:rPr lang="en" sz="1200">
                <a:solidFill>
                  <a:schemeClr val="dk1"/>
                </a:solidFill>
              </a:rPr>
              <a:t>Employee</a:t>
            </a:r>
            <a:r>
              <a:rPr lang="en" sz="1200">
                <a:solidFill>
                  <a:schemeClr val="dk1"/>
                </a:solidFill>
              </a:rPr>
              <a:t>)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4" title="IMG-20250925-WA002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50" y="2508425"/>
            <a:ext cx="3087644" cy="231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" title="IMG-20250925-WA002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8575" y="2016075"/>
            <a:ext cx="3744100" cy="28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35cef6d67_1_22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Community/ Field Visit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6" name="Google Shape;96;g3835cef6d67_1_22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835cef6d67_1_22"/>
          <p:cNvSpPr txBox="1"/>
          <p:nvPr/>
        </p:nvSpPr>
        <p:spPr>
          <a:xfrm>
            <a:off x="73200" y="798475"/>
            <a:ext cx="8676900" cy="3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2. Dr. Varsha C.(Shashwat Hospital Manager)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g3835cef6d67_1_22" title="IMG-20250925-WA000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0" y="1284425"/>
            <a:ext cx="3725649" cy="27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835cef6d67_1_22" title="IMG-20250925-WA000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8325" y="996000"/>
            <a:ext cx="4457501" cy="334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35cef6d67_2_2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Community/ Field Visit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g3835cef6d67_2_2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835cef6d67_2_2"/>
          <p:cNvSpPr txBox="1"/>
          <p:nvPr/>
        </p:nvSpPr>
        <p:spPr>
          <a:xfrm>
            <a:off x="73200" y="798475"/>
            <a:ext cx="8676900" cy="3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3. B.P. Ingole (Inspector at Warje Malwadi Police Station)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g3835cef6d67_2_2" title="IMG-20250925-WA000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25" y="1239125"/>
            <a:ext cx="4723251" cy="354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35cef6d67_1_10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Community/ Field Visit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" name="Google Shape;113;g3835cef6d67_1_10"/>
          <p:cNvSpPr txBox="1"/>
          <p:nvPr/>
        </p:nvSpPr>
        <p:spPr>
          <a:xfrm>
            <a:off x="73200" y="798475"/>
            <a:ext cx="86769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Observations (Table Format):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4" name="Google Shape;114;g3835cef6d67_1_10"/>
          <p:cNvGraphicFramePr/>
          <p:nvPr/>
        </p:nvGraphicFramePr>
        <p:xfrm>
          <a:off x="154500" y="11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{B00605BE-B2DB-4837-B9DB-1DA85C1DFEDF}</a:tableStyleId>
              </a:tblPr>
              <a:tblGrid>
                <a:gridCol w="4366725"/>
                <a:gridCol w="4366725"/>
              </a:tblGrid>
              <a:tr h="38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Location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Observations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6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Fire Station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Multiple stations may respond simultaneously, causing confusion.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No information about presence of explosives or hazardous materials at the site.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7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Hospital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Missing relative/guardian information.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No proper patient verification during emergencies.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Lack of decision-making authority for critical patients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7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Police Station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Network and range issues hinder communication.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Difficulty in accurate real-time location tracking.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Data Collection and Analysis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73200" y="798475"/>
            <a:ext cx="8965500" cy="49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</a:rPr>
              <a:t>Survey results, interviews: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Emergency services in our area are </a:t>
            </a:r>
            <a:r>
              <a:rPr b="1" lang="en" sz="1200">
                <a:solidFill>
                  <a:schemeClr val="dk1"/>
                </a:solidFill>
              </a:rPr>
              <a:t>generally effective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Major issues like </a:t>
            </a:r>
            <a:r>
              <a:rPr b="1" lang="en" sz="1200">
                <a:solidFill>
                  <a:schemeClr val="dk1"/>
                </a:solidFill>
              </a:rPr>
              <a:t>traffic delays </a:t>
            </a:r>
            <a:r>
              <a:rPr lang="en" sz="1200">
                <a:solidFill>
                  <a:schemeClr val="dk1"/>
                </a:solidFill>
              </a:rPr>
              <a:t>depend on other authorities.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Minor issues such as </a:t>
            </a:r>
            <a:r>
              <a:rPr b="1" lang="en" sz="1200">
                <a:solidFill>
                  <a:schemeClr val="dk1"/>
                </a:solidFill>
              </a:rPr>
              <a:t>network </a:t>
            </a:r>
            <a:r>
              <a:rPr lang="en" sz="1200">
                <a:solidFill>
                  <a:schemeClr val="dk1"/>
                </a:solidFill>
              </a:rPr>
              <a:t>connectivity can be addressed through our project.</a:t>
            </a:r>
            <a:endParaRPr i="0" sz="1200" u="none" cap="none" strike="noStrike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Key Patterns: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Emergency services operate through a </a:t>
            </a:r>
            <a:r>
              <a:rPr b="1" lang="en" sz="1200">
                <a:solidFill>
                  <a:schemeClr val="dk1"/>
                </a:solidFill>
              </a:rPr>
              <a:t>central hub</a:t>
            </a:r>
            <a:r>
              <a:rPr lang="en" sz="1200">
                <a:solidFill>
                  <a:schemeClr val="dk1"/>
                </a:solidFill>
              </a:rPr>
              <a:t> (commissioner office for police station)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 central authority coordinates communication between emergency personnel and the resolving organizations.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system functions like a tree, where the central hub directs requests to the appropriate branch of the emergency service.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</a:rPr>
              <a:t>Insights drawn:</a:t>
            </a:r>
            <a:endParaRPr b="1" i="0" sz="1200" u="none" cap="none" strike="noStrike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Traffic delays and location miscommunication are the biggest causes of slow emergency response.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ESP can reduce average response time from 18 minutes to 8 minutes, improving efficiency by over 50%.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NGOs and volunteers are underutilized but can play a vital support role when integrated into the system.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Constraints and Challenges 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73200" y="798475"/>
            <a:ext cx="8676900" cy="41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Constraints &amp; Challenges Identified: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Fire Station: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Confusion when </a:t>
            </a:r>
            <a:r>
              <a:rPr b="1" lang="en" sz="1200">
                <a:solidFill>
                  <a:schemeClr val="dk1"/>
                </a:solidFill>
              </a:rPr>
              <a:t>multiple stations </a:t>
            </a:r>
            <a:r>
              <a:rPr lang="en" sz="1200">
                <a:solidFill>
                  <a:schemeClr val="dk1"/>
                </a:solidFill>
              </a:rPr>
              <a:t>receive the same emergency alert.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Lack of information about hazardous materials/</a:t>
            </a:r>
            <a:r>
              <a:rPr b="1" lang="en" sz="1200">
                <a:solidFill>
                  <a:schemeClr val="dk1"/>
                </a:solidFill>
              </a:rPr>
              <a:t>explosives</a:t>
            </a:r>
            <a:r>
              <a:rPr lang="en" sz="1200">
                <a:solidFill>
                  <a:schemeClr val="dk1"/>
                </a:solidFill>
              </a:rPr>
              <a:t> at the incident site.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Hospital: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No clear </a:t>
            </a:r>
            <a:r>
              <a:rPr b="1" lang="en" sz="1200">
                <a:solidFill>
                  <a:schemeClr val="dk1"/>
                </a:solidFill>
              </a:rPr>
              <a:t>decision</a:t>
            </a:r>
            <a:r>
              <a:rPr lang="en" sz="1200">
                <a:solidFill>
                  <a:schemeClr val="dk1"/>
                </a:solidFill>
              </a:rPr>
              <a:t>-</a:t>
            </a:r>
            <a:r>
              <a:rPr b="1" lang="en" sz="1200">
                <a:solidFill>
                  <a:schemeClr val="dk1"/>
                </a:solidFill>
              </a:rPr>
              <a:t>maker</a:t>
            </a:r>
            <a:r>
              <a:rPr lang="en" sz="1200">
                <a:solidFill>
                  <a:schemeClr val="dk1"/>
                </a:solidFill>
              </a:rPr>
              <a:t> for critical patients.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Absence of patient </a:t>
            </a:r>
            <a:r>
              <a:rPr b="1" lang="en" sz="1200">
                <a:solidFill>
                  <a:schemeClr val="dk1"/>
                </a:solidFill>
              </a:rPr>
              <a:t>verification </a:t>
            </a:r>
            <a:r>
              <a:rPr lang="en" sz="1200">
                <a:solidFill>
                  <a:schemeClr val="dk1"/>
                </a:solidFill>
              </a:rPr>
              <a:t>or medical </a:t>
            </a:r>
            <a:r>
              <a:rPr b="1" lang="en" sz="1200">
                <a:solidFill>
                  <a:schemeClr val="dk1"/>
                </a:solidFill>
              </a:rPr>
              <a:t>history </a:t>
            </a:r>
            <a:r>
              <a:rPr lang="en" sz="1200">
                <a:solidFill>
                  <a:schemeClr val="dk1"/>
                </a:solidFill>
              </a:rPr>
              <a:t>access during emergencies.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Missing details about patient </a:t>
            </a:r>
            <a:r>
              <a:rPr b="1" lang="en" sz="1200">
                <a:solidFill>
                  <a:schemeClr val="dk1"/>
                </a:solidFill>
              </a:rPr>
              <a:t>relatives</a:t>
            </a:r>
            <a:r>
              <a:rPr lang="en" sz="1200">
                <a:solidFill>
                  <a:schemeClr val="dk1"/>
                </a:solidFill>
              </a:rPr>
              <a:t>/contacts, making communication and </a:t>
            </a:r>
            <a:r>
              <a:rPr b="1" lang="en" sz="1200">
                <a:solidFill>
                  <a:schemeClr val="dk1"/>
                </a:solidFill>
              </a:rPr>
              <a:t>consent </a:t>
            </a:r>
            <a:r>
              <a:rPr lang="en" sz="1200">
                <a:solidFill>
                  <a:schemeClr val="dk1"/>
                </a:solidFill>
              </a:rPr>
              <a:t>difficult.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Police Station: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Limited or unstable network </a:t>
            </a:r>
            <a:r>
              <a:rPr b="1" lang="en" sz="1200">
                <a:solidFill>
                  <a:schemeClr val="dk1"/>
                </a:solidFill>
              </a:rPr>
              <a:t>connectivity</a:t>
            </a:r>
            <a:r>
              <a:rPr lang="en" sz="1200">
                <a:solidFill>
                  <a:schemeClr val="dk1"/>
                </a:solidFill>
              </a:rPr>
              <a:t>, causing response delays.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Inaccurate or missing real-time location </a:t>
            </a:r>
            <a:r>
              <a:rPr b="1" lang="en" sz="1200">
                <a:solidFill>
                  <a:schemeClr val="dk1"/>
                </a:solidFill>
              </a:rPr>
              <a:t>tracking </a:t>
            </a:r>
            <a:r>
              <a:rPr lang="en" sz="1200">
                <a:solidFill>
                  <a:schemeClr val="dk1"/>
                </a:solidFill>
              </a:rPr>
              <a:t>of incidents.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Ideas for Possible Solutions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282900" y="896175"/>
            <a:ext cx="8257500" cy="3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Mobile App (Android + iOS)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One-tap SOS button with live location sharing.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Dedicated Service Modules:</a:t>
            </a:r>
            <a:r>
              <a:rPr lang="en" sz="1200">
                <a:solidFill>
                  <a:schemeClr val="dk1"/>
                </a:solidFill>
              </a:rPr>
              <a:t> Separate workflows for Fire, Police, Ambulance.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Separate service modules make it easy for users to directly reach the right service, while the </a:t>
            </a:r>
            <a:r>
              <a:rPr b="1" lang="en" sz="1200">
                <a:solidFill>
                  <a:schemeClr val="dk1"/>
                </a:solidFill>
              </a:rPr>
              <a:t>centralized </a:t>
            </a:r>
            <a:r>
              <a:rPr lang="en" sz="1200">
                <a:solidFill>
                  <a:schemeClr val="dk1"/>
                </a:solidFill>
              </a:rPr>
              <a:t>dashboard ensures that authorities can coordinate faster.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Q and A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