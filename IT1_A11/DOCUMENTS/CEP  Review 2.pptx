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E99D5D-0F24-4008-AE7B-5D1F0A8E587E}">
  <a:tblStyle styleId="{35E99D5D-0F24-4008-AE7B-5D1F0A8E587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tcBdr/>
        <a:fill>
          <a:solidFill>
            <a:srgbClr val="CDD8FB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8FB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930" y="6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2f8a82f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72f8a82f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2f8a82f09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2f8a82f09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2f8a82f09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2f8a82f09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2f8a82f09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2f8a82f09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2f8a82f09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2f8a82f09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2f8a82f09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2f8a82f09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2f8a82f09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2f8a82f09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2f8a82f0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2f8a82f0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/>
        </p:nvSpPr>
        <p:spPr>
          <a:xfrm>
            <a:off x="0" y="4573675"/>
            <a:ext cx="918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Marathwada Mitra Mandal’s College of Engineering          </a:t>
            </a:r>
            <a:endParaRPr sz="1500" b="0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     </a:t>
            </a:r>
            <a:endParaRPr sz="15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02300" y="4575112"/>
            <a:ext cx="513526" cy="5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5175" y="4618450"/>
            <a:ext cx="633511" cy="4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235500" y="134975"/>
            <a:ext cx="85206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Marathwada Mitra Mandal's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COLLEGE OF ENGINEERING, Karve Nagar, Pune - 52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An Autonomous Institute Affiliated to SPPU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Website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www.mmcoe.edu.in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  email id: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mmcoe@mmcoe.edu.in</a:t>
            </a:r>
            <a:endParaRPr sz="1200">
              <a:solidFill>
                <a:srgbClr val="941A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900" b="1">
              <a:solidFill>
                <a:srgbClr val="5C2D9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979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13843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</a:t>
            </a:r>
            <a:endParaRPr b="1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94925" y="2156375"/>
            <a:ext cx="8952000" cy="96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Project Based Learning - Review </a:t>
            </a:r>
            <a:r>
              <a:rPr lang="en" sz="1900" b="1" dirty="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sz="19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(AY 2025-26)</a:t>
            </a:r>
            <a:r>
              <a:rPr lang="en" sz="17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17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lvl="0" algn="ctr">
              <a:buSzPts val="3000"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lang="en-US" sz="3200" dirty="0"/>
              <a:t>Tourism Guide for all Districts of Maharashtra</a:t>
            </a: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sz="30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-22850" y="3360825"/>
            <a:ext cx="4459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Presented By:</a:t>
            </a: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400" b="0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&lt;&lt;Roll_no   Name_of_student1&gt;&gt;</a:t>
            </a:r>
            <a:endParaRPr sz="1400" b="0" i="0" u="none" strike="noStrike" cap="non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&lt;&lt;Roll_no   Name_of_student2&gt;&gt;</a:t>
            </a:r>
            <a:endParaRPr sz="1400" b="0" i="0" u="none" strike="noStrike" cap="non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</a:t>
            </a:r>
            <a:endParaRPr sz="1400" b="0" i="0" u="none" strike="noStrike" cap="non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7400" y="224750"/>
            <a:ext cx="834799" cy="82464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6713150" y="4761275"/>
            <a:ext cx="17367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Date: </a:t>
            </a:r>
            <a:endParaRPr sz="1500" b="0" i="0" u="none" strike="noStrike" cap="non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974175" y="3483675"/>
            <a:ext cx="216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Guide</a:t>
            </a: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-159800" y="4761275"/>
            <a:ext cx="320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Sponsor</a:t>
            </a: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(If applicable)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5733300" y="4747575"/>
            <a:ext cx="341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CEP</a:t>
            </a:r>
            <a:r>
              <a:rPr lang="en" sz="3000" b="1" i="0" u="none" strike="noStrike" cap="non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 Project Title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74" name="Google Shape;74;p15"/>
          <p:cNvGraphicFramePr/>
          <p:nvPr/>
        </p:nvGraphicFramePr>
        <p:xfrm>
          <a:off x="1399071" y="1801692"/>
          <a:ext cx="6400750" cy="1048680"/>
        </p:xfrm>
        <a:graphic>
          <a:graphicData uri="http://schemas.openxmlformats.org/drawingml/2006/table">
            <a:tbl>
              <a:tblPr firstRow="1" bandRow="1">
                <a:noFill/>
                <a:tableStyleId>{35E99D5D-0F24-4008-AE7B-5D1F0A8E587E}</a:tableStyleId>
              </a:tblPr>
              <a:tblGrid>
                <a:gridCol w="640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FF0000"/>
                          </a:solidFill>
                        </a:rPr>
                        <a:t>Title 1</a:t>
                      </a: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B340">
                        <a:alpha val="6627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Context of the project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Area/Community of focus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5" name="Google Shape;75;p15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Recap of Selected Problem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509286" y="972274"/>
            <a:ext cx="8521881" cy="3700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Problem Statement </a:t>
            </a: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Maharashtra has </a:t>
            </a:r>
            <a:r>
              <a:rPr lang="en-US" sz="1100" b="1" dirty="0"/>
              <a:t>36 districts</a:t>
            </a:r>
            <a:r>
              <a:rPr lang="en-US" sz="1100" dirty="0"/>
              <a:t>, each with unique </a:t>
            </a:r>
            <a:r>
              <a:rPr lang="en-US" sz="1100" b="1" dirty="0"/>
              <a:t>tourist attractions, history, and culture</a:t>
            </a:r>
            <a:r>
              <a:rPr lang="en-US" sz="1100" dirty="0"/>
              <a:t>.</a:t>
            </a: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Existing information is often </a:t>
            </a:r>
            <a:r>
              <a:rPr lang="en-US" sz="1100" b="1" dirty="0"/>
              <a:t>scattered, outdated, or hard to access</a:t>
            </a:r>
            <a:r>
              <a:rPr lang="en-US" sz="1100" dirty="0"/>
              <a:t>.</a:t>
            </a: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Tourists face difficulty in </a:t>
            </a:r>
            <a:r>
              <a:rPr lang="en-US" sz="1100" b="1" dirty="0"/>
              <a:t>planning trips efficiently</a:t>
            </a:r>
            <a:r>
              <a:rPr lang="en-US" sz="1100" dirty="0"/>
              <a:t> due to lack of a </a:t>
            </a:r>
            <a:r>
              <a:rPr lang="en-US" sz="1100" b="1" dirty="0"/>
              <a:t>comprehensive guide</a:t>
            </a:r>
            <a:r>
              <a:rPr lang="en-US" sz="1100" dirty="0"/>
              <a:t>.</a:t>
            </a: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There is a need for a </a:t>
            </a:r>
            <a:r>
              <a:rPr lang="en-US" sz="1100" b="1" dirty="0"/>
              <a:t>district-wise, user-friendly tourism guide</a:t>
            </a:r>
            <a:r>
              <a:rPr lang="en-US" sz="1100" dirty="0"/>
              <a:t> highlighting </a:t>
            </a:r>
            <a:r>
              <a:rPr lang="en-US" sz="1100" b="1" dirty="0"/>
              <a:t>major attractions, cultural sites, and natural destinations</a:t>
            </a:r>
            <a:r>
              <a:rPr lang="en-US" sz="1100" dirty="0"/>
              <a:t>.</a:t>
            </a:r>
            <a:r>
              <a:rPr lang="en" sz="1100" dirty="0">
                <a:solidFill>
                  <a:schemeClr val="dk1"/>
                </a:solidFill>
              </a:rPr>
              <a:t>  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Objectives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Encourage </a:t>
            </a:r>
            <a:r>
              <a:rPr lang="en-US" sz="1100" b="1" dirty="0"/>
              <a:t>tourism planning</a:t>
            </a:r>
            <a:r>
              <a:rPr lang="en-US" sz="1100" dirty="0"/>
              <a:t> and exploration across the state.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IN" sz="1100" dirty="0"/>
              <a:t>Promote </a:t>
            </a:r>
            <a:r>
              <a:rPr lang="en-IN" sz="1100" b="1" dirty="0"/>
              <a:t>lesser-known destinations</a:t>
            </a:r>
            <a:r>
              <a:rPr lang="en-IN" sz="1100" dirty="0"/>
              <a:t> and </a:t>
            </a:r>
            <a:r>
              <a:rPr lang="en-IN" sz="1100" b="1" dirty="0"/>
              <a:t>local culture</a:t>
            </a:r>
            <a:r>
              <a:rPr lang="en-IN" sz="1100" dirty="0"/>
              <a:t>.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Make information </a:t>
            </a:r>
            <a:r>
              <a:rPr lang="en-US" sz="1100" b="1" dirty="0"/>
              <a:t>easy to access and understand</a:t>
            </a:r>
            <a:r>
              <a:rPr lang="en-US" sz="1100" dirty="0"/>
              <a:t> for tourists, students, and researchers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Highlight </a:t>
            </a:r>
            <a:r>
              <a:rPr lang="en-US" sz="1100" b="1" dirty="0"/>
              <a:t>major attractions, historical sites, cultural landmarks, and natural destinations</a:t>
            </a:r>
            <a:r>
              <a:rPr lang="en-US" sz="1100" dirty="0"/>
              <a:t>.</a:t>
            </a:r>
          </a:p>
          <a:p>
            <a:pPr marL="457200" indent="-298450">
              <a:lnSpc>
                <a:spcPct val="115000"/>
              </a:lnSpc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dirty="0"/>
              <a:t>Provide a </a:t>
            </a:r>
            <a:r>
              <a:rPr lang="en-US" sz="1100" b="1" dirty="0"/>
              <a:t>district-wise tourism guide</a:t>
            </a:r>
            <a:r>
              <a:rPr lang="en-US" sz="1100" dirty="0"/>
              <a:t> for all 36 districts of Maharashtra.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sz="11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Community/ Field Visit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73200" y="798475"/>
            <a:ext cx="86769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Area visited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People consulted (photos if applicable)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Observations (Table Format)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Data Collection and Analysis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73200" y="798475"/>
            <a:ext cx="8676900" cy="25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Survey results, interviews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Charts, graphs, or sample feedback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Key patterns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Insights drawn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Constraints and Challenges 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73200" y="798475"/>
            <a:ext cx="86769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Constraints &amp; Challenges Identified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rgbClr val="FF9900"/>
                </a:solidFill>
              </a:rPr>
              <a:t>Updated Problem Definition (if revised)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Ideas for Possible Solutions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73200" y="546900"/>
            <a:ext cx="7812045" cy="4488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</a:rPr>
              <a:t>Brief outline of 1–2 proposed approaches</a:t>
            </a:r>
          </a:p>
          <a:p>
            <a:pPr marL="15875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100" dirty="0">
              <a:solidFill>
                <a:schemeClr val="dk1"/>
              </a:solidFill>
            </a:endParaRPr>
          </a:p>
          <a:p>
            <a:r>
              <a:rPr lang="en-IN" sz="1200" b="1" dirty="0"/>
              <a:t>Approach 1: Web/Database-Driven Tourism Guide</a:t>
            </a:r>
          </a:p>
          <a:p>
            <a:r>
              <a:rPr lang="en-IN" sz="1200" dirty="0"/>
              <a:t>Create a </a:t>
            </a:r>
            <a:r>
              <a:rPr lang="en-IN" sz="1200" b="1" dirty="0"/>
              <a:t>relational database</a:t>
            </a:r>
            <a:r>
              <a:rPr lang="en-IN" sz="1200" dirty="0"/>
              <a:t> storing district-wise tourism data.</a:t>
            </a:r>
          </a:p>
          <a:p>
            <a:endParaRPr lang="en-IN" sz="1200" dirty="0"/>
          </a:p>
          <a:p>
            <a:r>
              <a:rPr lang="en-IN" sz="1200" dirty="0"/>
              <a:t>Fields include: District, Attractions, Historical Sites, Cultural Highlights, Natural Destinations.</a:t>
            </a:r>
          </a:p>
          <a:p>
            <a:endParaRPr lang="en-IN" sz="1200" dirty="0"/>
          </a:p>
          <a:p>
            <a:r>
              <a:rPr lang="en-IN" sz="1200" dirty="0"/>
              <a:t>Build a </a:t>
            </a:r>
            <a:r>
              <a:rPr lang="en-IN" sz="1200" b="1" dirty="0"/>
              <a:t>user interface</a:t>
            </a:r>
            <a:r>
              <a:rPr lang="en-IN" sz="1200" dirty="0"/>
              <a:t> (web/app) for </a:t>
            </a:r>
            <a:r>
              <a:rPr lang="en-IN" sz="1200" b="1" dirty="0"/>
              <a:t>searching and viewing information</a:t>
            </a:r>
            <a:r>
              <a:rPr lang="en-IN" sz="1200" dirty="0"/>
              <a:t>.</a:t>
            </a:r>
          </a:p>
          <a:p>
            <a:endParaRPr lang="en-IN" sz="1200" dirty="0"/>
          </a:p>
          <a:p>
            <a:r>
              <a:rPr lang="en-IN" sz="1200" dirty="0"/>
              <a:t>Advantages: Easy updates, scalable, accessible from anywhere.</a:t>
            </a:r>
          </a:p>
          <a:p>
            <a:endParaRPr lang="en-IN" sz="1200" dirty="0"/>
          </a:p>
          <a:p>
            <a:endParaRPr lang="en-IN" sz="1100" dirty="0"/>
          </a:p>
          <a:p>
            <a:r>
              <a:rPr lang="en-US" sz="1100" b="1" dirty="0"/>
              <a:t>Approach 2: PPT/Offline Tourism Guide</a:t>
            </a:r>
          </a:p>
          <a:p>
            <a:endParaRPr lang="en-US" sz="1100" b="1" dirty="0"/>
          </a:p>
          <a:p>
            <a:r>
              <a:rPr lang="en-US" sz="1100" dirty="0"/>
              <a:t>Organize information into </a:t>
            </a:r>
            <a:r>
              <a:rPr lang="en-US" sz="1100" b="1" dirty="0"/>
              <a:t>district-wise slides</a:t>
            </a:r>
            <a:r>
              <a:rPr lang="en-US" sz="1100" dirty="0"/>
              <a:t> with images and bullet points.</a:t>
            </a:r>
          </a:p>
          <a:p>
            <a:endParaRPr lang="en-US" sz="1100" dirty="0"/>
          </a:p>
          <a:p>
            <a:r>
              <a:rPr lang="en-US" sz="1100" dirty="0"/>
              <a:t>Include </a:t>
            </a:r>
            <a:r>
              <a:rPr lang="en-US" sz="1100" b="1" dirty="0"/>
              <a:t>maps, visuals, and icons</a:t>
            </a:r>
            <a:r>
              <a:rPr lang="en-US" sz="1100" dirty="0"/>
              <a:t> for better understanding.</a:t>
            </a:r>
          </a:p>
          <a:p>
            <a:endParaRPr lang="en-US" sz="1100" dirty="0"/>
          </a:p>
          <a:p>
            <a:r>
              <a:rPr lang="en-US" sz="1100" dirty="0"/>
              <a:t>Advantages: Easy to present, no internet required, visually appealing.</a:t>
            </a:r>
          </a:p>
          <a:p>
            <a:pPr marL="15875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800" dirty="0">
              <a:solidFill>
                <a:schemeClr val="dk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dirty="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Q and A</a:t>
            </a:r>
            <a:endParaRPr sz="1100" b="1" dirty="0">
              <a:solidFill>
                <a:schemeClr val="dk1"/>
              </a:solidFill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25B3E-DCAF-1A58-EA54-C8E2B18C557D}"/>
              </a:ext>
            </a:extLst>
          </p:cNvPr>
          <p:cNvSpPr txBox="1"/>
          <p:nvPr/>
        </p:nvSpPr>
        <p:spPr>
          <a:xfrm>
            <a:off x="1076960" y="2072640"/>
            <a:ext cx="74168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 you for your attention!</a:t>
            </a:r>
          </a:p>
          <a:p>
            <a:endParaRPr lang="en-US" dirty="0"/>
          </a:p>
          <a:p>
            <a:r>
              <a:rPr lang="en-US" dirty="0"/>
              <a:t>We are happy to </a:t>
            </a:r>
            <a:r>
              <a:rPr lang="en-US" b="1" dirty="0"/>
              <a:t>answer any questions</a:t>
            </a:r>
            <a:r>
              <a:rPr lang="en-US" dirty="0"/>
              <a:t> regarding:</a:t>
            </a:r>
          </a:p>
          <a:p>
            <a:r>
              <a:rPr lang="en-US" dirty="0"/>
              <a:t>Tourism Guide Database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On-screen Show (16:9)</PresentationFormat>
  <Paragraphs>78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</vt:lpstr>
      <vt:lpstr>Times New Roman</vt:lpstr>
      <vt:lpstr>Simple Light</vt:lpstr>
      <vt:lpstr>   Marathwada Mitra Mandal's COLLEGE OF ENGINEERING, Karve Nagar, Pune - 52 An Autonomous Institute Affiliated to SPPU                             Website: www.mmcoe.edu.in                                                                 email id: mmcoe@mmcoe.edu.in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nishantambadkar2006@gmail.com</cp:lastModifiedBy>
  <cp:revision>1</cp:revision>
  <dcterms:modified xsi:type="dcterms:W3CDTF">2025-09-30T15:42:32Z</dcterms:modified>
</cp:coreProperties>
</file>