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6" r:id="rId9"/>
    <p:sldId id="267" r:id="rId10"/>
    <p:sldId id="270" r:id="rId11"/>
    <p:sldId id="274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75H8wllnLxzQaWPTsQNoBE7XG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6CFE0C-A801-4F65-A736-C33FA797BD1F}">
  <a:tblStyle styleId="{766CFE0C-A801-4F65-A736-C33FA797BD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tcBdr/>
        <a:fill>
          <a:solidFill>
            <a:srgbClr val="CDD8F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8F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7F38316-8CDF-491F-9432-BB20405D753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45d24e06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745d24e06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45d24e06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745d24e06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24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sz="1500" b="0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sz="15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900" b="1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79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96000" y="1925177"/>
            <a:ext cx="8952000" cy="140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Community Engagement Project : Review 0 (AY 2025-26)</a:t>
            </a:r>
            <a:r>
              <a:rPr lang="en" sz="17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lang="en" sz="3000" b="1" i="0" u="none" strike="noStrike" cap="none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" sz="3000" b="1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OURISM GUIDE TO ALL  DISTRICT OF MAHARASHTRA</a:t>
            </a: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30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-22850" y="3360825"/>
            <a:ext cx="4459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latin typeface="Cambria"/>
                <a:ea typeface="Cambria"/>
                <a:cs typeface="Cambria"/>
                <a:sym typeface="Cambria"/>
              </a:rPr>
              <a:t>              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 </a:t>
            </a:r>
            <a:r>
              <a:rPr lang="e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SI116 Nishant Ambakar</a:t>
            </a: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sz="1400" b="0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&lt;&lt;</a:t>
            </a:r>
            <a:r>
              <a:rPr lang="e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SI151 Sairam Pampatwar</a:t>
            </a: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sz="1400" b="0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    &lt;&lt;SI153 Ranveer shinde&gt;&gt;</a:t>
            </a:r>
            <a:endParaRPr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    &lt;&lt;SI155 Shivam Mandhani &gt;&gt; </a:t>
            </a:r>
            <a:endParaRPr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sz="1400" b="0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sz="1500" b="0" i="0" u="none" strike="noStrike" cap="non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5575776" y="3483675"/>
            <a:ext cx="287407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Ms.Shreeya Palkar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-159800" y="476127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Sponsor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(If applicable)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5733300" y="4747575"/>
            <a:ext cx="341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 Project Title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4" name="Google Shape;74;p2"/>
          <p:cNvGraphicFramePr/>
          <p:nvPr>
            <p:extLst>
              <p:ext uri="{D42A27DB-BD31-4B8C-83A1-F6EECF244321}">
                <p14:modId xmlns:p14="http://schemas.microsoft.com/office/powerpoint/2010/main" val="4095115485"/>
              </p:ext>
            </p:extLst>
          </p:nvPr>
        </p:nvGraphicFramePr>
        <p:xfrm>
          <a:off x="247507" y="660018"/>
          <a:ext cx="8683361" cy="4083862"/>
        </p:xfrm>
        <a:graphic>
          <a:graphicData uri="http://schemas.openxmlformats.org/drawingml/2006/table">
            <a:tbl>
              <a:tblPr firstRow="1" bandRow="1">
                <a:noFill/>
                <a:tableStyleId>{766CFE0C-A801-4F65-A736-C33FA797BD1F}</a:tableStyleId>
              </a:tblPr>
              <a:tblGrid>
                <a:gridCol w="8683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3507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" sz="2000" b="1" dirty="0">
                        <a:solidFill>
                          <a:srgbClr val="0000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400" b="1" dirty="0">
                          <a:solidFill>
                            <a:srgbClr val="0000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TOURISM  APP</a:t>
                      </a:r>
                      <a:endParaRPr sz="2400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B340">
                        <a:alpha val="6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87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 u="none" strike="noStrike" cap="none" dirty="0"/>
                        <a:t>Context of the project </a:t>
                      </a:r>
                      <a:r>
                        <a:rPr lang="en" sz="1400" u="none" strike="noStrike" cap="none" dirty="0"/>
                        <a:t>: </a:t>
                      </a:r>
                      <a:r>
                        <a:rPr lang="en-US" dirty="0"/>
                        <a:t>This project presents a detailed tourism guide covering all 36 districts of Maharashtra, highlighting their unique attractions, cultural heritage, best times to visit, safety precautions, and travel tips. It aims to promote lesser-known destinations while supporting local communities and sustainable tourism practices.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 u="none" strike="noStrike" cap="none" dirty="0"/>
                        <a:t>Area/Community of focus : </a:t>
                      </a:r>
                      <a:r>
                        <a:rPr lang="en-US" dirty="0"/>
                        <a:t>State of Maharashtra, India – covering all </a:t>
                      </a:r>
                      <a:r>
                        <a:rPr lang="en-US" b="1" dirty="0"/>
                        <a:t>36 districts</a:t>
                      </a:r>
                      <a:r>
                        <a:rPr lang="en-US" dirty="0"/>
                        <a:t> including coastal, urban, rural, and hilly regions.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 dirty="0"/>
                        <a:t>Focus: </a:t>
                      </a:r>
                      <a:r>
                        <a:rPr lang="en-US" dirty="0"/>
                        <a:t>Promote tourism through a </a:t>
                      </a:r>
                      <a:r>
                        <a:rPr lang="en-US" b="1" dirty="0"/>
                        <a:t>district-wise guide</a:t>
                      </a:r>
                      <a:r>
                        <a:rPr lang="en-US" dirty="0"/>
                        <a:t> that includes famous attractions, cultural heritage, seasonal recommendations, and safety precautions.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3000" b="1" i="0" u="none" strike="noStrike" cap="none" dirty="0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41151" y="491898"/>
            <a:ext cx="9162000" cy="45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2"/>
              </a:solidFill>
            </a:endParaRPr>
          </a:p>
          <a:p>
            <a:r>
              <a:rPr lang="en-US" dirty="0"/>
              <a:t>Maharashtra is a diverse state with 36 districts offering a mix of </a:t>
            </a:r>
            <a:r>
              <a:rPr lang="en-US" b="1" dirty="0"/>
              <a:t>heritage sites, natural beauty, adventure sports, and cultural festivals</a:t>
            </a:r>
            <a:r>
              <a:rPr lang="en-US" dirty="0"/>
              <a:t>. While some destinations like Mumbai, Pune, Ajanta &amp; Ellora are world-famous, many districts remain underexplored.</a:t>
            </a:r>
          </a:p>
          <a:p>
            <a:br>
              <a:rPr lang="en-US" dirty="0"/>
            </a:br>
            <a:r>
              <a:rPr lang="en-US" dirty="0"/>
              <a:t>This project aims to create a </a:t>
            </a:r>
            <a:r>
              <a:rPr lang="en-US" b="1" dirty="0"/>
              <a:t>comprehensive, district-wise tourism guide</a:t>
            </a:r>
            <a:r>
              <a:rPr lang="en-US" dirty="0"/>
              <a:t> that includes:</a:t>
            </a:r>
          </a:p>
          <a:p>
            <a:endParaRPr lang="en-US" dirty="0"/>
          </a:p>
          <a:p>
            <a:r>
              <a:rPr lang="en-US" dirty="0"/>
              <a:t>1.Famous attractions</a:t>
            </a:r>
          </a:p>
          <a:p>
            <a:r>
              <a:rPr lang="en-US" dirty="0"/>
              <a:t>2.Best time to visit</a:t>
            </a:r>
          </a:p>
          <a:p>
            <a:r>
              <a:rPr lang="en-US" dirty="0"/>
              <a:t>3.Safety precautions</a:t>
            </a:r>
          </a:p>
          <a:p>
            <a:r>
              <a:rPr lang="en-US" dirty="0"/>
              <a:t>4.Local culture and cuisine</a:t>
            </a:r>
          </a:p>
          <a:p>
            <a:r>
              <a:rPr lang="en-US" dirty="0"/>
              <a:t>5.Accommodation and travel options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presenting accurate and organized information, the guide will serve as a </a:t>
            </a:r>
            <a:r>
              <a:rPr lang="en-US" b="1" dirty="0"/>
              <a:t>one-stop resource</a:t>
            </a:r>
            <a:r>
              <a:rPr lang="en-US" dirty="0"/>
              <a:t> for both domestic and international tourists.</a:t>
            </a:r>
          </a:p>
          <a:p>
            <a:pPr lvl="0">
              <a:buClr>
                <a:schemeClr val="dk1"/>
              </a:buClr>
              <a:buSzPts val="1100"/>
            </a:pPr>
            <a:endParaRPr lang="en-US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Problem Identification</a:t>
            </a:r>
            <a:endParaRPr sz="3000" b="1" i="0" u="none" strike="noStrike" cap="none" dirty="0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73200" y="798475"/>
            <a:ext cx="8676900" cy="397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</a:rPr>
              <a:t>Problem Statement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/>
          </a:p>
          <a:p>
            <a:pPr lvl="0">
              <a:buSzPts val="1400"/>
            </a:pPr>
            <a:r>
              <a:rPr lang="en-US" dirty="0"/>
              <a:t>Tourism in Maharashtra is heavily concentrated in a few well-known destinations such as Mumbai, Pune, Ajanta &amp; Ellora, and Mahabaleshwar.</a:t>
            </a:r>
            <a:br>
              <a:rPr lang="en-US" dirty="0"/>
            </a:br>
            <a:r>
              <a:rPr lang="en-US" dirty="0"/>
              <a:t>Many districts with unique cultural, historical, and natural attractions remain </a:t>
            </a:r>
            <a:r>
              <a:rPr lang="en-US" b="1" dirty="0"/>
              <a:t>under-promoted and poorly documented</a:t>
            </a:r>
            <a:r>
              <a:rPr lang="en-US" dirty="0"/>
              <a:t>..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</a:rPr>
              <a:t>Why is this problem important?</a:t>
            </a:r>
          </a:p>
          <a:p>
            <a:pPr lvl="0">
              <a:buSzPts val="1400"/>
            </a:pPr>
            <a:endParaRPr lang="en-US" dirty="0"/>
          </a:p>
          <a:p>
            <a:pPr lvl="0">
              <a:buSzPts val="1400"/>
            </a:pPr>
            <a:r>
              <a:rPr lang="en-US" b="1" dirty="0"/>
              <a:t>Tourism Potential</a:t>
            </a:r>
            <a:r>
              <a:rPr lang="en-US" dirty="0"/>
              <a:t>: Maharashtra’s 36 districts offer vast opportunities for cultural, heritage, eco, adventure, and religious tourism. Without proper guidance, this potential remains untapped.</a:t>
            </a:r>
          </a:p>
          <a:p>
            <a:pPr lvl="0">
              <a:buSzPts val="1400"/>
            </a:pPr>
            <a:r>
              <a:rPr lang="en-US" b="1" dirty="0"/>
              <a:t>Economic Growth</a:t>
            </a:r>
            <a:r>
              <a:rPr lang="en-US" dirty="0"/>
              <a:t>: Tourism supports local economies, creates jobs, and promotes small businesses like hotels, restaurants, and handicraft markets.</a:t>
            </a:r>
          </a:p>
          <a:p>
            <a:pPr lvl="0">
              <a:buSzPts val="1400"/>
            </a:pPr>
            <a:r>
              <a:rPr lang="en-US" b="1" dirty="0"/>
              <a:t>Cultural Preservation</a:t>
            </a:r>
            <a:r>
              <a:rPr lang="en-US" dirty="0"/>
              <a:t>: Documenting and promoting local traditions and heritage helps preserve them for future generations.</a:t>
            </a:r>
          </a:p>
          <a:p>
            <a:pPr lvl="0">
              <a:buSzPts val="1400"/>
            </a:pPr>
            <a:r>
              <a:rPr lang="en-US" b="1" dirty="0"/>
              <a:t>Traveler Safety &amp; Experience</a:t>
            </a:r>
            <a:r>
              <a:rPr lang="en-US" dirty="0"/>
              <a:t>: Proper guidance ensures tourists travel during the right seasons, follow local safety norms, and enjoy their visit without unexpected challenges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Objective</a:t>
            </a:r>
            <a:endParaRPr sz="3000" b="1" i="0" u="none" strike="noStrike" cap="none" dirty="0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03C2AA-7A03-7CF3-21CE-CF2AA31C6DA5}"/>
              </a:ext>
            </a:extLst>
          </p:cNvPr>
          <p:cNvSpPr txBox="1"/>
          <p:nvPr/>
        </p:nvSpPr>
        <p:spPr>
          <a:xfrm>
            <a:off x="141249" y="750849"/>
            <a:ext cx="874255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1.Document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tourism details for all 36 districts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Maharashtra.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2.Highlight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seasons, local festivals, and travel safety tips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district.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3.Promote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heritage, culture, natural beauty, and adventure activities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4.Encourage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and responsible tourism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practices.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5.Create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guide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used by tourists, students, and tour operators.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-75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Planned Field Visit / Stakeholder Interaction</a:t>
            </a: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118300" y="620651"/>
            <a:ext cx="8907249" cy="380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</a:rPr>
              <a:t>Planned Field Visits / Stakeholder Interaction </a:t>
            </a:r>
            <a:endParaRPr sz="1800" b="1" dirty="0">
              <a:solidFill>
                <a:schemeClr val="dk1"/>
              </a:solidFill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Visit Plan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&amp; Heritage Hubs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Mumbai, Pune, Aurangabad — for historical sites, museums, and cultural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Coastal Tourism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Raigad, Ratnagiri, Sindhudurg — to document beaches, forts, and water sports.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Wildlife &amp; Hills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Satara, Chandrapur,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 cover national parks and trekking points.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Religious Tourism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Nashik, Solapur, Wardha — to capture pilgrimage sites and local traditions.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Field Visit Plan</a:t>
            </a:r>
            <a:r>
              <a:rPr lang="en-IN" dirty="0"/>
              <a:t>:</a:t>
            </a:r>
          </a:p>
          <a:p>
            <a:r>
              <a:rPr lang="en-IN" b="1" dirty="0"/>
              <a:t>Urban &amp; Heritage Hubs</a:t>
            </a:r>
            <a:r>
              <a:rPr lang="en-IN" dirty="0"/>
              <a:t>: Mumbai, Pune, Aurangabad — for historical sites, museums, and cultural </a:t>
            </a:r>
            <a:r>
              <a:rPr lang="en-IN" dirty="0" err="1"/>
              <a:t>centers</a:t>
            </a:r>
            <a:r>
              <a:rPr lang="en-IN" dirty="0"/>
              <a:t>.</a:t>
            </a:r>
          </a:p>
          <a:p>
            <a:r>
              <a:rPr lang="en-IN" b="1" dirty="0"/>
              <a:t>Coastal Tourism</a:t>
            </a:r>
            <a:r>
              <a:rPr lang="en-IN" dirty="0"/>
              <a:t>: Raigad, Ratnagiri, Sindhudurg — to document beaches, forts, and water sports.</a:t>
            </a:r>
          </a:p>
          <a:p>
            <a:r>
              <a:rPr lang="en-IN" b="1" dirty="0"/>
              <a:t>Wildlife &amp; Hills</a:t>
            </a:r>
            <a:r>
              <a:rPr lang="en-IN" dirty="0"/>
              <a:t>: Satara, Chandrapur, </a:t>
            </a:r>
            <a:r>
              <a:rPr lang="en-IN" dirty="0" err="1"/>
              <a:t>Gondia</a:t>
            </a:r>
            <a:r>
              <a:rPr lang="en-IN" dirty="0"/>
              <a:t> — to cover national parks and trekking points.</a:t>
            </a:r>
          </a:p>
          <a:p>
            <a:r>
              <a:rPr lang="en-IN" b="1" dirty="0"/>
              <a:t>Religious Tourism</a:t>
            </a:r>
            <a:r>
              <a:rPr lang="en-IN" dirty="0"/>
              <a:t>: Nashik, Solapur, Wardha — to capture pilgrimage sites and local traditions.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45d24e062_0_5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745d24e062_0_54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745d24e062_0_54"/>
          <p:cNvSpPr txBox="1"/>
          <p:nvPr/>
        </p:nvSpPr>
        <p:spPr>
          <a:xfrm>
            <a:off x="159000" y="75627"/>
            <a:ext cx="9144000" cy="4978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800" b="1" dirty="0">
                <a:solidFill>
                  <a:schemeClr val="dk1"/>
                </a:solidFill>
              </a:rPr>
              <a:t>What Data Will Be Collected: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endParaRPr lang="en-US" sz="1800" b="1" dirty="0">
              <a:solidFill>
                <a:schemeClr val="dk1"/>
              </a:solidFill>
            </a:endParaRPr>
          </a:p>
          <a:p>
            <a:r>
              <a:rPr lang="en-US" b="1" dirty="0"/>
              <a:t>1. General District Information</a:t>
            </a:r>
          </a:p>
          <a:p>
            <a:r>
              <a:rPr lang="en-US" dirty="0"/>
              <a:t>Geographic location &amp; accessibility (road, rail, air connectivity).</a:t>
            </a:r>
          </a:p>
          <a:p>
            <a:r>
              <a:rPr lang="en-US" dirty="0"/>
              <a:t>Climate details for different seasons.</a:t>
            </a:r>
          </a:p>
          <a:p>
            <a:r>
              <a:rPr lang="en-US" dirty="0"/>
              <a:t>Local language(s) and cultural background.</a:t>
            </a:r>
          </a:p>
          <a:p>
            <a:r>
              <a:rPr lang="en-US" b="1" dirty="0"/>
              <a:t>2. Tourist Attractions</a:t>
            </a:r>
          </a:p>
          <a:p>
            <a:r>
              <a:rPr lang="en-US" dirty="0"/>
              <a:t>Famous landmarks (historical monuments, museums, heritage sites).</a:t>
            </a:r>
          </a:p>
          <a:p>
            <a:r>
              <a:rPr lang="en-US" dirty="0"/>
              <a:t>Natural attractions (beaches, waterfalls, hill stations, wildlife sanctuaries).</a:t>
            </a:r>
          </a:p>
          <a:p>
            <a:r>
              <a:rPr lang="en-US" dirty="0"/>
              <a:t>Religious &amp; pilgrimage sites.</a:t>
            </a:r>
          </a:p>
          <a:p>
            <a:r>
              <a:rPr lang="en-US" dirty="0"/>
              <a:t>Adventure spots (trekking trails, water sports locations).</a:t>
            </a:r>
          </a:p>
          <a:p>
            <a:r>
              <a:rPr lang="en-US" b="1" dirty="0"/>
              <a:t>3. Best Time to Visit</a:t>
            </a:r>
          </a:p>
          <a:p>
            <a:r>
              <a:rPr lang="en-US" dirty="0"/>
              <a:t>Ideal months for travel based on </a:t>
            </a:r>
            <a:r>
              <a:rPr lang="en-US" b="1" dirty="0"/>
              <a:t>weather, festivals, and events</a:t>
            </a:r>
            <a:r>
              <a:rPr lang="en-US" dirty="0"/>
              <a:t>.</a:t>
            </a:r>
          </a:p>
          <a:p>
            <a:r>
              <a:rPr lang="en-US" dirty="0"/>
              <a:t>Seasonal highlights like monsoon greenery or winter treks.</a:t>
            </a:r>
          </a:p>
          <a:p>
            <a:r>
              <a:rPr lang="en-US" b="1" dirty="0"/>
              <a:t>4. Safety &amp; Precautions</a:t>
            </a:r>
          </a:p>
          <a:p>
            <a:r>
              <a:rPr lang="en-US" dirty="0"/>
              <a:t>Health-related precautions (vaccinations, heat precautions, monsoon risks).</a:t>
            </a:r>
          </a:p>
          <a:p>
            <a:r>
              <a:rPr lang="en-US" dirty="0"/>
              <a:t>Travel safety tips (transport reliability, night travel advisories).</a:t>
            </a:r>
          </a:p>
          <a:p>
            <a:r>
              <a:rPr lang="en-US" dirty="0"/>
              <a:t>Local customs &amp; etiquette to be respected.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45d24e062_0_6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745d24e062_0_63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45d24e062_0_63"/>
          <p:cNvSpPr txBox="1"/>
          <p:nvPr/>
        </p:nvSpPr>
        <p:spPr>
          <a:xfrm>
            <a:off x="0" y="0"/>
            <a:ext cx="91440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 lang="en-US" sz="1800" b="1" dirty="0"/>
          </a:p>
          <a:p>
            <a:endParaRPr lang="en-US" sz="1800" b="1" dirty="0"/>
          </a:p>
          <a:p>
            <a:r>
              <a:rPr lang="en-US" sz="1800" b="1" dirty="0"/>
              <a:t>5. Accommodation &amp; Food</a:t>
            </a:r>
          </a:p>
          <a:p>
            <a:r>
              <a:rPr lang="en-US" sz="1800" dirty="0"/>
              <a:t>Types of accommodation available (budget, mid-range, luxury).</a:t>
            </a:r>
          </a:p>
          <a:p>
            <a:r>
              <a:rPr lang="en-US" sz="1800" dirty="0"/>
              <a:t>Signature local dishes and food specialties.</a:t>
            </a:r>
          </a:p>
          <a:p>
            <a:r>
              <a:rPr lang="en-US" sz="1800" dirty="0"/>
              <a:t>Availability of vegetarian/non-vegetarian and special diets.</a:t>
            </a:r>
          </a:p>
          <a:p>
            <a:r>
              <a:rPr lang="en-US" sz="1800" b="1" dirty="0"/>
              <a:t>6. Festivals &amp; Cultural Events</a:t>
            </a:r>
          </a:p>
          <a:p>
            <a:r>
              <a:rPr lang="en-US" sz="1800" dirty="0"/>
              <a:t>Annual fairs, cultural festivals, and special celebrations unique to the district.</a:t>
            </a:r>
          </a:p>
          <a:p>
            <a:r>
              <a:rPr lang="en-US" sz="1800" dirty="0"/>
              <a:t>Dates and descriptions of major events.</a:t>
            </a:r>
          </a:p>
          <a:p>
            <a:r>
              <a:rPr lang="en-US" sz="1800" b="1" dirty="0"/>
              <a:t>7. Transport &amp; Connectivity</a:t>
            </a:r>
          </a:p>
          <a:p>
            <a:r>
              <a:rPr lang="en-US" sz="1800" dirty="0"/>
              <a:t>Public transport options (buses, trains, ferries).</a:t>
            </a:r>
          </a:p>
          <a:p>
            <a:r>
              <a:rPr lang="en-US" sz="1800" dirty="0"/>
              <a:t>Availability of rental vehicles or guided tours.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Expected Outcomes</a:t>
            </a: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33100" y="546900"/>
            <a:ext cx="9010800" cy="292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Outcomes:-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b="1" dirty="0"/>
              <a:t>Tourism Guidebook</a:t>
            </a:r>
            <a:r>
              <a:rPr lang="en-US" dirty="0"/>
              <a:t>: Comprehensive district-wise resource with photos, maps, and travel tips.</a:t>
            </a:r>
          </a:p>
          <a:p>
            <a:endParaRPr lang="en-US" dirty="0"/>
          </a:p>
          <a:p>
            <a:r>
              <a:rPr lang="en-US" b="1" dirty="0"/>
              <a:t>Awareness Boost</a:t>
            </a:r>
            <a:r>
              <a:rPr lang="en-US" dirty="0"/>
              <a:t>: Increased visibility for lesser-known tourist spots.</a:t>
            </a:r>
          </a:p>
          <a:p>
            <a:endParaRPr lang="en-US" dirty="0"/>
          </a:p>
          <a:p>
            <a:r>
              <a:rPr lang="en-US" b="1" dirty="0"/>
              <a:t>Economic Benefits</a:t>
            </a:r>
            <a:r>
              <a:rPr lang="en-US" dirty="0"/>
              <a:t>: Growth in local tourism-related businesses.</a:t>
            </a:r>
          </a:p>
          <a:p>
            <a:endParaRPr lang="en-US" dirty="0"/>
          </a:p>
          <a:p>
            <a:r>
              <a:rPr lang="en-US" b="1" dirty="0"/>
              <a:t>Cultural Preservation</a:t>
            </a:r>
            <a:r>
              <a:rPr lang="en-US" dirty="0"/>
              <a:t>: Highlight and document traditional art, festivals, and cuisines.</a:t>
            </a:r>
          </a:p>
          <a:p>
            <a:endParaRPr lang="en-US" dirty="0"/>
          </a:p>
          <a:p>
            <a:r>
              <a:rPr lang="en-US" b="1" dirty="0"/>
              <a:t>Sustainable Tourism</a:t>
            </a:r>
            <a:r>
              <a:rPr lang="en-US" dirty="0"/>
              <a:t>: Encourage eco-friendly travel practices to protect natural and cultural resources.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6400" y="485024"/>
            <a:ext cx="8991000" cy="537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Phase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existing data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 Tourism Development Corporation (MTDC)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travel blogs, and guidebooks.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tourist reviews and feedback on platforms like Google Maps and TripAdvisor.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Visit &amp; Data Collection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districts to collect first-hand information and photographs.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interviews with local stakeholders.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LANGUAGE USE: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SzPts val="1100"/>
              <a:buAutoNum type="arabicPeriod"/>
            </a:pPr>
            <a:r>
              <a:rPr lang="en-US" b="1" dirty="0"/>
              <a:t>HTML (</a:t>
            </a:r>
            <a:r>
              <a:rPr lang="en-US" b="1" dirty="0" err="1"/>
              <a:t>HyperText</a:t>
            </a:r>
            <a:r>
              <a:rPr lang="en-US" b="1" dirty="0"/>
              <a:t> Markup Language)</a:t>
            </a:r>
            <a:r>
              <a:rPr lang="en-US" dirty="0"/>
              <a:t> – </a:t>
            </a:r>
            <a:r>
              <a:rPr lang="en-US" i="1" dirty="0"/>
              <a:t>Structure of the Guide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SzPts val="1100"/>
              <a:buAutoNum type="arabicPeriod"/>
            </a:pPr>
            <a:r>
              <a:rPr lang="en-US" b="1" dirty="0"/>
              <a:t>CSS (Cascading Style Sheets)</a:t>
            </a:r>
            <a:r>
              <a:rPr lang="en-US" dirty="0"/>
              <a:t> – </a:t>
            </a:r>
            <a:r>
              <a:rPr lang="en-US" i="1" dirty="0"/>
              <a:t>Design &amp; Presentation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SzPts val="1100"/>
              <a:buAutoNum type="arabicPeriod"/>
            </a:pPr>
            <a:r>
              <a:rPr lang="en-US" b="1" dirty="0"/>
              <a:t>JavaScript (JS)</a:t>
            </a:r>
            <a:r>
              <a:rPr lang="en-US" dirty="0"/>
              <a:t> – </a:t>
            </a:r>
            <a:r>
              <a:rPr lang="en-US" i="1" dirty="0"/>
              <a:t>Interactivity &amp; Dynamic Features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SzPts val="1100"/>
              <a:buAutoNum type="arabicPeriod"/>
            </a:pPr>
            <a:endParaRPr lang="en" dirty="0">
              <a:solidFill>
                <a:schemeClr val="dk1"/>
              </a:solidFill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1103</Words>
  <Application>Microsoft Office PowerPoint</Application>
  <PresentationFormat>On-screen Show (16:9)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</vt:lpstr>
      <vt:lpstr>Times New Roman</vt:lpstr>
      <vt:lpstr>Simple Light</vt:lpstr>
      <vt:lpstr>   Marathwada Mitra Mandal's COLLEGE OF ENGINEERING, Karve Nagar, Pune - 52 An Autonomous Institute Affiliated to SPPU                             Website: www.mmcoe.edu.in                                                                 email id: mmcoe@mmcoe.edu.in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Soumy Sen</dc:creator>
  <cp:lastModifiedBy>sairam pampatwar</cp:lastModifiedBy>
  <cp:revision>6</cp:revision>
  <dcterms:modified xsi:type="dcterms:W3CDTF">2025-08-13T17:50:36Z</dcterms:modified>
</cp:coreProperties>
</file>